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5580" r:id="rId1"/>
  </p:sldMasterIdLst>
  <p:notesMasterIdLst>
    <p:notesMasterId r:id="rId285"/>
  </p:notesMasterIdLst>
  <p:handoutMasterIdLst>
    <p:handoutMasterId r:id="rId286"/>
  </p:handoutMasterIdLst>
  <p:sldIdLst>
    <p:sldId id="418" r:id="rId2"/>
    <p:sldId id="393" r:id="rId3"/>
    <p:sldId id="396" r:id="rId4"/>
    <p:sldId id="383" r:id="rId5"/>
    <p:sldId id="528" r:id="rId6"/>
    <p:sldId id="529" r:id="rId7"/>
    <p:sldId id="1043" r:id="rId8"/>
    <p:sldId id="1044" r:id="rId9"/>
    <p:sldId id="1628" r:id="rId10"/>
    <p:sldId id="1047" r:id="rId11"/>
    <p:sldId id="1048" r:id="rId12"/>
    <p:sldId id="1629" r:id="rId13"/>
    <p:sldId id="1049" r:id="rId14"/>
    <p:sldId id="1630" r:id="rId15"/>
    <p:sldId id="1627" r:id="rId16"/>
    <p:sldId id="1050" r:id="rId17"/>
    <p:sldId id="1631" r:id="rId18"/>
    <p:sldId id="1051" r:id="rId19"/>
    <p:sldId id="1632" r:id="rId20"/>
    <p:sldId id="1395" r:id="rId21"/>
    <p:sldId id="1412" r:id="rId22"/>
    <p:sldId id="1515" r:id="rId23"/>
    <p:sldId id="1029" r:id="rId24"/>
    <p:sldId id="1494" r:id="rId25"/>
    <p:sldId id="1064" r:id="rId26"/>
    <p:sldId id="1065" r:id="rId27"/>
    <p:sldId id="1066" r:id="rId28"/>
    <p:sldId id="1067" r:id="rId29"/>
    <p:sldId id="1166" r:id="rId30"/>
    <p:sldId id="1174" r:id="rId31"/>
    <p:sldId id="1068" r:id="rId32"/>
    <p:sldId id="1069" r:id="rId33"/>
    <p:sldId id="1070" r:id="rId34"/>
    <p:sldId id="1071" r:id="rId35"/>
    <p:sldId id="1072" r:id="rId36"/>
    <p:sldId id="1073" r:id="rId37"/>
    <p:sldId id="1074" r:id="rId38"/>
    <p:sldId id="1075" r:id="rId39"/>
    <p:sldId id="1076" r:id="rId40"/>
    <p:sldId id="1084" r:id="rId41"/>
    <p:sldId id="1492" r:id="rId42"/>
    <p:sldId id="1493" r:id="rId43"/>
    <p:sldId id="1413" r:id="rId44"/>
    <p:sldId id="1105" r:id="rId45"/>
    <p:sldId id="1106" r:id="rId46"/>
    <p:sldId id="1107" r:id="rId47"/>
    <p:sldId id="1109" r:id="rId48"/>
    <p:sldId id="1495" r:id="rId49"/>
    <p:sldId id="1031" r:id="rId50"/>
    <p:sldId id="1355" r:id="rId51"/>
    <p:sldId id="1356" r:id="rId52"/>
    <p:sldId id="1357" r:id="rId53"/>
    <p:sldId id="1380" r:id="rId54"/>
    <p:sldId id="1381" r:id="rId55"/>
    <p:sldId id="1382" r:id="rId56"/>
    <p:sldId id="1383" r:id="rId57"/>
    <p:sldId id="1419" r:id="rId58"/>
    <p:sldId id="1420" r:id="rId59"/>
    <p:sldId id="1496" r:id="rId60"/>
    <p:sldId id="1421" r:id="rId61"/>
    <p:sldId id="1422" r:id="rId62"/>
    <p:sldId id="1423" r:id="rId63"/>
    <p:sldId id="1424" r:id="rId64"/>
    <p:sldId id="1426" r:id="rId65"/>
    <p:sldId id="1427" r:id="rId66"/>
    <p:sldId id="1472" r:id="rId67"/>
    <p:sldId id="1473" r:id="rId68"/>
    <p:sldId id="1474" r:id="rId69"/>
    <p:sldId id="1475" r:id="rId70"/>
    <p:sldId id="1477" r:id="rId71"/>
    <p:sldId id="1476" r:id="rId72"/>
    <p:sldId id="1444" r:id="rId73"/>
    <p:sldId id="1445" r:id="rId74"/>
    <p:sldId id="1446" r:id="rId75"/>
    <p:sldId id="1447" r:id="rId76"/>
    <p:sldId id="1448" r:id="rId77"/>
    <p:sldId id="1449" r:id="rId78"/>
    <p:sldId id="1461" r:id="rId79"/>
    <p:sldId id="1450" r:id="rId80"/>
    <p:sldId id="1452" r:id="rId81"/>
    <p:sldId id="1454" r:id="rId82"/>
    <p:sldId id="1457" r:id="rId83"/>
    <p:sldId id="1458" r:id="rId84"/>
    <p:sldId id="1459" r:id="rId85"/>
    <p:sldId id="1462" r:id="rId86"/>
    <p:sldId id="1463" r:id="rId87"/>
    <p:sldId id="1464" r:id="rId88"/>
    <p:sldId id="1465" r:id="rId89"/>
    <p:sldId id="1467" r:id="rId90"/>
    <p:sldId id="1468" r:id="rId91"/>
    <p:sldId id="1469" r:id="rId92"/>
    <p:sldId id="1460" r:id="rId93"/>
    <p:sldId id="1428" r:id="rId94"/>
    <p:sldId id="1433" r:id="rId95"/>
    <p:sldId id="1431" r:id="rId96"/>
    <p:sldId id="1441" r:id="rId97"/>
    <p:sldId id="1486" r:id="rId98"/>
    <p:sldId id="1487" r:id="rId99"/>
    <p:sldId id="1488" r:id="rId100"/>
    <p:sldId id="1489" r:id="rId101"/>
    <p:sldId id="1490" r:id="rId102"/>
    <p:sldId id="1491" r:id="rId103"/>
    <p:sldId id="1602" r:id="rId104"/>
    <p:sldId id="1485" r:id="rId105"/>
    <p:sldId id="1497" r:id="rId106"/>
    <p:sldId id="1498" r:id="rId107"/>
    <p:sldId id="1513" r:id="rId108"/>
    <p:sldId id="1514" r:id="rId109"/>
    <p:sldId id="1397" r:id="rId110"/>
    <p:sldId id="1418" r:id="rId111"/>
    <p:sldId id="1516" r:id="rId112"/>
    <p:sldId id="1517" r:id="rId113"/>
    <p:sldId id="1518" r:id="rId114"/>
    <p:sldId id="1519" r:id="rId115"/>
    <p:sldId id="1520" r:id="rId116"/>
    <p:sldId id="1638" r:id="rId117"/>
    <p:sldId id="1639" r:id="rId118"/>
    <p:sldId id="1640" r:id="rId119"/>
    <p:sldId id="1641" r:id="rId120"/>
    <p:sldId id="1521" r:id="rId121"/>
    <p:sldId id="1522" r:id="rId122"/>
    <p:sldId id="1524" r:id="rId123"/>
    <p:sldId id="1633" r:id="rId124"/>
    <p:sldId id="1525" r:id="rId125"/>
    <p:sldId id="1634" r:id="rId126"/>
    <p:sldId id="1526" r:id="rId127"/>
    <p:sldId id="1635" r:id="rId128"/>
    <p:sldId id="1636" r:id="rId129"/>
    <p:sldId id="1637" r:id="rId130"/>
    <p:sldId id="1527" r:id="rId131"/>
    <p:sldId id="1528" r:id="rId132"/>
    <p:sldId id="1529" r:id="rId133"/>
    <p:sldId id="1523" r:id="rId134"/>
    <p:sldId id="1530" r:id="rId135"/>
    <p:sldId id="1646" r:id="rId136"/>
    <p:sldId id="1531" r:id="rId137"/>
    <p:sldId id="1532" r:id="rId138"/>
    <p:sldId id="1533" r:id="rId139"/>
    <p:sldId id="1534" r:id="rId140"/>
    <p:sldId id="1535" r:id="rId141"/>
    <p:sldId id="1537" r:id="rId142"/>
    <p:sldId id="1538" r:id="rId143"/>
    <p:sldId id="1539" r:id="rId144"/>
    <p:sldId id="1540" r:id="rId145"/>
    <p:sldId id="1541" r:id="rId146"/>
    <p:sldId id="1542" r:id="rId147"/>
    <p:sldId id="1545" r:id="rId148"/>
    <p:sldId id="1544" r:id="rId149"/>
    <p:sldId id="1642" r:id="rId150"/>
    <p:sldId id="1644" r:id="rId151"/>
    <p:sldId id="1643" r:id="rId152"/>
    <p:sldId id="1645" r:id="rId153"/>
    <p:sldId id="1399" r:id="rId154"/>
    <p:sldId id="1121" r:id="rId155"/>
    <p:sldId id="1505" r:id="rId156"/>
    <p:sldId id="1122" r:id="rId157"/>
    <p:sldId id="1123" r:id="rId158"/>
    <p:sldId id="1241" r:id="rId159"/>
    <p:sldId id="1124" r:id="rId160"/>
    <p:sldId id="1126" r:id="rId161"/>
    <p:sldId id="1130" r:id="rId162"/>
    <p:sldId id="1129" r:id="rId163"/>
    <p:sldId id="1137" r:id="rId164"/>
    <p:sldId id="1128" r:id="rId165"/>
    <p:sldId id="1141" r:id="rId166"/>
    <p:sldId id="1143" r:id="rId167"/>
    <p:sldId id="1145" r:id="rId168"/>
    <p:sldId id="1146" r:id="rId169"/>
    <p:sldId id="1148" r:id="rId170"/>
    <p:sldId id="1499" r:id="rId171"/>
    <p:sldId id="1197" r:id="rId172"/>
    <p:sldId id="1199" r:id="rId173"/>
    <p:sldId id="1200" r:id="rId174"/>
    <p:sldId id="1201" r:id="rId175"/>
    <p:sldId id="1202" r:id="rId176"/>
    <p:sldId id="1207" r:id="rId177"/>
    <p:sldId id="1208" r:id="rId178"/>
    <p:sldId id="1209" r:id="rId179"/>
    <p:sldId id="1210" r:id="rId180"/>
    <p:sldId id="1211" r:id="rId181"/>
    <p:sldId id="1212" r:id="rId182"/>
    <p:sldId id="1213" r:id="rId183"/>
    <p:sldId id="1214" r:id="rId184"/>
    <p:sldId id="1216" r:id="rId185"/>
    <p:sldId id="1215" r:id="rId186"/>
    <p:sldId id="1217" r:id="rId187"/>
    <p:sldId id="1220" r:id="rId188"/>
    <p:sldId id="1388" r:id="rId189"/>
    <p:sldId id="1386" r:id="rId190"/>
    <p:sldId id="1222" r:id="rId191"/>
    <p:sldId id="1236" r:id="rId192"/>
    <p:sldId id="1237" r:id="rId193"/>
    <p:sldId id="1238" r:id="rId194"/>
    <p:sldId id="1239" r:id="rId195"/>
    <p:sldId id="1410" r:id="rId196"/>
    <p:sldId id="1411" r:id="rId197"/>
    <p:sldId id="1470" r:id="rId198"/>
    <p:sldId id="1471" r:id="rId199"/>
    <p:sldId id="1478" r:id="rId200"/>
    <p:sldId id="1479" r:id="rId201"/>
    <p:sldId id="1480" r:id="rId202"/>
    <p:sldId id="1481" r:id="rId203"/>
    <p:sldId id="1482" r:id="rId204"/>
    <p:sldId id="1483" r:id="rId205"/>
    <p:sldId id="1484" r:id="rId206"/>
    <p:sldId id="1404" r:id="rId207"/>
    <p:sldId id="1417" r:id="rId208"/>
    <p:sldId id="1509" r:id="rId209"/>
    <p:sldId id="1510" r:id="rId210"/>
    <p:sldId id="1511" r:id="rId211"/>
    <p:sldId id="1500" r:id="rId212"/>
    <p:sldId id="1502" r:id="rId213"/>
    <p:sldId id="1501" r:id="rId214"/>
    <p:sldId id="1503" r:id="rId215"/>
    <p:sldId id="1504" r:id="rId216"/>
    <p:sldId id="1508" r:id="rId217"/>
    <p:sldId id="1506" r:id="rId218"/>
    <p:sldId id="1507" r:id="rId219"/>
    <p:sldId id="1562" r:id="rId220"/>
    <p:sldId id="1512" r:id="rId221"/>
    <p:sldId id="1548" r:id="rId222"/>
    <p:sldId id="1549" r:id="rId223"/>
    <p:sldId id="1550" r:id="rId224"/>
    <p:sldId id="1552" r:id="rId225"/>
    <p:sldId id="1553" r:id="rId226"/>
    <p:sldId id="1554" r:id="rId227"/>
    <p:sldId id="1560" r:id="rId228"/>
    <p:sldId id="1563" r:id="rId229"/>
    <p:sldId id="1565" r:id="rId230"/>
    <p:sldId id="1566" r:id="rId231"/>
    <p:sldId id="1567" r:id="rId232"/>
    <p:sldId id="1555" r:id="rId233"/>
    <p:sldId id="1556" r:id="rId234"/>
    <p:sldId id="1558" r:id="rId235"/>
    <p:sldId id="1559" r:id="rId236"/>
    <p:sldId id="1557" r:id="rId237"/>
    <p:sldId id="1561" r:id="rId238"/>
    <p:sldId id="1568" r:id="rId239"/>
    <p:sldId id="1551" r:id="rId240"/>
    <p:sldId id="1575" r:id="rId241"/>
    <p:sldId id="1576" r:id="rId242"/>
    <p:sldId id="1577" r:id="rId243"/>
    <p:sldId id="1578" r:id="rId244"/>
    <p:sldId id="1579" r:id="rId245"/>
    <p:sldId id="1580" r:id="rId246"/>
    <p:sldId id="1581" r:id="rId247"/>
    <p:sldId id="1583" r:id="rId248"/>
    <p:sldId id="1584" r:id="rId249"/>
    <p:sldId id="1585" r:id="rId250"/>
    <p:sldId id="1586" r:id="rId251"/>
    <p:sldId id="1587" r:id="rId252"/>
    <p:sldId id="1588" r:id="rId253"/>
    <p:sldId id="1589" r:id="rId254"/>
    <p:sldId id="1590" r:id="rId255"/>
    <p:sldId id="1592" r:id="rId256"/>
    <p:sldId id="1593" r:id="rId257"/>
    <p:sldId id="1594" r:id="rId258"/>
    <p:sldId id="1595" r:id="rId259"/>
    <p:sldId id="1596" r:id="rId260"/>
    <p:sldId id="1591" r:id="rId261"/>
    <p:sldId id="1597" r:id="rId262"/>
    <p:sldId id="1598" r:id="rId263"/>
    <p:sldId id="1599" r:id="rId264"/>
    <p:sldId id="1600" r:id="rId265"/>
    <p:sldId id="1601" r:id="rId266"/>
    <p:sldId id="1604" r:id="rId267"/>
    <p:sldId id="1605" r:id="rId268"/>
    <p:sldId id="1615" r:id="rId269"/>
    <p:sldId id="1607" r:id="rId270"/>
    <p:sldId id="1609" r:id="rId271"/>
    <p:sldId id="1617" r:id="rId272"/>
    <p:sldId id="1618" r:id="rId273"/>
    <p:sldId id="1619" r:id="rId274"/>
    <p:sldId id="1611" r:id="rId275"/>
    <p:sldId id="1621" r:id="rId276"/>
    <p:sldId id="1622" r:id="rId277"/>
    <p:sldId id="1623" r:id="rId278"/>
    <p:sldId id="1624" r:id="rId279"/>
    <p:sldId id="1625" r:id="rId280"/>
    <p:sldId id="1626" r:id="rId281"/>
    <p:sldId id="1603" r:id="rId282"/>
    <p:sldId id="1570" r:id="rId283"/>
    <p:sldId id="419" r:id="rId284"/>
  </p:sldIdLst>
  <p:sldSz cx="12192000" cy="6858000"/>
  <p:notesSz cx="6865938" cy="9998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9" userDrawn="1">
          <p15:clr>
            <a:srgbClr val="A4A3A4"/>
          </p15:clr>
        </p15:guide>
        <p15:guide id="2" pos="216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621C"/>
    <a:srgbClr val="1F4814"/>
    <a:srgbClr val="E4FC96"/>
    <a:srgbClr val="FF8181"/>
    <a:srgbClr val="FAFF3F"/>
    <a:srgbClr val="00FFCC"/>
    <a:srgbClr val="969696"/>
    <a:srgbClr val="D2A000"/>
    <a:srgbClr val="CBD000"/>
    <a:srgbClr val="E4E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4" autoAdjust="0"/>
    <p:restoredTop sz="94662" autoAdjust="0"/>
  </p:normalViewPr>
  <p:slideViewPr>
    <p:cSldViewPr snapToGrid="0">
      <p:cViewPr varScale="1">
        <p:scale>
          <a:sx n="65" d="100"/>
          <a:sy n="65" d="100"/>
        </p:scale>
        <p:origin x="690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-36858"/>
    </p:cViewPr>
  </p:sorterViewPr>
  <p:notesViewPr>
    <p:cSldViewPr snapToGrid="0">
      <p:cViewPr varScale="1">
        <p:scale>
          <a:sx n="51" d="100"/>
          <a:sy n="51" d="100"/>
        </p:scale>
        <p:origin x="-1968" y="-114"/>
      </p:cViewPr>
      <p:guideLst>
        <p:guide orient="horz" pos="3149"/>
        <p:guide pos="216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tableStyles" Target="tableStyles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notesMaster" Target="notesMasters/notes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handoutMaster" Target="handoutMasters/handoutMaster1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presProps" Target="pres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viewProps" Target="viewProp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theme" Target="theme/theme1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6829" cy="49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75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7520" y="0"/>
            <a:ext cx="2976829" cy="49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75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97140"/>
            <a:ext cx="2976829" cy="499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75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7520" y="9497140"/>
            <a:ext cx="2976829" cy="499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AB71353-DF59-4FA9-B618-03F773BDE5B0}" type="slidenum">
              <a:rPr lang="en-US" altLang="pt-BR"/>
              <a:pPr/>
              <a:t>‹nº›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91994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6829" cy="49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9110" y="0"/>
            <a:ext cx="2976828" cy="49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3" y="750888"/>
            <a:ext cx="6665912" cy="37512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459" y="4750949"/>
            <a:ext cx="5035022" cy="4498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98727"/>
            <a:ext cx="2976829" cy="49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9110" y="9498727"/>
            <a:ext cx="2976828" cy="49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5" rIns="91031" bIns="455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0B43A0A-5F82-4F2A-8344-9A271D2E60DC}" type="slidenum">
              <a:rPr lang="en-US" altLang="pt-BR"/>
              <a:pPr/>
              <a:t>‹nº›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0598891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3708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4676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DFA4-A6C8-5CED-1DB8-6D03AA87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4D0A816-F3F6-068B-2035-411A95182A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C687744-4567-FC9F-56E4-5775769DB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5C3D9A8-C837-8AE8-732D-E15E0FC58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63593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827163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97803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C684F-7CCE-89F9-D73C-EB864B73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3C7F964-7A0A-A1A1-F616-51266C6EA8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0B14207-F95E-8864-ED0E-1F80ABDD3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F760EC30-4973-22A3-A995-76D2E3937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75566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005601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F774-4B14-7CE5-A7C0-82133DCC8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ED30509-250C-BED1-550E-B25D389F2B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3EEED27-610D-6D0F-A6B0-B3738F5CB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6A9F5A16-5A53-9F53-E38B-D8F81AFDC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039327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2F40-A34A-63A2-D54D-6316725A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98A6F97-48DA-5367-5A33-9C098384CA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709C71C-9C37-61B4-F17C-A939D3C85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32BF9B0-5201-06B2-9AD6-3D05951AF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42479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429828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69A92-C610-B1A4-0268-558886F9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935EDB6-6B16-FC13-DC6C-38DB710B82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235BB38-8F7C-FAA8-DF8A-8D54E266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6C9E46C-0E94-E788-51B8-7334AAC25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38941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097729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0567-7A57-98A3-9066-BCE8BBD8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189F579-13A0-65BF-7220-080EE08620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8A34DCEB-775A-56A7-FF8B-180783369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F8E238F-67AA-3B30-6605-4FC143972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98548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1749-37C9-C798-5A95-17197161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012C37E-2381-BCF1-E624-A738407BEB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3ABC159-E1D0-5DFE-9B30-23C376967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202046F-620C-4A06-06F0-00EFEEB98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635885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13CA-14E7-DDC2-79BF-D1FECFEC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9BAE6AC-3B86-79D2-D406-7FA82F5D86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481A207-8D9D-BE9E-3879-FFD9FB4C0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8486E7C-587F-4484-280E-9032EE175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84357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267481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30F4-0BF0-31F4-ADA0-EFF6509E5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9C364D6-CE78-B964-4CE4-F4CA6C86C3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BDD3601-575C-8BD7-515B-1389CF21A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A147A2B-5272-004C-9D56-60B318256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86278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84288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30610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961266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030039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73135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0979638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1046274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4882607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4080964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947367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029105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25164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1821743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3939849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39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1142132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98672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5890-46BC-5265-B383-D3DEE37C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CF36862-BFF8-3F4B-278B-EAC7064DAF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2B53424-B4E8-EFD6-9A65-140CA3158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2BFEBA1-23D6-9F72-FCF3-B198063ED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2748017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158F-986D-306C-AF3F-31C8DB9D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28EC28F-65DD-17A9-4C00-0F338060A8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7A9427A-9C70-596C-4850-38BC5491E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B1E78F7-9F95-44BB-FB74-F52D5BDEE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9845919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88E2F-CD00-5CBE-ECD9-FAE7DBDA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E8A1D94-B8A5-0C59-7092-AFBEFE5AB7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50C5744D-D391-B878-17F6-723FD445C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32BE168-DC41-FDB0-3E04-3601A28BB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7976006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1322624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913153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7460114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233883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FAB1-F0F5-ECEE-1FEC-40DC3C262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C61B050-F7BF-778F-8DF0-BF2AC1789A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527B38F4-FF8B-B57B-C91E-35FEE3F9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FDD0821-F2CC-C9B9-8B45-F1C21B1B0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5600041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49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6696770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1696988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5303260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7820816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708388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0257668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356229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491060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DB973-C992-5DF4-900D-788D249D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845D404-8CFD-F1C9-3B55-36FE0DC42F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8BE2470-CB14-3CF9-3E4D-F9F104E08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75B2E26-79E0-57FD-D763-C0138CA99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6362633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ED3F4-534D-C959-F8DD-3F78A7CB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B8EFF33-BFA6-7AC7-670D-DE66133CA9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9CE3909-A0AE-819A-3FA7-F01A64C71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F755EB8-32E2-8DC4-87D8-5B2A7F204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73625351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5C0B-8A6A-164A-A827-8EC3ED59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007D3E2-7FF4-66FA-36EC-CC4187F7B9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955996C-74E1-478A-482F-F642CA55D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14390C2-2C38-7DFA-ED1E-48B9472BB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59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8180210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3C54F-C8BD-B4F6-ECF7-C22EB79E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0DE2A4F-8269-32A6-3CAB-B478D59067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8B4EA301-4539-3811-A00C-A0687663D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F9731B7-61ED-ED8C-BF5E-0C748361C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396057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5B04-3AE7-D7A9-72EA-97133DF8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3C5D39D-A4C6-AC91-1F78-521250044E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83AFE002-C528-7867-D819-5A516A022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168661D-62B8-F6E5-AFCF-14ADB6A13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540752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3B305-B7A5-7901-2649-6B7F6F9D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D459040-CB39-41C9-3C4E-3385D95B40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7943D26-C355-E333-BCAF-81E19363B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EB673D4-210E-A522-EEE9-9C10D10AF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12377120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8AA56-A593-6DEB-D6BB-55A89EBC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D5F6B3B-95C1-FCF1-57C3-42A89C6F3B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342B297-2F62-5E4A-3DC6-142A68ABF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C2380D9-8627-5C40-7FE7-9EEF88D07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0484290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6079-1D7C-C774-14E4-22818346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F84FEEC-C26C-65E0-C396-C7EB3E159D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05D5003-7C82-B55C-57A3-6866A9648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C1FF1EF-09B2-F2CD-45EA-B9C57E6A9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05882671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685D-3136-9632-0829-24733F67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74FA95E-E263-33BE-E3E2-862041A05D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9AD359F-5CF7-43B4-8237-BED5B973A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F2D5DBA-B3D9-B2CD-3C35-6D575B656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9891089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EE49-D73F-E051-357F-D8B46312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C409DAB-4FD5-5338-9030-0806C606E2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F4CF00A-37AB-33EE-7CD3-CA595BE95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1BA84B3-0B3C-3CC2-DA1D-ACBDB20FA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252333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CFD71-56ED-FC33-0DBA-42471DE6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2265AEE-1FEA-AAB4-17C2-00478D967A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4433866-7EA7-FB17-AB34-39FF0EEF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78F1DECB-E85E-77B4-131B-F11656339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6017096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FAC5-3124-B162-7463-129F8C3F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754485A-EDEF-EA41-2887-8AA405B16A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A744E74-F7A3-7006-1DA4-E75433B57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8E5A10F-F8E7-56DA-CE7C-F7AAB54D0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1491713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DB9A8-F46B-A32A-5F45-78F0B4B54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0281022-2A26-A2BB-0236-0BD6FEEE3B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B31B4B6-64D8-5720-7F59-3CC5A9C9F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F8503B2-8077-BBCC-7CFF-26021834F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69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5334310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61AB-AAEB-B911-1C62-56459CBB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9E436D7-EE3C-1FCF-AED0-4F68423410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DDCEC88-16C1-B1CF-5436-F8A7B01A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B4A095A-CF65-AF24-34CC-90BB65A58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08013085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E6DC-6C38-B3A7-78B5-3A726D82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2841FC0-1814-C7E5-802C-CAE125093D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D2240AA-BD7C-DEB1-8938-C2E1A7C4F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256B15F-B33A-2FA6-7EA7-A4F3AA28D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0884758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1F0D-15C9-7B53-5D92-EB62E633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25F02B8-40DC-9F30-4FCB-BF3BDBBE1D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D15FCAA-A2F4-F84E-D8C9-2DAA2C984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B49DF80-1398-54BC-8567-79353C39D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2961794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DC6F1-CC43-DBB3-10AA-0D4A14A8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437A17A-7487-F1EE-0847-F58EC4FBB8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164700D-57D1-24CF-F30A-CE28DB35D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3482560-3261-1CD2-0F1B-1578C97C6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97988228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9F6C-DC0C-6880-FC6D-22A537F5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44BA445-351A-1413-9139-55A831D144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BD2A193-00E2-E4C3-F71F-0C6562FC8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5383ECF-468E-6DE0-0743-787524D83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31826779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DD28-52D4-3385-176C-16C4C7C9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41B2D45-76C9-03C8-82ED-B6822EDD64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AA504B2-66C6-31FB-3F25-612ACBC70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24C2AA6-0F25-3CD7-AF0D-83C91F167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27681197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3D262-7553-19C9-9F1A-A019C834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718345A-1091-A8C2-1EFE-494720E044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3A7256C-2E56-ACE6-2063-DDD5F7D32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B20CA079-A7BC-A603-8383-057F4F417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252334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5274-F372-3ED0-292C-5C8764073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669607F-067B-5CFE-4E3B-8B6D259549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F5A60C7-9F9B-62D8-4D6F-066E9BBD1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E96A2F7-8F0F-5527-DEF2-DEE7F29B8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8178837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9A37-06CE-D4DE-30DC-F439C22E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3D16659-B24D-1CB0-E0ED-B3DDF3BCB6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E7C5631-4077-BEFA-ACFE-D5CE465EF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E8B814E-1845-1B4E-11C7-DD4064DE9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92565699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51DB-7D5E-04D9-5C2C-3B3BA0E0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3105246-03B9-6313-E8FE-67AE4DCBC8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E48BCDD-5B07-4C24-CAE7-5D9A1C851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80C74D0-33B9-0BAD-203D-F8B5C27AF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79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2395840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98FD-6FE6-A7B6-A2C8-B5A643AF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709D152-50FF-D0EA-F86D-AE21FADE06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4CB937B-283A-9F8B-55DB-7148C57DD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F531105F-3709-9284-43F0-3592B044C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12187601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E840-9910-AE06-2280-37B68126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888B07F-792D-1BE3-F576-D13FE39939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30AC4C5-BF5A-D3F3-9575-028F7A8AD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3F23853-7563-B437-E4B4-C12B78F44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0259445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10549-5BAC-B71A-52AD-FF7016A7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07944E3-86A7-BA89-B14B-2D711F265B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5C4AA8C6-CE7E-DF51-97F9-67C21C243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9767FF6-0813-1EBB-BCB1-2003DC9DB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09654248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BA6BA-15FF-1616-0977-4CF00802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EAB2D32-A3D7-44FB-68A0-1086B22C68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7A360ED-2ED7-2780-EC61-9C64B25FC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3D5DB8D-D0EB-2673-97A9-EC1D2149E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37205008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BC23-2C06-31A0-0B2A-5C3749CC5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0B1676E-A315-65B1-13F4-EFC6FE2DA7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4D42B07-9E11-34A6-9502-BBC07E088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FB61EA8-55CC-0374-87D2-717376CC5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3139310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97E3-CADB-C962-D54F-495791F3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4742A60-BD6E-B8D3-A78F-0EF4AD0561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6DF8EC5-E070-84BB-7F67-195E54D11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9790A51-5623-6983-779C-5576F7435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21683492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5FA65-27B2-A85D-F66D-84D36D84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1D1B90D-AE80-FA4E-26DC-967116F4B3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804E3299-7FEF-C45F-867C-744FD6091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7A0962A-CE6D-625C-B8FE-872F22AB0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6266637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252C5-848E-F040-F8B5-2E6B90A49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BADE6EE-B552-5F55-1D42-D41BA4EAB0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40DF7CB-FD2C-C509-3C3E-46838245C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6FE82F5-C8CB-8C33-779E-CB05B770A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6429800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592A2-34FF-C5A1-6BFB-E7BD5D42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1B7730F-5F60-A66F-46C4-31603E6C2F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20115AA-317E-93FC-96A5-F13338120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8664218-12F0-910F-2D1A-5745EBA3B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887244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7BA9-DB86-E696-D608-80A5D283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73C9138-294B-B3B9-8B7E-9F4D497297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03B3DED-2F58-7005-A43D-C7115FE12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CB1AA3D-C46E-66F2-8ABC-56947EA99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89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7614283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AA201-FC40-4679-4BAB-694AD608B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B7E147D-C1D0-ED38-6DB5-A31FA2EB72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D5DC8C4-9DDB-9F85-5427-3844B8B6C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4119FA9-BDEE-CCA6-B8D5-28DE6F187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0877648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1ABD-0541-FEA4-F441-E283ED05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657BDC4-2936-0CDB-855F-986D720B91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E6DA0F0-DCD3-59B9-FBEC-DE0A133BC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C424026-C141-F9BB-F27B-43B1BC2EA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5726533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15799-A4BE-56E7-B11F-D1012151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27E2380-A105-37E6-ED58-592E33093D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146F4CA-25E8-3979-450C-70A441643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BDB216CD-D339-CE80-0FFD-7F6C984A7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760699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C4706-DF05-C739-D50D-61C22E10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C4461A3-CE92-CF75-FC9A-13F52C6863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5E82F13-48F9-F280-1827-8274FC37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A9C5F7A-97E5-6845-1586-A10465DEC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92303882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9E4C7-A5E8-0B82-D1A7-07278B3F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F2B48EF-EC68-985D-FD01-B200710763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BDA78DD-F719-B6A3-E9C7-792BAD30A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4203F73-2192-76CE-DDE6-5FC6CF808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6872111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F4B2F-32EB-96AE-9C1F-010F893D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35221F9-6E63-9B20-F013-A375EE3C3D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8FE72D02-A6DC-C811-496D-4C7376E79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DE77800-CB48-5C3E-4249-6A4B58A5F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8470127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7D811-2449-727F-C674-80D84340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84535DF-343D-9464-9F8A-8E54774A8E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408DF16-CF20-0FD0-E3DB-955DF8DBC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F5C626D7-3295-D9E0-3874-2608C13B6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36630425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D175-5D99-9FCD-7BCC-D95D07C8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0ADD656-C465-90D5-FD1E-DAA680DDD5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F9612B0-7293-FCA6-9AB6-27A0DA9B1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40D4066-41BD-8608-8D7C-4B16ED6BD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8875212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6800-4970-9B71-0D18-33C919D7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A9F4CBE-CEC7-B892-8138-D46D90F072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90147F2-9829-C92E-535C-FCBD41CEB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FB4A530-EFB2-20E1-561A-22406228D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14248301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A5E43-0275-F996-974F-5E04E6D7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055B813-8BB5-F708-5EC6-2BB2406DED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561AB22-E07C-114D-71EC-C091AACBB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A3FBB9E-37BC-7C23-D6E5-B0B2C89A5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99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2413713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8446A-671D-8C95-2D13-EF5D26CF0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9373210-4F75-17D5-C807-BB81A20610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CBB8F54-BFF4-0F4E-E144-A11BE5E18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FD1FBA4E-D068-7CBC-D7BA-D88849533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58376720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E6A9F-8C7D-4933-3134-9A631A624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7731146-03A2-3BE4-13BC-AF54B81B9C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AA48EA8-6C07-FB72-1F8F-354B370DA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67471705-0BF0-6247-5C3A-BCBAA1A01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78666743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B033-C0C4-9A5B-0156-858B714F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92F41C6-45BD-A0F2-6E08-FC3403E776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73FE403-0B3E-31E5-2992-EE6FC5594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67734B2-3782-FE81-6460-3903A8104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7297785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21A8-33B2-34B4-248B-7989F538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88A606B-9053-2A4F-E9E6-3B188417D0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811DEC5-11E1-DA6A-7DC2-FB34C1663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40CA38D-D633-940E-1CFD-CFC2C27A7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98078908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B2B87-36E8-62F4-5DF9-7E534D28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BD2B887-1561-988F-8908-76AE61EB2B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A3EA694-C207-9EDD-0D80-EA248219F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2D1D833-273F-F8DC-58A6-17ACE87C7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41050410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2AE03-2936-1F4D-02A6-49B7F0A6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1F5D414-1207-4EFE-2E9A-5087E3CE49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419AFC6-8DB1-4C66-40C3-747A02362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96271AA-2D17-7CA7-96BD-5CA56C50C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73848347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47D2C-4414-9D8F-96F9-453F2AB7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D186F9E-4318-1918-587A-B85A4A3578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205B617-9808-9A7F-DF78-E8818DFE1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64E11A9-7D38-EDBA-37FB-09EC7328A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70948473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5F0F-02E7-330D-49D3-689B6438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86E66B3-A4E7-1996-D4FA-F1EF0A29DC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23346CE-3E19-9219-181B-0B11185B2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ADD656D-A11D-E47C-9DDB-37B96587B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22623337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2B111-729E-B2A2-CE23-A6475234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629978A-8F11-99E4-589C-4717500EEE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55E77E4-8568-D6AF-0F77-2CF66A6CB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6D0B5FD-695C-1E20-37AB-A2AC9FC92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108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96166525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00A60-083A-2352-282A-E5277904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5C42257-BD52-5022-09EC-AC66766BBB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13EE016-CE69-79EC-0619-354B27C31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B394911B-D6F9-9946-6548-D8E8FD313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6926134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3075A-DDD0-53BE-703D-6D9776BF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201A931-547D-D10D-047C-E082859DDC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86980A1-19E1-CB5A-876D-FB400E20D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A2BBA31-B0AD-3953-46F2-716FE5ECE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71878324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202E7-49C6-8F1B-41BA-35933533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DB52FC0-3984-9961-54D1-B3C74EEC7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5D7521E-365C-7BE0-FB06-EEEED6954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830B542-B0D4-EF7A-DE85-8FEE7BCD1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7268563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52D1-A783-47D8-BFFB-1DB4795F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DA8C7AB-A7FF-157D-D139-571B106857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15BD8C5-4D07-AF7F-3408-B8D4F8F6B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4BBFDC1-B7B4-090A-CA37-C1D4F8E8C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46213244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EB8E-2135-DBFB-CCC7-5C5FB3F34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B82C846-C4E3-8C78-86BA-951CAE5620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7FC3F57-2153-1BA2-3EC5-F09792012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63E042B-50EB-5D7F-F640-E920488B9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274938132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B92D-8507-C76D-6174-4B4C95C1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90AC7C7-7C0B-1933-A80E-15EBA5EF44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ACB9EB9-7584-BB91-0801-969B4E6C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B9A7C43-C219-B8EC-E100-57A12DF27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46364593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6509-08B9-FBD8-5BB5-9BAB05BA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DBE6676-BFAB-EE1E-1F6F-224A901C0C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9AAC0B6-F459-6EAE-5A30-3DC82D17A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F5A14B81-E48B-AA1D-01AB-D38E2BE65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021430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4A1C0-C7A7-BC2E-C75A-BE9584FF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D49C9B9-2391-DFBA-E225-16AD99FCE7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91DCBAE-0655-2C5D-907D-1FE4C7B21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6085EAD-328C-1005-2508-18E300D21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53967095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3005-A277-F4E1-4CE5-E82C4FA79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CCB614E-3E5D-4BC8-F4A3-5748663D90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D5F8EEE-AD62-764B-A1E7-970933723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4F247A6-C1B1-6BDB-3244-91CD481EF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4362248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FBAB-0D9D-2538-8071-9BD86F4E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91B8A1E-56C1-4E8B-CA9A-DEEE63B8FA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0612EE2-9929-83FE-C6F1-41D839E9C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3D0D43F-BB74-4582-ABCC-3F7762EC6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119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59966384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ED5E-1B88-5EA9-C669-6F4660831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3B9E0AC-C10B-1961-508C-55BB8BB83D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D3E678B-085E-B322-068E-6DBBD4932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7E93CA6-284F-FB18-8293-8F2242C23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09182656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90526-23E4-C69D-49C6-D472E5D4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BDA252C-3068-FBAA-A9D2-B4A110E927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E7A2B09-F034-6497-5765-DA56C01B8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7A24F693-94AF-9BF3-318B-85E3942E0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95355805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0C9E-3584-CA65-3BB3-F7FACD982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CB567BD-0DD3-7F59-6CAE-65B821FAC8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5275B10-27B3-E6E6-3BDA-BB1B4E988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A63662C-4FBB-AA45-29B9-41BFD449C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86952690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F03E-B165-F27F-EF27-7F146057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FA1E3E1-208E-59C9-3791-234304A2F8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44AB7EB-1DC2-39EF-C95E-821DE1E87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FB91E20-957B-0C11-F7B3-F67BCC63F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0616968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B3E0-C380-18A8-DEDF-C1BB783E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898FAA9-459C-57FB-8533-A1CDC3EFD1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7EEB740-9BB1-738C-7285-E412E3CF3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EE6F16F-FBBB-370F-4823-19143875D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1485935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39F5E-BA39-43D2-5AE9-8F2A9696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5FD1E0A-5694-39B6-BC21-EB5B0C2FFD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56C135A8-EBCC-1BA9-364F-FE97B5DDF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682A19A-5A02-EEE2-F5AF-DF8DAAF2E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31242078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5471A-7F63-4AE0-B580-EE15BA3D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0257515-4075-9BB6-EE47-E8E73EF907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BA0B5762-45F5-FC8A-E2AC-8B91792FA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94D4E4C-B6A8-2BBB-2FF1-398923986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6195968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27AC-455D-96DC-AAD6-6C2CCF23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BCA1637-21B4-BDC5-20C9-0F63ED5193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B554EDC-BD53-9FCF-F7C2-8D08F07AD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32A83AE-B24C-1BB6-985B-8D1913E32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77124436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94BDD-A83B-1755-AC38-977897D3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34FF4FB-DD1B-41A9-B245-33898EFE10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348C688-4E7F-0E61-0649-34CB19829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1D21BBE-5C91-7B9F-B873-6F1A2BF00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8740677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BB13-FAC7-9B8F-3194-02A2F33A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E07F809-7E39-F2A6-96F8-5D9EC55565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FA0E4C7-3D86-B838-9F2D-8D4801F7B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039AD5C-B77A-1FD2-4016-22A5F866B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129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7596453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53ED-B8BA-F988-2EE9-E10DD4AB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4B4EFAE-C106-D892-C0E8-2B512B8944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727ADE4-C9BB-2535-D53E-C7A660414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BB918AD-888B-029A-8B92-DE49BC060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1748175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99EB9-3063-5B8D-6D1A-530E804B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F6AF6E6-6344-0A0F-C98E-421EDD4513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A8985C9-4005-2AB5-AB65-3744AA8A2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78B7DDBF-D10E-7CB7-C3D9-2B70F591A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6042919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8CF2-FF03-9F14-2995-B9A528723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3B57E94-528F-6CE4-7153-226601B909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0A9DD4F-94B9-22F9-CD46-6AC4CF1E8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88D0270-1FD0-09ED-B6CA-609A5D158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4946180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BA06D-453B-46A2-DDD1-2AEA2C50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48DFCB0-E8DE-7D34-D7BE-4F89458BA8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617A8B0-B655-994E-D59C-522A99C5A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CF96993-D61A-64C5-5C92-484F60709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880882263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1EFF-0750-DA2F-089D-1CCD4A083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4310B10-60D7-8ED1-4997-2596395F86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88EC7F7-F492-42B6-3356-807475BF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C51ADBC-2757-79D1-59B2-CFEB42AA4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37832414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EB02-F962-B2F5-E40B-C204D599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1941C1B-1447-D4B8-16CA-9104A56EE6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E9F7900-1061-FC16-97CD-2DD3E15D7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FB5AF207-136A-A31F-5368-8477A08CD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621193865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08FDE-57D1-ABA9-3E6A-95EE3D42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0B359D2-6DF7-0FA3-C4EB-EA7A7C95D0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4326E08-9D9F-D343-D2BF-1CC6E24FC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78D9838-7A17-0271-3018-5C658B233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8678261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7BDD6-1672-9584-35E9-12B83362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5A3B295-2975-99AF-8D78-B6F9DD5317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E7EFC5B-6CAC-2BB6-CBD4-954889E06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77EC531-72E0-6A9F-6C63-F6657E8B6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911051789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D216D-23D7-5F47-5D64-857252B4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2FA3DD9-1F25-1199-3019-D5B0A40831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5EEBA00-28D2-2E01-BE2B-4D0AF8931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698AA31-09B7-7140-CBC5-1AE3205B2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30061716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7C53-E110-61A4-7EF9-E39A08AB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0A69944E-1F1D-531B-FF23-4DAF29259B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385042B-556E-7F83-291F-62864969A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195562B-AE26-D569-9EB9-127941BB2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139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79921538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8AEF-83D8-A6F9-5055-DC834E3C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3401E93-590F-9451-DDC8-6B6E3F1E83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CF22399-9580-5E2C-2BBD-AFCB8BFAE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1CDC277-CEC4-3E1B-09F7-85C4B7BC7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3687502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E5D5-0E89-5ED7-38A6-AA8E21E8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385C749-9F54-F802-B6BC-90515BAA2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3939996-57A3-671E-5579-A3A0795FA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3F3F948-39D7-5880-9424-FED13907D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291990706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AF31E-C9C8-6909-7068-2DF8A91E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A87881D-4DAD-5F1E-E54C-157D157E3E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83A94D9-9697-8A49-C5A8-722BDB3E6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04A2248-4CD6-3665-E635-E15671AD0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09694545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648B-0144-9FFA-11EE-40D1C4F9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3CDCEAB-F211-1234-34B8-BB1694AE51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498E3A3-865B-A4BA-BA98-547A0A290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4AE76F2-8A88-E861-9C6F-9D536E3C3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878961338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C0350-FC99-CF54-1457-A7AF18DC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C244DC6-324E-24A0-BA44-D225716E46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4FE46F8-F29B-CCF7-746C-4D0C8D80D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7B098EE-BBFD-1FAE-FABB-9B60A052E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90086572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A72E6-E80D-9C69-0859-8571DF84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C087B1B-F71E-B05D-7C7B-9CA9684925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FBFC507-9D61-847F-0D76-87A18B3AC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93AC317-60A4-EB07-28E4-12985A51E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460488745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CF27-D02C-EC40-7963-47C73238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CE0190B-860C-3A97-A867-A21B33CDF1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B0DFB1E-3B28-C485-0568-F34811BEF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96676FF-BD63-15AF-CAF4-6189E1298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3164570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AE79-2E65-1B68-6622-E74F6B24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A884681-3556-2FAB-2FE0-57B3267B9A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6F742F5-4455-D2AB-CDF4-EA36F7EEF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6A0B019-1358-3BE3-274E-C174BF640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068381767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6459A-A085-65DB-D98E-F9069960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7078F84-7C70-775E-5F66-9CF9A2E220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2590F92-9A19-A821-C2B8-77F78EA67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FB3627B-541F-DF89-6F35-18BD85CE6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51489894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A932-8850-F16F-CCBF-289D37F4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11195E0-ED56-5E1F-F55C-A93BAC25E2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242F8DF-AF72-4C7F-F666-45FA09F69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9E9C843-5C36-DC74-0AED-FB6A81691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149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08801266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2964B-7E28-88D7-712B-106E1C3F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FFBB0B5-BAC0-29EE-5F51-90E6FA1208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E4FE387-5DB9-0983-B8E1-33BF75559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8BB52BD-78CA-D00F-61EC-D9BE1A02B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741167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CC85-A5A5-756E-B2C8-C26A0FBB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166DD6E-ADE2-30D3-F1F3-7939960B4E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9576776-5648-FD52-0CE6-90903AB54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B35B407-F591-80B6-F342-667CFC71D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8800575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7163-7E34-6F61-6764-992751FA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FDE68C2-5953-CF53-16B1-18DFEA7786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2D4829D-694A-DCA1-9776-130BC8CF1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9BF0CC2-FC90-9CB1-0C20-CFCB0DAF0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258485625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33295919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9E801-15DF-192D-5D76-924615E8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61EE602-8C0E-14FF-F070-8DA51F02A1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5C88A763-45DE-A3B1-826C-DF34054A8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843A6FE-DE3A-F96D-8D8E-B51C1280F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580758063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967504335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592159072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873543299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159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413717572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286366139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675870156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5521656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693012347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51445412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29756596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61407726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319455907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744652532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169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5963980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0BA02-6763-0CB5-3681-9D1765A8C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41A6DD2-55B9-F9C2-6D58-AAAC11A9E2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455AC85-184A-D352-64DF-93134925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6AD06CF-BAB0-72A0-E3E5-4B32D3ADE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507556885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30861737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5849286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761515344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05258333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333481967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21017438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553463466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27445290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179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93972820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477623584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513943672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969834557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95912785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965263898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07894078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235990732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03418436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58358504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189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242605066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73519177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2449110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448908409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7824074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777807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A3361-A099-359A-0E35-226805AA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2A2C074-057D-C211-67A5-113001A257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BFBE3C6-DF14-FC6F-DA87-E308A3FF5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8E9AE1B-0799-D019-B497-6455D470D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32298084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708E-5778-8986-2CE4-6CB133D8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2CE8571-800F-051D-4484-2DDCA54441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CE0D7A0-0E21-20F8-AA00-DF163DB72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16631E5-9A74-60A9-7A50-AE3FF3E14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441128155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6968-3D2B-6738-BC7F-1B595ABF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E7686D8-9153-109D-B19A-151F817B6A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584072F-ED47-0E33-9E1D-0AAA77F86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FE647D2-2308-C7B6-0674-779CF132D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50945426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4DB5-31BB-BFCA-F30D-EFD71FC63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7C8747C-D92C-CDD5-9710-AECC6581E0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064BD1E-6ABB-5751-7FB2-6963C6175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12A853D-A7CB-1F9F-6D2A-3E05CED7F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58251778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55AB-9B63-AF27-CD14-23748086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ADD7A50-0FE8-079F-2952-0D98E599CC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52796D1-B758-E411-FDE6-97B5E1537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7DC86B0-8173-0999-CBD2-EDD74A392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199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944288605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35B2-7A5F-E3C4-CED0-9F56A19A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BFE9E5E-7E01-C615-1DEB-3658AB120F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6CCD40C-B530-1C58-50AE-70D5F0CDA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CD82892-5733-805F-FCC7-7119BEB80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358025094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8B14-54AF-9E0C-D106-B79F4F85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2F3AAA2-AFA3-AA40-E636-E9F39AB0C9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28F0996-9BF6-E3D3-2BF3-FBD9315C5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F1397E2-B403-3567-B6D8-6E10D8552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573514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51D2B-6EBF-7AB2-990A-667DF834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85559AD-5410-9144-D2F8-9F513AB49B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B20210D3-0C57-B1C7-B98E-8BDD6AE2D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9019B4C-9CE3-66EB-36DC-68A6C2C10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31011392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A6A0D-E327-AB64-06A8-1332AF48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1DFE49E-2F30-4FFA-0F9D-E7466EE14D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D7E2350-BEE1-55BC-D435-F1739C83F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7236DB3-A101-9D74-27AE-07027A6C3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138428160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118D0-EB38-1796-DC06-73EFCE48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908B77E-BDE0-DAC5-5D8F-10E3E1A104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8A34803-1EA9-C633-A814-DB3A060C4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73921BAB-78CF-79AD-8FA4-DDB8B9581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43096627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5150-BA08-C120-A936-93A22854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7E97553-183D-AF9D-9A37-06E0CEE250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93B7B4D-0D18-EFB2-1AB5-9587A3E51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0C1982B-ED2C-ED61-1802-93F0E900E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019604084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673AD-E685-0994-51C2-720FB11C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6C3514A-32AA-7206-72BE-85DA4A189C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893DA27-1742-7F32-C14A-DA463684C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8C3FB93-1965-8085-1C95-A9FABBA61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065410757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E902D-AAEA-A83E-0E97-7738B627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58C7A60-62F9-E772-34F0-3E93BA626F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1B96DC9-7FA0-5A60-8888-46B5FFAD9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5BEEBF8-35EF-2114-19F7-FEA770F07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301870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1C48-4F97-F344-73DE-9CF0869C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AF23197-7B5B-36E4-DEFC-F3AC204DD6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56BCE27-1348-94A7-B81B-45AE28EFC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85BED58-1E25-1AEB-9851-B2A861395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209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409938959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B92EB-FF08-B4A9-07FD-7DE4F63E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F0DF715-2AE9-7A59-42F1-4AAE67CED1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39184D6-BAC0-3E20-F321-F5C73666F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3E77494-1D6E-3764-18BD-1ADD5C7DE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47563226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87A9-7E94-8DF9-8646-E8E8EE48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D0AB55E-3F45-FD51-1C17-2A36C89031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029FA5B-4C58-6499-74AB-9EFBFC241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21B7524-3E22-CB2E-7652-D79D8B57D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195285862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B9F9C-4E77-BCF4-A89F-CAE14E99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356587A-C51E-DFD9-B78C-D1F80FE227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B53A99D2-0440-6E7D-563C-00BB9B77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7DDEDFD1-FBF3-E54A-A290-1B7D38803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98904351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07DB-D1E8-27D8-F13E-B75142E04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FC9BD4F-E0F0-F655-9CAE-2BA7AE383F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0FFCB6F-CEAD-0329-892C-8835F276C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4CFCDA6-DC3B-CCBC-31EF-9C4DFBFA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18496803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8D121-2B7B-7586-7B3F-FD727B28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68A1422-FAF0-3E89-3A55-7EBEDE1BAD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0F5FB5F-5569-4F5C-E076-39EE40B7A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8DA5528-A4BF-171B-6291-06AFBFCC5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093832323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83A9A-7CAD-15FC-E7E9-18845FCF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5733B34-E81F-E7E6-060D-14DF8A2E0F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EAB43AC-2718-A75E-40ED-3F9A60A68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D678012-5467-3C52-A5F1-56AAC8E7A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109786488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9BDCF-99FD-A364-174C-453CCEBB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F979098-5775-4BA7-BA30-B6A8FA933D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540A98E-E8D4-7694-DB91-5672FA35A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04C6109-7C19-C394-623D-AABA2CFF4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431690509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1F9BB-19B1-E9B7-CADA-C9D41928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E891FC9-5E32-4A36-EB16-CFD56934B5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46A0991-2127-3A28-7EB7-258D9FA38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5DCE606-94B3-E43F-A3DA-C2B7C3A1A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466409688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2961-BB69-2E21-1C52-55073E58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1338657-D581-837B-44B9-98FB53F86F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BB73F68-8FAB-AA30-0D14-82D51B13B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BAF1210F-90B8-8FA9-380D-96C07A9D4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906363497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2C1A-CD80-8CDE-70DB-236AB6FFF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C890AB7-B1FB-E7EE-B3A0-F40E64644A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F569972-E62B-D52B-9E1D-E0C6EBC70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6A62EDBB-4D9A-F596-2840-8FE98258D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219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111550125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1D9C1-639B-1E07-F278-CC3A8A326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32E3E66-CB79-E168-F616-752FC6702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912BF29-CDD5-A623-D02E-9AF89E2FA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C19FE1D-CDB3-75D0-3502-E0DB36E48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01946526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E593-4724-91FF-9F56-90013524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C3443AD-F03A-8639-C598-7632A78372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5BC201BA-0DA3-0F8F-D86B-44EF69838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AA3774D-0BD4-FAAF-299D-B425E16E9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755314016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B12E6-4440-B2FA-8485-70286EC3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6716012-C162-D7F2-B4FF-80FCD39CEC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CD140B3-B380-AE1E-6369-F5B461A03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C3A6D2E-B3D8-1F86-3929-5CA91DD7F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93399938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2CF3-49B9-2FA0-4816-3E356AF9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E1751A3-A3A9-05D1-2654-13975C8106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780B0EE-E975-5BAD-8773-5DF9A6327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E5E146E-38A1-6C20-49C1-B76A3B082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179073802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F293-68BF-3A52-A6AA-1D15E798D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46EFE87-AE64-0A40-F411-2B194CCB28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74A4F8C-D6CA-EDDB-0615-183B9D5EB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CF2AC9B-4E49-5826-0195-4D6D4AA40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12420572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5D9C-A2E3-9365-DE31-4B45F2F4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B6A9D5D-2E85-6318-B6A2-433F87F09C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8E00495-9C41-4D13-D448-76B0113C5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02D753F-4AE3-E023-4F13-CEB81D28F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35333899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0569-AE55-EF6F-F459-F9A86601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F154218-D438-4837-E0EF-84F10B3E00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1E364BB-61EA-AB8D-C967-3F611BF8A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30EE95A-AE6E-2F16-F570-1D8643FAA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278355265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133B-A833-8EE3-33E6-96F9CCF2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EF70F28-6305-8DD5-DDC6-6C68857C48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939537D-7B01-CE9C-5096-208F9E7B2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8407B42-F27B-F5B0-FA9F-D92904EF3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58180752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66EE-D5C7-C865-CD0C-4C29EF69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5C9006E-1558-5AD3-D9EB-1F7ED852CB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B4405768-EDDF-946C-2767-D534FC626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6778B4D-6DE7-D099-5567-E0B066B79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035422295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B4CAD-EFE4-3985-8B53-618F1A08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B10B683-7E5C-4581-3771-1884A584F1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ED3CE79-DBDE-B313-CC1B-3C592B9CF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654E63F8-C2B2-952A-EF34-0C61DB872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229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255473464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09174-AEEB-35D6-C280-81835A6B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F6D30F0-173D-3778-9D08-1348A63EF0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B4E1DEC2-803B-7B8A-DE9A-9FAE9899F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2EE9D6F-824C-58BB-38A0-D8F3F007F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250553236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5C9D-6A56-84FD-9730-B40B97DC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CC5AAD6-EA4C-01CB-F221-66713F1BCC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EC853E2-AF5A-54C7-F636-1A5226C09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4356168-47A0-309C-7BED-46203145B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45012639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40D2C-8292-F5EA-B590-ED4C7ED18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5560CAA-4205-05FF-C550-4AC20168FA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6A7B989-BABA-CFBA-A5CA-D98259B4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D90580E-1109-7F90-3561-D01B83096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46128844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6CC11-E576-F403-8D7D-F21620A6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8B3642C-2D0E-3DC6-85D3-2A2157267A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50415B8-E8FE-5736-997E-2C4697440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EEB22FE-4DC7-031A-49C1-27BE04465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913323198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A2DC-09AF-022E-6ADA-3C90920F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2475D5B-13E5-97B3-960D-D7711EED7D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4F68FC4-57FC-E68E-C751-AA15D9A35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48D7D5C-4646-A9B1-2739-0683CB272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920894822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F798-4A23-BFCD-8EF9-625F368E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54D0B205-DB43-F703-4041-920658B9EA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0EF68B1-8247-A962-9C17-0109EE577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6CB90169-D917-F334-C279-6E3233853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96547625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3CECC-7B34-53DA-010E-ADE5B98C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6A9EBC2-6BAB-8A4C-0FCA-0A5F3AAF53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84B36E6-16C9-AC91-593E-B45AF639C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5656E51-85AA-C938-D562-373AE6BB7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875444146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70A4A-9CFA-4690-F14B-71B3E7478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BB536B1-5FC6-A328-FA8D-202715116C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6F0ADC9-5C08-5734-3650-C7E8BFA1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6B345D4-C82B-2EB9-1721-D2BF43E1B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45406442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3157E-4623-339C-7CD4-717D62DE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0E54E40-9F04-F73C-0BA2-696FE6D82E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6FD78171-E79F-6D4E-BE0A-E1EBEB551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D0F3EC2-3C34-0669-5763-CA07E873A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663933260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5A92-6CB3-AA6D-BFEE-89E42816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7C7CF64-21F0-D331-DDED-DFB76DBA48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D513EC6-F3E5-5EB5-282F-E716FCAE8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B0A25F2C-E974-23D3-75E0-636B0C786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239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10315716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5C2E-8A2A-6048-A1FB-69E3BA53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F530512-9943-1D2C-541C-FD7DF0818E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B22F1FD-098C-11E2-F172-DC3961A24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B134C52-9CC3-198D-E6FB-588034E86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189941973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7664-ED1F-9076-E668-AF111123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E4D2C1C-0A23-AD1C-E84F-A2C0E26922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468588A-6947-9EE8-A6CE-0F42C4889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5B5CFBA-85E5-EC35-DFA8-09B569F08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001783928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D2970-062A-FC94-6676-9EAF66145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56987CA-C3C3-39C6-3688-0C3F5E071F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833FBF7-FA0D-5046-41F5-38AE2DC85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FEAB01B-0401-51A9-F5DD-B482664B7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247500904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C14DC-A5D6-D0F7-8034-E608A287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ACB868E-1D34-1352-09CB-916F3B256E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B6B2EF2-9BDD-6885-184B-5A9F7FC33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6F8A2954-A72E-5EDD-FD7D-ECC0E6B0B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4848133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E78C3-823E-5224-9398-E4860844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72EBF10-FA31-D674-AA07-9B10708723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896CDA0-E012-6CAB-89D0-82F8275CE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7306A74-A811-F633-8ED3-39E031800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73853583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831ED-E3A4-D9CE-575C-B4DE08BA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301C192-B54A-6B0B-2E57-B743A1637C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5E0635E-4BA3-60A2-D712-B7A77DB2D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9BA51ED-86F0-64B7-DBB7-F4893B90E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822442646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86E4-E5AA-E90C-1D38-FEE0A603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CD9C931-C818-17E6-6724-2E6AEE42DE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0B60DE6-D7F3-05EB-7978-6E2F25E8A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777EBA1C-1B5B-F730-84EA-B82004A42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75433495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CF55-102F-AB59-3D70-88AD8E9E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C434BE3-75EF-7587-05CF-79D0D9947E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E784EAC-4AB0-4B32-32C9-5F94C7A1A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2E3C9C6-0DD9-89FC-D40A-57603CF4E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093853373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CDA5-ED52-8F28-3DBB-43EDC2B8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503D01A-C7AF-F10E-55B5-BC07C8E108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5F9F2B4-2FED-9CE1-CDFE-65793B448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DB1EE88-8839-A341-37ED-45638D3460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13944730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967C-491E-D535-D533-3877CCCCE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27782AC-6664-7054-2794-EC4771BD54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551CFEF-B730-B96D-8B6F-5A64BC16E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BA6F870-565B-AA15-62D0-EA494201B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249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611901999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C6B3-9FDC-1F3C-0FCA-215108CB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D712B62-73A4-BDF5-7458-0D008C4E83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113E1D40-9858-7A63-DD8D-2F3D7A83C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5D21C55-D804-7241-4671-D6633D2DD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84371286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EBC2-E6F8-35D6-A908-BD7E0B71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3383E99-6C06-E7AB-BE18-A23665155B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B591D6B-EAF2-A129-51B9-289B3A003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CF7CCA1-9982-382C-1688-D564A1BA6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952425083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0AC0-37FA-51C7-E79E-3E68557A3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FAE2D69-EABA-0ED7-C828-AF8E6AD0E4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937EDF8-3855-0CF3-29C7-D1CFF0D12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5A279A0-F56B-FD99-0CB5-176BD90CF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227538738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B958-0040-6CF8-47C6-2C8795B8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5AA7254-CAE0-C06B-9213-2F050C01D7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424E918-FAD7-CA55-B53E-F4F86BEC4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E68AC25-9D6D-DE49-21B2-2FE3C49E4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327851985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D91C-6A2F-0BE5-2FB9-9F31818B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B24D865-16FB-11EA-DB41-3F81BB34A1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37E034F0-A669-6830-F8E7-B99A48197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9D5497F1-2FCD-66B2-DEA7-8DA5E4B05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849068698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BEA8-8B4E-9B25-AA39-4D9DE377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2CA0556-6195-3F21-7916-A70B7C24EE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4F384FA-33C5-2B04-7CC0-030320AD8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F633C8B-0C44-99A6-D58E-0D8023BF6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32774832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DD35-7C26-62C0-4C09-B270A27B5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3F6838F-C86A-7A2A-580B-CAB37D1CBC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8FF6665-D836-3841-A161-AC8E83FB2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C4B2173-C9B6-E3D0-9E61-92292972B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786720288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3BD00-D7D6-14FF-BA65-082377A2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36AF7A4F-4896-21F9-666D-74F80F792E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FE7EB662-5016-B77F-B60E-37826799A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C0DD732-1F32-9BA8-6ADE-25433D3F6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093261603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8A6CC-7D52-2CD1-C04E-074D37CD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1957561-5C66-B252-6608-C3D83A355A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5D6D458-3803-E6FC-A21A-33B804F67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8A5BB0C-315E-208F-F35B-ED538062A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178119539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9104-D8BF-096B-A466-11F317D9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B4D8381-727B-E55E-DF49-01624D52CE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04927BF-00B5-CC9C-6B47-5D8C503BE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8A42B7E-59FD-1054-3A87-C6E8FFF8A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259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731571750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5C3CA-A859-1C61-2A0C-B296D75AE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21F0B34-3BB8-2DCB-ACB9-FDA0B3C08C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9494851-2562-B14A-3BAC-B52FBE2A5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0125BC3-0819-F1D1-6532-D9E0EC653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710624650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025EC-376A-6C61-1FCD-6143772A6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2E778D0C-5E5F-1A7B-9B23-59FAE36E29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91BB0BF-0BAB-FE57-041A-972A2D253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42DC28F-9B7B-A1C5-45FC-7A623EF02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92041276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42EF2-6D62-3F4B-BCE3-DBF4E2C4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7F7C67F-B292-FA4B-860A-D3450A1873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60F282B-B58F-A038-3CAB-5A017092D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68C3246-2FCC-4245-1706-BDFCBBE5D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44717181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DC7C-696F-C1CD-4FC9-D0F536AD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28B7C4C-1741-233E-D498-DBB96F436D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C0B0D17-07F3-838F-CF4C-674E353E1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13FD662-5557-58FF-6D0A-33EF9D8A9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710715475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1648-4B52-7DDD-493B-21C9F4FA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F5B125B6-03C6-3EDF-CBC6-84823F4536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A47B2447-AF39-2814-A628-CE4F63337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FF52C1DF-BB18-ABAE-B31E-E9AFB89FD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054718364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004B-C0C1-DE56-5FBE-DF5341EB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BE3C17CB-9934-422D-479F-1B0AF40C29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018FE28D-8D19-4C64-DF7F-B88F7E764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DD745B5E-DCB4-4E6D-45C6-F0C52C34F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664554665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12D08-7D64-FE3B-8007-B56963D6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142A6291-2ED1-6115-51E3-37C5B193A7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884532C3-4338-495F-F12C-F5B3A0498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EE649987-D833-E41E-5AE8-9B7FB082F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65358588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2579-B05F-BD64-E679-61C042E8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C73B7DA-BBFD-1C17-F93A-47C062A620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80BF2433-111F-2832-F5FE-55F5898AC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CADA320-9E19-27E8-1E59-5C22EA1D8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536591995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7DE24-1C30-CBC9-D24A-A3932DEA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889703C-13B1-BB6F-31B2-E8D469D3D0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FE61AC0-B4C9-BFC3-6FCE-B600CB826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4728BF2-823F-B5A2-EB8C-2DF9B00E5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66180333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AEC50-8C56-7D17-F944-241C0EA6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91589D4-CFBA-ABD0-5914-4CA145F332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871B0208-99C4-CBE8-707E-B9C8EB819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4020F2E1-8FB7-6BBB-9D8E-25DA9A57F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269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470988556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74CD-1E45-4327-49A1-EA2555F1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E7210CC-EB0C-1631-C7F8-322316A08D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C352FC7-26E5-6FE1-7132-67210C66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15DA746B-938F-3D58-08AD-9B8DB2E9D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063436285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1951-639E-C595-5A2E-183B084A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8150CDD6-4BC4-042E-40B2-9B76DACB24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49F05316-153E-617B-6E47-7B9B3593F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62D42C1-C9D5-6EF6-6759-7EDF56316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458727738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8579E-776E-6B3C-1A5C-8358C549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C282A6B2-A00A-7385-177F-92F9ADDB7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9DDE9159-EFF3-A995-656D-984940A11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DCA4756-5A00-B6AD-7379-E231C3670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22624669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BFF3-86E7-D4BE-E379-AB9EF93C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8CBBE22-CA23-C68E-0EFC-CF9D2103DB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BEA96F2E-CE55-5431-F985-2EC344E65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00233D89-C2A6-C24B-DFD6-13B806D7C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273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155234152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1593-68E8-924A-BD15-EAF69E6A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D6CFB08-F8D4-4505-8177-DF73D90053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488CA14-0655-717A-6DE0-0852F6244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C1521977-84CC-D6DB-84ED-4EC22EA9B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274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504591384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7EF3F-99CD-69F8-9025-91A709CC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D398B03-E326-4DCA-8296-5D4DA4D3D9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AC42871-73E6-D736-D803-EDF4035F5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DD52B79-A2A6-633D-971F-CF003CEF1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275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465715030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DFD1C-61D8-AF7C-F437-C0822162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98BA5780-3504-3FC3-0B1D-963C8CB929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1F7C29A-A82D-C185-5E80-007023057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5BC2C1C6-32D3-D3E9-268F-03E4A2B0A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276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819018047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62E9-2C51-646A-9330-635B348D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826BFF2-AACB-FFA6-195E-40A8143CCA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EBB1FC64-3A3A-A357-DAC6-9399B5271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B5C50FC9-EE3D-197C-9829-419CCD120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277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00684495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C563C-20AD-8CC5-283E-168373E1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D65A2319-63C0-AE4C-503E-18CA18FE64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2D805A02-F27D-74F8-A229-73206B0B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F3562E9-11BC-4B66-0463-264EC3230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278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273479465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8E21-9636-FD4F-9DE1-EF007A1D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E12302FA-8A46-EDAD-3109-E5ECAD0A5D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0763407-C250-9942-0BB9-838BECD30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AB953EEC-72CE-3FF3-053D-AA52E751B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279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525064119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DAF0-E54F-4795-DD55-16CAA826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7024F05C-A19E-4C31-A4E3-9E136585EE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C68C6CB3-16E3-B2FB-0741-B9038EC09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3F8AD521-3EA0-A3E8-BFBD-9EFE11571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280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364620644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9BE0-3664-AF5D-F543-DB858430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4FB7256F-17DD-5E45-1E22-B41BA6780C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B405A69D-B499-5E50-3DF4-716C0838A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828DCE69-9CA0-FDE1-A884-272E9FFAF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281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194053091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218B-0797-AD11-2322-9D0E2147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6B4603BB-09F3-0C68-AD42-4A4F3F0F41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013" y="750888"/>
            <a:ext cx="6665912" cy="3751262"/>
          </a:xfrm>
          <a:ln/>
        </p:spPr>
        <p:txBody>
          <a:bodyPr/>
          <a:lstStyle/>
          <a:p>
            <a:endParaRPr lang="pt-BR" dirty="0"/>
          </a:p>
        </p:txBody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7248552A-4A9F-A94C-E060-0D99F0F1D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dirty="0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2B75E2D2-9976-9B9A-0A05-D10EF3BEA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601" indent="-285616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46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99447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6432" indent="-228492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3416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040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7387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4372" indent="-22849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9893812-35A7-40DE-AABF-2AFB3F3A1A41}" type="slidenum">
              <a:rPr lang="en-US" altLang="pt-BR"/>
              <a:pPr>
                <a:spcBef>
                  <a:spcPct val="0"/>
                </a:spcBef>
              </a:pPr>
              <a:t>282</a:t>
            </a:fld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928657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1 linha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7A1323-B805-483F-B403-83038F1DB33C}"/>
              </a:ext>
            </a:extLst>
          </p:cNvPr>
          <p:cNvSpPr/>
          <p:nvPr userDrawn="1"/>
        </p:nvSpPr>
        <p:spPr>
          <a:xfrm>
            <a:off x="960000" y="427589"/>
            <a:ext cx="997275" cy="6771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685709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202427"/>
              </a:solidFill>
              <a:effectLst/>
              <a:uLnTx/>
              <a:uFillTx/>
              <a:latin typeface="Lato regular"/>
              <a:ea typeface="+mn-ea"/>
              <a:cs typeface="+mn-cs"/>
            </a:endParaRPr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28F82A4E-85E7-C0C9-5629-E27CF2147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1" y="495302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>
              <a:lnSpc>
                <a:spcPct val="100000"/>
              </a:lnSpc>
              <a:defRPr sz="3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9FC86AD1-14EC-BB00-01BD-D25493E601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9380" y="1556810"/>
            <a:ext cx="10273243" cy="4843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270000" indent="-27000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540000" indent="-27000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2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810000" indent="-27000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70000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080000" indent="-27000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60000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1725"/>
              </a:lnSpc>
              <a:spcBef>
                <a:spcPts val="0"/>
              </a:spcBef>
              <a:defRPr sz="135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3966142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C9BE2685-5F3E-56EF-96AB-318CF6771F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5521" y="3429001"/>
            <a:ext cx="9817101" cy="24650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pt-BR" sz="2400" b="1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3301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3301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3301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3301" b="0" kern="1200" dirty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D1877B-D2D9-B942-9304-AFAFD2DE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521" y="2091268"/>
            <a:ext cx="9817101" cy="667475"/>
          </a:xfrm>
          <a:prstGeom prst="rect">
            <a:avLst/>
          </a:prstGeom>
        </p:spPr>
        <p:txBody>
          <a:bodyPr anchor="ctr" anchorCtr="0"/>
          <a:lstStyle>
            <a:lvl1pPr algn="ctr">
              <a:defRPr sz="3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96E1B6C-4AE7-DA2C-C36E-A214BCC2103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8343" r="50903"/>
          <a:stretch/>
        </p:blipFill>
        <p:spPr>
          <a:xfrm>
            <a:off x="11251782" y="6400800"/>
            <a:ext cx="937449" cy="371906"/>
          </a:xfrm>
          <a:prstGeom prst="rect">
            <a:avLst/>
          </a:prstGeom>
        </p:spPr>
      </p:pic>
      <p:sp>
        <p:nvSpPr>
          <p:cNvPr id="16" name="Rectangle 14">
            <a:extLst>
              <a:ext uri="{FF2B5EF4-FFF2-40B4-BE49-F238E27FC236}">
                <a16:creationId xmlns:a16="http://schemas.microsoft.com/office/drawing/2014/main" id="{A2BB2726-E854-9CB5-492C-D9A35F1F4AC9}"/>
              </a:ext>
            </a:extLst>
          </p:cNvPr>
          <p:cNvSpPr/>
          <p:nvPr userDrawn="1"/>
        </p:nvSpPr>
        <p:spPr>
          <a:xfrm>
            <a:off x="-8021" y="1"/>
            <a:ext cx="462047" cy="601177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BD50CADE-98A4-7B9A-03D7-97D6D48B04F3}"/>
              </a:ext>
            </a:extLst>
          </p:cNvPr>
          <p:cNvSpPr/>
          <p:nvPr userDrawn="1"/>
        </p:nvSpPr>
        <p:spPr>
          <a:xfrm>
            <a:off x="-8021" y="6011778"/>
            <a:ext cx="462047" cy="15630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F0ED146D-2D8C-1841-660C-44B8BD6A4FD9}"/>
              </a:ext>
            </a:extLst>
          </p:cNvPr>
          <p:cNvSpPr/>
          <p:nvPr userDrawn="1"/>
        </p:nvSpPr>
        <p:spPr>
          <a:xfrm>
            <a:off x="-8021" y="6167935"/>
            <a:ext cx="462047" cy="15630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rgbClr val="008BC9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F0129DB-B664-FB41-9682-C1E85FF94AA8}"/>
              </a:ext>
            </a:extLst>
          </p:cNvPr>
          <p:cNvSpPr/>
          <p:nvPr userDrawn="1"/>
        </p:nvSpPr>
        <p:spPr>
          <a:xfrm>
            <a:off x="960000" y="427589"/>
            <a:ext cx="997275" cy="6771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685709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202427"/>
              </a:solidFill>
              <a:effectLst/>
              <a:uLnTx/>
              <a:uFillTx/>
              <a:latin typeface="Lato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6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B4BD698-1E30-E979-CA4A-D90B9F78ED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0"/>
            <a:ext cx="7620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23" name="Freeform: Shape 5">
            <a:extLst>
              <a:ext uri="{FF2B5EF4-FFF2-40B4-BE49-F238E27FC236}">
                <a16:creationId xmlns:a16="http://schemas.microsoft.com/office/drawing/2014/main" id="{D5A9E31C-9AC2-4E2F-1499-EC18168B3DF7}"/>
              </a:ext>
            </a:extLst>
          </p:cNvPr>
          <p:cNvSpPr/>
          <p:nvPr userDrawn="1"/>
        </p:nvSpPr>
        <p:spPr>
          <a:xfrm>
            <a:off x="1906334" y="3096181"/>
            <a:ext cx="1909396" cy="1718456"/>
          </a:xfrm>
          <a:custGeom>
            <a:avLst/>
            <a:gdLst>
              <a:gd name="connsiteX0" fmla="*/ 1851331 w 1878763"/>
              <a:gd name="connsiteY0" fmla="*/ 1692867 h 1720299"/>
              <a:gd name="connsiteX1" fmla="*/ 1878763 w 1878763"/>
              <a:gd name="connsiteY1" fmla="*/ 1692867 h 1720299"/>
              <a:gd name="connsiteX2" fmla="*/ 1878763 w 1878763"/>
              <a:gd name="connsiteY2" fmla="*/ 1720299 h 1720299"/>
              <a:gd name="connsiteX3" fmla="*/ 1851331 w 1878763"/>
              <a:gd name="connsiteY3" fmla="*/ 1720299 h 1720299"/>
              <a:gd name="connsiteX4" fmla="*/ 1737031 w 1878763"/>
              <a:gd name="connsiteY4" fmla="*/ 1692867 h 1720299"/>
              <a:gd name="connsiteX5" fmla="*/ 1764463 w 1878763"/>
              <a:gd name="connsiteY5" fmla="*/ 1692867 h 1720299"/>
              <a:gd name="connsiteX6" fmla="*/ 1764463 w 1878763"/>
              <a:gd name="connsiteY6" fmla="*/ 1720299 h 1720299"/>
              <a:gd name="connsiteX7" fmla="*/ 1737031 w 1878763"/>
              <a:gd name="connsiteY7" fmla="*/ 1720299 h 1720299"/>
              <a:gd name="connsiteX8" fmla="*/ 1625112 w 1878763"/>
              <a:gd name="connsiteY8" fmla="*/ 1692867 h 1720299"/>
              <a:gd name="connsiteX9" fmla="*/ 1652544 w 1878763"/>
              <a:gd name="connsiteY9" fmla="*/ 1692867 h 1720299"/>
              <a:gd name="connsiteX10" fmla="*/ 1652544 w 1878763"/>
              <a:gd name="connsiteY10" fmla="*/ 1720299 h 1720299"/>
              <a:gd name="connsiteX11" fmla="*/ 1625112 w 1878763"/>
              <a:gd name="connsiteY11" fmla="*/ 1720299 h 1720299"/>
              <a:gd name="connsiteX12" fmla="*/ 1510812 w 1878763"/>
              <a:gd name="connsiteY12" fmla="*/ 1692867 h 1720299"/>
              <a:gd name="connsiteX13" fmla="*/ 1538244 w 1878763"/>
              <a:gd name="connsiteY13" fmla="*/ 1692867 h 1720299"/>
              <a:gd name="connsiteX14" fmla="*/ 1538244 w 1878763"/>
              <a:gd name="connsiteY14" fmla="*/ 1720299 h 1720299"/>
              <a:gd name="connsiteX15" fmla="*/ 1510812 w 1878763"/>
              <a:gd name="connsiteY15" fmla="*/ 1720299 h 1720299"/>
              <a:gd name="connsiteX16" fmla="*/ 1394702 w 1878763"/>
              <a:gd name="connsiteY16" fmla="*/ 1692867 h 1720299"/>
              <a:gd name="connsiteX17" fmla="*/ 1422134 w 1878763"/>
              <a:gd name="connsiteY17" fmla="*/ 1692867 h 1720299"/>
              <a:gd name="connsiteX18" fmla="*/ 1422134 w 1878763"/>
              <a:gd name="connsiteY18" fmla="*/ 1720299 h 1720299"/>
              <a:gd name="connsiteX19" fmla="*/ 1394702 w 1878763"/>
              <a:gd name="connsiteY19" fmla="*/ 1720299 h 1720299"/>
              <a:gd name="connsiteX20" fmla="*/ 1278592 w 1878763"/>
              <a:gd name="connsiteY20" fmla="*/ 1692867 h 1720299"/>
              <a:gd name="connsiteX21" fmla="*/ 1306024 w 1878763"/>
              <a:gd name="connsiteY21" fmla="*/ 1692867 h 1720299"/>
              <a:gd name="connsiteX22" fmla="*/ 1306024 w 1878763"/>
              <a:gd name="connsiteY22" fmla="*/ 1720299 h 1720299"/>
              <a:gd name="connsiteX23" fmla="*/ 1278592 w 1878763"/>
              <a:gd name="connsiteY23" fmla="*/ 1720299 h 1720299"/>
              <a:gd name="connsiteX24" fmla="*/ 1162482 w 1878763"/>
              <a:gd name="connsiteY24" fmla="*/ 1692867 h 1720299"/>
              <a:gd name="connsiteX25" fmla="*/ 1189914 w 1878763"/>
              <a:gd name="connsiteY25" fmla="*/ 1692867 h 1720299"/>
              <a:gd name="connsiteX26" fmla="*/ 1189914 w 1878763"/>
              <a:gd name="connsiteY26" fmla="*/ 1720299 h 1720299"/>
              <a:gd name="connsiteX27" fmla="*/ 1162482 w 1878763"/>
              <a:gd name="connsiteY27" fmla="*/ 1720299 h 1720299"/>
              <a:gd name="connsiteX28" fmla="*/ 1042307 w 1878763"/>
              <a:gd name="connsiteY28" fmla="*/ 1692867 h 1720299"/>
              <a:gd name="connsiteX29" fmla="*/ 1069739 w 1878763"/>
              <a:gd name="connsiteY29" fmla="*/ 1692867 h 1720299"/>
              <a:gd name="connsiteX30" fmla="*/ 1069739 w 1878763"/>
              <a:gd name="connsiteY30" fmla="*/ 1720299 h 1720299"/>
              <a:gd name="connsiteX31" fmla="*/ 1042307 w 1878763"/>
              <a:gd name="connsiteY31" fmla="*/ 1720299 h 1720299"/>
              <a:gd name="connsiteX32" fmla="*/ 926798 w 1878763"/>
              <a:gd name="connsiteY32" fmla="*/ 1692867 h 1720299"/>
              <a:gd name="connsiteX33" fmla="*/ 954230 w 1878763"/>
              <a:gd name="connsiteY33" fmla="*/ 1692867 h 1720299"/>
              <a:gd name="connsiteX34" fmla="*/ 954230 w 1878763"/>
              <a:gd name="connsiteY34" fmla="*/ 1720299 h 1720299"/>
              <a:gd name="connsiteX35" fmla="*/ 926798 w 1878763"/>
              <a:gd name="connsiteY35" fmla="*/ 1720299 h 1720299"/>
              <a:gd name="connsiteX36" fmla="*/ 812625 w 1878763"/>
              <a:gd name="connsiteY36" fmla="*/ 1692867 h 1720299"/>
              <a:gd name="connsiteX37" fmla="*/ 840057 w 1878763"/>
              <a:gd name="connsiteY37" fmla="*/ 1692867 h 1720299"/>
              <a:gd name="connsiteX38" fmla="*/ 840057 w 1878763"/>
              <a:gd name="connsiteY38" fmla="*/ 1720299 h 1720299"/>
              <a:gd name="connsiteX39" fmla="*/ 812625 w 1878763"/>
              <a:gd name="connsiteY39" fmla="*/ 1720299 h 1720299"/>
              <a:gd name="connsiteX40" fmla="*/ 692450 w 1878763"/>
              <a:gd name="connsiteY40" fmla="*/ 1692867 h 1720299"/>
              <a:gd name="connsiteX41" fmla="*/ 719882 w 1878763"/>
              <a:gd name="connsiteY41" fmla="*/ 1692867 h 1720299"/>
              <a:gd name="connsiteX42" fmla="*/ 719882 w 1878763"/>
              <a:gd name="connsiteY42" fmla="*/ 1720299 h 1720299"/>
              <a:gd name="connsiteX43" fmla="*/ 692450 w 1878763"/>
              <a:gd name="connsiteY43" fmla="*/ 1720299 h 1720299"/>
              <a:gd name="connsiteX44" fmla="*/ 576340 w 1878763"/>
              <a:gd name="connsiteY44" fmla="*/ 1692867 h 1720299"/>
              <a:gd name="connsiteX45" fmla="*/ 603772 w 1878763"/>
              <a:gd name="connsiteY45" fmla="*/ 1692867 h 1720299"/>
              <a:gd name="connsiteX46" fmla="*/ 603772 w 1878763"/>
              <a:gd name="connsiteY46" fmla="*/ 1720299 h 1720299"/>
              <a:gd name="connsiteX47" fmla="*/ 576340 w 1878763"/>
              <a:gd name="connsiteY47" fmla="*/ 1720299 h 1720299"/>
              <a:gd name="connsiteX48" fmla="*/ 456165 w 1878763"/>
              <a:gd name="connsiteY48" fmla="*/ 1692867 h 1720299"/>
              <a:gd name="connsiteX49" fmla="*/ 483597 w 1878763"/>
              <a:gd name="connsiteY49" fmla="*/ 1692867 h 1720299"/>
              <a:gd name="connsiteX50" fmla="*/ 483597 w 1878763"/>
              <a:gd name="connsiteY50" fmla="*/ 1720299 h 1720299"/>
              <a:gd name="connsiteX51" fmla="*/ 456165 w 1878763"/>
              <a:gd name="connsiteY51" fmla="*/ 1720299 h 1720299"/>
              <a:gd name="connsiteX52" fmla="*/ 340656 w 1878763"/>
              <a:gd name="connsiteY52" fmla="*/ 1692867 h 1720299"/>
              <a:gd name="connsiteX53" fmla="*/ 368088 w 1878763"/>
              <a:gd name="connsiteY53" fmla="*/ 1692867 h 1720299"/>
              <a:gd name="connsiteX54" fmla="*/ 368088 w 1878763"/>
              <a:gd name="connsiteY54" fmla="*/ 1720299 h 1720299"/>
              <a:gd name="connsiteX55" fmla="*/ 340656 w 1878763"/>
              <a:gd name="connsiteY55" fmla="*/ 1720299 h 1720299"/>
              <a:gd name="connsiteX56" fmla="*/ 226483 w 1878763"/>
              <a:gd name="connsiteY56" fmla="*/ 1692867 h 1720299"/>
              <a:gd name="connsiteX57" fmla="*/ 253915 w 1878763"/>
              <a:gd name="connsiteY57" fmla="*/ 1692867 h 1720299"/>
              <a:gd name="connsiteX58" fmla="*/ 253915 w 1878763"/>
              <a:gd name="connsiteY58" fmla="*/ 1720299 h 1720299"/>
              <a:gd name="connsiteX59" fmla="*/ 226483 w 1878763"/>
              <a:gd name="connsiteY59" fmla="*/ 1720299 h 1720299"/>
              <a:gd name="connsiteX60" fmla="*/ 114173 w 1878763"/>
              <a:gd name="connsiteY60" fmla="*/ 1692867 h 1720299"/>
              <a:gd name="connsiteX61" fmla="*/ 141605 w 1878763"/>
              <a:gd name="connsiteY61" fmla="*/ 1692867 h 1720299"/>
              <a:gd name="connsiteX62" fmla="*/ 141605 w 1878763"/>
              <a:gd name="connsiteY62" fmla="*/ 1720299 h 1720299"/>
              <a:gd name="connsiteX63" fmla="*/ 114173 w 1878763"/>
              <a:gd name="connsiteY63" fmla="*/ 1720299 h 1720299"/>
              <a:gd name="connsiteX64" fmla="*/ 0 w 1878763"/>
              <a:gd name="connsiteY64" fmla="*/ 1692867 h 1720299"/>
              <a:gd name="connsiteX65" fmla="*/ 27432 w 1878763"/>
              <a:gd name="connsiteY65" fmla="*/ 1692867 h 1720299"/>
              <a:gd name="connsiteX66" fmla="*/ 27432 w 1878763"/>
              <a:gd name="connsiteY66" fmla="*/ 1720299 h 1720299"/>
              <a:gd name="connsiteX67" fmla="*/ 0 w 1878763"/>
              <a:gd name="connsiteY67" fmla="*/ 1720299 h 1720299"/>
              <a:gd name="connsiteX68" fmla="*/ 1851331 w 1878763"/>
              <a:gd name="connsiteY68" fmla="*/ 1579360 h 1720299"/>
              <a:gd name="connsiteX69" fmla="*/ 1878763 w 1878763"/>
              <a:gd name="connsiteY69" fmla="*/ 1579360 h 1720299"/>
              <a:gd name="connsiteX70" fmla="*/ 1878763 w 1878763"/>
              <a:gd name="connsiteY70" fmla="*/ 1606792 h 1720299"/>
              <a:gd name="connsiteX71" fmla="*/ 1851331 w 1878763"/>
              <a:gd name="connsiteY71" fmla="*/ 1606792 h 1720299"/>
              <a:gd name="connsiteX72" fmla="*/ 1737031 w 1878763"/>
              <a:gd name="connsiteY72" fmla="*/ 1579360 h 1720299"/>
              <a:gd name="connsiteX73" fmla="*/ 1764463 w 1878763"/>
              <a:gd name="connsiteY73" fmla="*/ 1579360 h 1720299"/>
              <a:gd name="connsiteX74" fmla="*/ 1764463 w 1878763"/>
              <a:gd name="connsiteY74" fmla="*/ 1606792 h 1720299"/>
              <a:gd name="connsiteX75" fmla="*/ 1737031 w 1878763"/>
              <a:gd name="connsiteY75" fmla="*/ 1606792 h 1720299"/>
              <a:gd name="connsiteX76" fmla="*/ 1625112 w 1878763"/>
              <a:gd name="connsiteY76" fmla="*/ 1579360 h 1720299"/>
              <a:gd name="connsiteX77" fmla="*/ 1652544 w 1878763"/>
              <a:gd name="connsiteY77" fmla="*/ 1579360 h 1720299"/>
              <a:gd name="connsiteX78" fmla="*/ 1652544 w 1878763"/>
              <a:gd name="connsiteY78" fmla="*/ 1606792 h 1720299"/>
              <a:gd name="connsiteX79" fmla="*/ 1625112 w 1878763"/>
              <a:gd name="connsiteY79" fmla="*/ 1606792 h 1720299"/>
              <a:gd name="connsiteX80" fmla="*/ 1510812 w 1878763"/>
              <a:gd name="connsiteY80" fmla="*/ 1579360 h 1720299"/>
              <a:gd name="connsiteX81" fmla="*/ 1538244 w 1878763"/>
              <a:gd name="connsiteY81" fmla="*/ 1579360 h 1720299"/>
              <a:gd name="connsiteX82" fmla="*/ 1538244 w 1878763"/>
              <a:gd name="connsiteY82" fmla="*/ 1606792 h 1720299"/>
              <a:gd name="connsiteX83" fmla="*/ 1510812 w 1878763"/>
              <a:gd name="connsiteY83" fmla="*/ 1606792 h 1720299"/>
              <a:gd name="connsiteX84" fmla="*/ 1394702 w 1878763"/>
              <a:gd name="connsiteY84" fmla="*/ 1579360 h 1720299"/>
              <a:gd name="connsiteX85" fmla="*/ 1422134 w 1878763"/>
              <a:gd name="connsiteY85" fmla="*/ 1579360 h 1720299"/>
              <a:gd name="connsiteX86" fmla="*/ 1422134 w 1878763"/>
              <a:gd name="connsiteY86" fmla="*/ 1606792 h 1720299"/>
              <a:gd name="connsiteX87" fmla="*/ 1394702 w 1878763"/>
              <a:gd name="connsiteY87" fmla="*/ 1606792 h 1720299"/>
              <a:gd name="connsiteX88" fmla="*/ 1278592 w 1878763"/>
              <a:gd name="connsiteY88" fmla="*/ 1579360 h 1720299"/>
              <a:gd name="connsiteX89" fmla="*/ 1306024 w 1878763"/>
              <a:gd name="connsiteY89" fmla="*/ 1579360 h 1720299"/>
              <a:gd name="connsiteX90" fmla="*/ 1306024 w 1878763"/>
              <a:gd name="connsiteY90" fmla="*/ 1606792 h 1720299"/>
              <a:gd name="connsiteX91" fmla="*/ 1278592 w 1878763"/>
              <a:gd name="connsiteY91" fmla="*/ 1606792 h 1720299"/>
              <a:gd name="connsiteX92" fmla="*/ 1162482 w 1878763"/>
              <a:gd name="connsiteY92" fmla="*/ 1579360 h 1720299"/>
              <a:gd name="connsiteX93" fmla="*/ 1189914 w 1878763"/>
              <a:gd name="connsiteY93" fmla="*/ 1579360 h 1720299"/>
              <a:gd name="connsiteX94" fmla="*/ 1189914 w 1878763"/>
              <a:gd name="connsiteY94" fmla="*/ 1606792 h 1720299"/>
              <a:gd name="connsiteX95" fmla="*/ 1162482 w 1878763"/>
              <a:gd name="connsiteY95" fmla="*/ 1606792 h 1720299"/>
              <a:gd name="connsiteX96" fmla="*/ 1042307 w 1878763"/>
              <a:gd name="connsiteY96" fmla="*/ 1579360 h 1720299"/>
              <a:gd name="connsiteX97" fmla="*/ 1069739 w 1878763"/>
              <a:gd name="connsiteY97" fmla="*/ 1579360 h 1720299"/>
              <a:gd name="connsiteX98" fmla="*/ 1069739 w 1878763"/>
              <a:gd name="connsiteY98" fmla="*/ 1606792 h 1720299"/>
              <a:gd name="connsiteX99" fmla="*/ 1042307 w 1878763"/>
              <a:gd name="connsiteY99" fmla="*/ 1606792 h 1720299"/>
              <a:gd name="connsiteX100" fmla="*/ 926798 w 1878763"/>
              <a:gd name="connsiteY100" fmla="*/ 1579360 h 1720299"/>
              <a:gd name="connsiteX101" fmla="*/ 954230 w 1878763"/>
              <a:gd name="connsiteY101" fmla="*/ 1579360 h 1720299"/>
              <a:gd name="connsiteX102" fmla="*/ 954230 w 1878763"/>
              <a:gd name="connsiteY102" fmla="*/ 1606792 h 1720299"/>
              <a:gd name="connsiteX103" fmla="*/ 926798 w 1878763"/>
              <a:gd name="connsiteY103" fmla="*/ 1606792 h 1720299"/>
              <a:gd name="connsiteX104" fmla="*/ 812625 w 1878763"/>
              <a:gd name="connsiteY104" fmla="*/ 1579360 h 1720299"/>
              <a:gd name="connsiteX105" fmla="*/ 840057 w 1878763"/>
              <a:gd name="connsiteY105" fmla="*/ 1579360 h 1720299"/>
              <a:gd name="connsiteX106" fmla="*/ 840057 w 1878763"/>
              <a:gd name="connsiteY106" fmla="*/ 1606792 h 1720299"/>
              <a:gd name="connsiteX107" fmla="*/ 812625 w 1878763"/>
              <a:gd name="connsiteY107" fmla="*/ 1606792 h 1720299"/>
              <a:gd name="connsiteX108" fmla="*/ 692450 w 1878763"/>
              <a:gd name="connsiteY108" fmla="*/ 1579360 h 1720299"/>
              <a:gd name="connsiteX109" fmla="*/ 719882 w 1878763"/>
              <a:gd name="connsiteY109" fmla="*/ 1579360 h 1720299"/>
              <a:gd name="connsiteX110" fmla="*/ 719882 w 1878763"/>
              <a:gd name="connsiteY110" fmla="*/ 1606792 h 1720299"/>
              <a:gd name="connsiteX111" fmla="*/ 692450 w 1878763"/>
              <a:gd name="connsiteY111" fmla="*/ 1606792 h 1720299"/>
              <a:gd name="connsiteX112" fmla="*/ 576340 w 1878763"/>
              <a:gd name="connsiteY112" fmla="*/ 1579360 h 1720299"/>
              <a:gd name="connsiteX113" fmla="*/ 603772 w 1878763"/>
              <a:gd name="connsiteY113" fmla="*/ 1579360 h 1720299"/>
              <a:gd name="connsiteX114" fmla="*/ 603772 w 1878763"/>
              <a:gd name="connsiteY114" fmla="*/ 1606792 h 1720299"/>
              <a:gd name="connsiteX115" fmla="*/ 576340 w 1878763"/>
              <a:gd name="connsiteY115" fmla="*/ 1606792 h 1720299"/>
              <a:gd name="connsiteX116" fmla="*/ 456165 w 1878763"/>
              <a:gd name="connsiteY116" fmla="*/ 1579360 h 1720299"/>
              <a:gd name="connsiteX117" fmla="*/ 483597 w 1878763"/>
              <a:gd name="connsiteY117" fmla="*/ 1579360 h 1720299"/>
              <a:gd name="connsiteX118" fmla="*/ 483597 w 1878763"/>
              <a:gd name="connsiteY118" fmla="*/ 1606792 h 1720299"/>
              <a:gd name="connsiteX119" fmla="*/ 456165 w 1878763"/>
              <a:gd name="connsiteY119" fmla="*/ 1606792 h 1720299"/>
              <a:gd name="connsiteX120" fmla="*/ 340656 w 1878763"/>
              <a:gd name="connsiteY120" fmla="*/ 1579360 h 1720299"/>
              <a:gd name="connsiteX121" fmla="*/ 368088 w 1878763"/>
              <a:gd name="connsiteY121" fmla="*/ 1579360 h 1720299"/>
              <a:gd name="connsiteX122" fmla="*/ 368088 w 1878763"/>
              <a:gd name="connsiteY122" fmla="*/ 1606792 h 1720299"/>
              <a:gd name="connsiteX123" fmla="*/ 340656 w 1878763"/>
              <a:gd name="connsiteY123" fmla="*/ 1606792 h 1720299"/>
              <a:gd name="connsiteX124" fmla="*/ 226483 w 1878763"/>
              <a:gd name="connsiteY124" fmla="*/ 1579360 h 1720299"/>
              <a:gd name="connsiteX125" fmla="*/ 253915 w 1878763"/>
              <a:gd name="connsiteY125" fmla="*/ 1579360 h 1720299"/>
              <a:gd name="connsiteX126" fmla="*/ 253915 w 1878763"/>
              <a:gd name="connsiteY126" fmla="*/ 1606792 h 1720299"/>
              <a:gd name="connsiteX127" fmla="*/ 226483 w 1878763"/>
              <a:gd name="connsiteY127" fmla="*/ 1606792 h 1720299"/>
              <a:gd name="connsiteX128" fmla="*/ 114173 w 1878763"/>
              <a:gd name="connsiteY128" fmla="*/ 1579360 h 1720299"/>
              <a:gd name="connsiteX129" fmla="*/ 141605 w 1878763"/>
              <a:gd name="connsiteY129" fmla="*/ 1579360 h 1720299"/>
              <a:gd name="connsiteX130" fmla="*/ 141605 w 1878763"/>
              <a:gd name="connsiteY130" fmla="*/ 1606792 h 1720299"/>
              <a:gd name="connsiteX131" fmla="*/ 114173 w 1878763"/>
              <a:gd name="connsiteY131" fmla="*/ 1606792 h 1720299"/>
              <a:gd name="connsiteX132" fmla="*/ 0 w 1878763"/>
              <a:gd name="connsiteY132" fmla="*/ 1579360 h 1720299"/>
              <a:gd name="connsiteX133" fmla="*/ 27432 w 1878763"/>
              <a:gd name="connsiteY133" fmla="*/ 1579360 h 1720299"/>
              <a:gd name="connsiteX134" fmla="*/ 27432 w 1878763"/>
              <a:gd name="connsiteY134" fmla="*/ 1606792 h 1720299"/>
              <a:gd name="connsiteX135" fmla="*/ 0 w 1878763"/>
              <a:gd name="connsiteY135" fmla="*/ 1606792 h 1720299"/>
              <a:gd name="connsiteX136" fmla="*/ 1851331 w 1878763"/>
              <a:gd name="connsiteY136" fmla="*/ 1469030 h 1720299"/>
              <a:gd name="connsiteX137" fmla="*/ 1878763 w 1878763"/>
              <a:gd name="connsiteY137" fmla="*/ 1469030 h 1720299"/>
              <a:gd name="connsiteX138" fmla="*/ 1878763 w 1878763"/>
              <a:gd name="connsiteY138" fmla="*/ 1496462 h 1720299"/>
              <a:gd name="connsiteX139" fmla="*/ 1851331 w 1878763"/>
              <a:gd name="connsiteY139" fmla="*/ 1496462 h 1720299"/>
              <a:gd name="connsiteX140" fmla="*/ 1737031 w 1878763"/>
              <a:gd name="connsiteY140" fmla="*/ 1469030 h 1720299"/>
              <a:gd name="connsiteX141" fmla="*/ 1764463 w 1878763"/>
              <a:gd name="connsiteY141" fmla="*/ 1469030 h 1720299"/>
              <a:gd name="connsiteX142" fmla="*/ 1764463 w 1878763"/>
              <a:gd name="connsiteY142" fmla="*/ 1496462 h 1720299"/>
              <a:gd name="connsiteX143" fmla="*/ 1737031 w 1878763"/>
              <a:gd name="connsiteY143" fmla="*/ 1496462 h 1720299"/>
              <a:gd name="connsiteX144" fmla="*/ 1625112 w 1878763"/>
              <a:gd name="connsiteY144" fmla="*/ 1469030 h 1720299"/>
              <a:gd name="connsiteX145" fmla="*/ 1652544 w 1878763"/>
              <a:gd name="connsiteY145" fmla="*/ 1469030 h 1720299"/>
              <a:gd name="connsiteX146" fmla="*/ 1652544 w 1878763"/>
              <a:gd name="connsiteY146" fmla="*/ 1496462 h 1720299"/>
              <a:gd name="connsiteX147" fmla="*/ 1625112 w 1878763"/>
              <a:gd name="connsiteY147" fmla="*/ 1496462 h 1720299"/>
              <a:gd name="connsiteX148" fmla="*/ 1510812 w 1878763"/>
              <a:gd name="connsiteY148" fmla="*/ 1469030 h 1720299"/>
              <a:gd name="connsiteX149" fmla="*/ 1538244 w 1878763"/>
              <a:gd name="connsiteY149" fmla="*/ 1469030 h 1720299"/>
              <a:gd name="connsiteX150" fmla="*/ 1538244 w 1878763"/>
              <a:gd name="connsiteY150" fmla="*/ 1496462 h 1720299"/>
              <a:gd name="connsiteX151" fmla="*/ 1510812 w 1878763"/>
              <a:gd name="connsiteY151" fmla="*/ 1496462 h 1720299"/>
              <a:gd name="connsiteX152" fmla="*/ 1394702 w 1878763"/>
              <a:gd name="connsiteY152" fmla="*/ 1469030 h 1720299"/>
              <a:gd name="connsiteX153" fmla="*/ 1422134 w 1878763"/>
              <a:gd name="connsiteY153" fmla="*/ 1469030 h 1720299"/>
              <a:gd name="connsiteX154" fmla="*/ 1422134 w 1878763"/>
              <a:gd name="connsiteY154" fmla="*/ 1496462 h 1720299"/>
              <a:gd name="connsiteX155" fmla="*/ 1394702 w 1878763"/>
              <a:gd name="connsiteY155" fmla="*/ 1496462 h 1720299"/>
              <a:gd name="connsiteX156" fmla="*/ 1278592 w 1878763"/>
              <a:gd name="connsiteY156" fmla="*/ 1469030 h 1720299"/>
              <a:gd name="connsiteX157" fmla="*/ 1306024 w 1878763"/>
              <a:gd name="connsiteY157" fmla="*/ 1469030 h 1720299"/>
              <a:gd name="connsiteX158" fmla="*/ 1306024 w 1878763"/>
              <a:gd name="connsiteY158" fmla="*/ 1496462 h 1720299"/>
              <a:gd name="connsiteX159" fmla="*/ 1278592 w 1878763"/>
              <a:gd name="connsiteY159" fmla="*/ 1496462 h 1720299"/>
              <a:gd name="connsiteX160" fmla="*/ 1162482 w 1878763"/>
              <a:gd name="connsiteY160" fmla="*/ 1469030 h 1720299"/>
              <a:gd name="connsiteX161" fmla="*/ 1189914 w 1878763"/>
              <a:gd name="connsiteY161" fmla="*/ 1469030 h 1720299"/>
              <a:gd name="connsiteX162" fmla="*/ 1189914 w 1878763"/>
              <a:gd name="connsiteY162" fmla="*/ 1496462 h 1720299"/>
              <a:gd name="connsiteX163" fmla="*/ 1162482 w 1878763"/>
              <a:gd name="connsiteY163" fmla="*/ 1496462 h 1720299"/>
              <a:gd name="connsiteX164" fmla="*/ 1042307 w 1878763"/>
              <a:gd name="connsiteY164" fmla="*/ 1469030 h 1720299"/>
              <a:gd name="connsiteX165" fmla="*/ 1069739 w 1878763"/>
              <a:gd name="connsiteY165" fmla="*/ 1469030 h 1720299"/>
              <a:gd name="connsiteX166" fmla="*/ 1069739 w 1878763"/>
              <a:gd name="connsiteY166" fmla="*/ 1496462 h 1720299"/>
              <a:gd name="connsiteX167" fmla="*/ 1042307 w 1878763"/>
              <a:gd name="connsiteY167" fmla="*/ 1496462 h 1720299"/>
              <a:gd name="connsiteX168" fmla="*/ 926798 w 1878763"/>
              <a:gd name="connsiteY168" fmla="*/ 1469030 h 1720299"/>
              <a:gd name="connsiteX169" fmla="*/ 954230 w 1878763"/>
              <a:gd name="connsiteY169" fmla="*/ 1469030 h 1720299"/>
              <a:gd name="connsiteX170" fmla="*/ 954230 w 1878763"/>
              <a:gd name="connsiteY170" fmla="*/ 1496462 h 1720299"/>
              <a:gd name="connsiteX171" fmla="*/ 926798 w 1878763"/>
              <a:gd name="connsiteY171" fmla="*/ 1496462 h 1720299"/>
              <a:gd name="connsiteX172" fmla="*/ 812625 w 1878763"/>
              <a:gd name="connsiteY172" fmla="*/ 1469030 h 1720299"/>
              <a:gd name="connsiteX173" fmla="*/ 840057 w 1878763"/>
              <a:gd name="connsiteY173" fmla="*/ 1469030 h 1720299"/>
              <a:gd name="connsiteX174" fmla="*/ 840057 w 1878763"/>
              <a:gd name="connsiteY174" fmla="*/ 1496462 h 1720299"/>
              <a:gd name="connsiteX175" fmla="*/ 812625 w 1878763"/>
              <a:gd name="connsiteY175" fmla="*/ 1496462 h 1720299"/>
              <a:gd name="connsiteX176" fmla="*/ 692450 w 1878763"/>
              <a:gd name="connsiteY176" fmla="*/ 1469030 h 1720299"/>
              <a:gd name="connsiteX177" fmla="*/ 719882 w 1878763"/>
              <a:gd name="connsiteY177" fmla="*/ 1469030 h 1720299"/>
              <a:gd name="connsiteX178" fmla="*/ 719882 w 1878763"/>
              <a:gd name="connsiteY178" fmla="*/ 1496462 h 1720299"/>
              <a:gd name="connsiteX179" fmla="*/ 692450 w 1878763"/>
              <a:gd name="connsiteY179" fmla="*/ 1496462 h 1720299"/>
              <a:gd name="connsiteX180" fmla="*/ 576340 w 1878763"/>
              <a:gd name="connsiteY180" fmla="*/ 1469030 h 1720299"/>
              <a:gd name="connsiteX181" fmla="*/ 603772 w 1878763"/>
              <a:gd name="connsiteY181" fmla="*/ 1469030 h 1720299"/>
              <a:gd name="connsiteX182" fmla="*/ 603772 w 1878763"/>
              <a:gd name="connsiteY182" fmla="*/ 1496462 h 1720299"/>
              <a:gd name="connsiteX183" fmla="*/ 576340 w 1878763"/>
              <a:gd name="connsiteY183" fmla="*/ 1496462 h 1720299"/>
              <a:gd name="connsiteX184" fmla="*/ 456165 w 1878763"/>
              <a:gd name="connsiteY184" fmla="*/ 1469030 h 1720299"/>
              <a:gd name="connsiteX185" fmla="*/ 483597 w 1878763"/>
              <a:gd name="connsiteY185" fmla="*/ 1469030 h 1720299"/>
              <a:gd name="connsiteX186" fmla="*/ 483597 w 1878763"/>
              <a:gd name="connsiteY186" fmla="*/ 1496462 h 1720299"/>
              <a:gd name="connsiteX187" fmla="*/ 456165 w 1878763"/>
              <a:gd name="connsiteY187" fmla="*/ 1496462 h 1720299"/>
              <a:gd name="connsiteX188" fmla="*/ 340656 w 1878763"/>
              <a:gd name="connsiteY188" fmla="*/ 1469030 h 1720299"/>
              <a:gd name="connsiteX189" fmla="*/ 368088 w 1878763"/>
              <a:gd name="connsiteY189" fmla="*/ 1469030 h 1720299"/>
              <a:gd name="connsiteX190" fmla="*/ 368088 w 1878763"/>
              <a:gd name="connsiteY190" fmla="*/ 1496462 h 1720299"/>
              <a:gd name="connsiteX191" fmla="*/ 340656 w 1878763"/>
              <a:gd name="connsiteY191" fmla="*/ 1496462 h 1720299"/>
              <a:gd name="connsiteX192" fmla="*/ 226483 w 1878763"/>
              <a:gd name="connsiteY192" fmla="*/ 1469030 h 1720299"/>
              <a:gd name="connsiteX193" fmla="*/ 253915 w 1878763"/>
              <a:gd name="connsiteY193" fmla="*/ 1469030 h 1720299"/>
              <a:gd name="connsiteX194" fmla="*/ 253915 w 1878763"/>
              <a:gd name="connsiteY194" fmla="*/ 1496462 h 1720299"/>
              <a:gd name="connsiteX195" fmla="*/ 226483 w 1878763"/>
              <a:gd name="connsiteY195" fmla="*/ 1496462 h 1720299"/>
              <a:gd name="connsiteX196" fmla="*/ 114173 w 1878763"/>
              <a:gd name="connsiteY196" fmla="*/ 1469030 h 1720299"/>
              <a:gd name="connsiteX197" fmla="*/ 141605 w 1878763"/>
              <a:gd name="connsiteY197" fmla="*/ 1469030 h 1720299"/>
              <a:gd name="connsiteX198" fmla="*/ 141605 w 1878763"/>
              <a:gd name="connsiteY198" fmla="*/ 1496462 h 1720299"/>
              <a:gd name="connsiteX199" fmla="*/ 114173 w 1878763"/>
              <a:gd name="connsiteY199" fmla="*/ 1496462 h 1720299"/>
              <a:gd name="connsiteX200" fmla="*/ 0 w 1878763"/>
              <a:gd name="connsiteY200" fmla="*/ 1469030 h 1720299"/>
              <a:gd name="connsiteX201" fmla="*/ 27432 w 1878763"/>
              <a:gd name="connsiteY201" fmla="*/ 1469030 h 1720299"/>
              <a:gd name="connsiteX202" fmla="*/ 27432 w 1878763"/>
              <a:gd name="connsiteY202" fmla="*/ 1496462 h 1720299"/>
              <a:gd name="connsiteX203" fmla="*/ 0 w 1878763"/>
              <a:gd name="connsiteY203" fmla="*/ 1496462 h 1720299"/>
              <a:gd name="connsiteX204" fmla="*/ 1851331 w 1878763"/>
              <a:gd name="connsiteY204" fmla="*/ 1355523 h 1720299"/>
              <a:gd name="connsiteX205" fmla="*/ 1878763 w 1878763"/>
              <a:gd name="connsiteY205" fmla="*/ 1355523 h 1720299"/>
              <a:gd name="connsiteX206" fmla="*/ 1878763 w 1878763"/>
              <a:gd name="connsiteY206" fmla="*/ 1382955 h 1720299"/>
              <a:gd name="connsiteX207" fmla="*/ 1851331 w 1878763"/>
              <a:gd name="connsiteY207" fmla="*/ 1382955 h 1720299"/>
              <a:gd name="connsiteX208" fmla="*/ 1737031 w 1878763"/>
              <a:gd name="connsiteY208" fmla="*/ 1355523 h 1720299"/>
              <a:gd name="connsiteX209" fmla="*/ 1764463 w 1878763"/>
              <a:gd name="connsiteY209" fmla="*/ 1355523 h 1720299"/>
              <a:gd name="connsiteX210" fmla="*/ 1764463 w 1878763"/>
              <a:gd name="connsiteY210" fmla="*/ 1382955 h 1720299"/>
              <a:gd name="connsiteX211" fmla="*/ 1737031 w 1878763"/>
              <a:gd name="connsiteY211" fmla="*/ 1382955 h 1720299"/>
              <a:gd name="connsiteX212" fmla="*/ 1625112 w 1878763"/>
              <a:gd name="connsiteY212" fmla="*/ 1355523 h 1720299"/>
              <a:gd name="connsiteX213" fmla="*/ 1652544 w 1878763"/>
              <a:gd name="connsiteY213" fmla="*/ 1355523 h 1720299"/>
              <a:gd name="connsiteX214" fmla="*/ 1652544 w 1878763"/>
              <a:gd name="connsiteY214" fmla="*/ 1382955 h 1720299"/>
              <a:gd name="connsiteX215" fmla="*/ 1625112 w 1878763"/>
              <a:gd name="connsiteY215" fmla="*/ 1382955 h 1720299"/>
              <a:gd name="connsiteX216" fmla="*/ 1510812 w 1878763"/>
              <a:gd name="connsiteY216" fmla="*/ 1355523 h 1720299"/>
              <a:gd name="connsiteX217" fmla="*/ 1538244 w 1878763"/>
              <a:gd name="connsiteY217" fmla="*/ 1355523 h 1720299"/>
              <a:gd name="connsiteX218" fmla="*/ 1538244 w 1878763"/>
              <a:gd name="connsiteY218" fmla="*/ 1382955 h 1720299"/>
              <a:gd name="connsiteX219" fmla="*/ 1510812 w 1878763"/>
              <a:gd name="connsiteY219" fmla="*/ 1382955 h 1720299"/>
              <a:gd name="connsiteX220" fmla="*/ 1394702 w 1878763"/>
              <a:gd name="connsiteY220" fmla="*/ 1355523 h 1720299"/>
              <a:gd name="connsiteX221" fmla="*/ 1422134 w 1878763"/>
              <a:gd name="connsiteY221" fmla="*/ 1355523 h 1720299"/>
              <a:gd name="connsiteX222" fmla="*/ 1422134 w 1878763"/>
              <a:gd name="connsiteY222" fmla="*/ 1382955 h 1720299"/>
              <a:gd name="connsiteX223" fmla="*/ 1394702 w 1878763"/>
              <a:gd name="connsiteY223" fmla="*/ 1382955 h 1720299"/>
              <a:gd name="connsiteX224" fmla="*/ 1278592 w 1878763"/>
              <a:gd name="connsiteY224" fmla="*/ 1355523 h 1720299"/>
              <a:gd name="connsiteX225" fmla="*/ 1306024 w 1878763"/>
              <a:gd name="connsiteY225" fmla="*/ 1355523 h 1720299"/>
              <a:gd name="connsiteX226" fmla="*/ 1306024 w 1878763"/>
              <a:gd name="connsiteY226" fmla="*/ 1382955 h 1720299"/>
              <a:gd name="connsiteX227" fmla="*/ 1278592 w 1878763"/>
              <a:gd name="connsiteY227" fmla="*/ 1382955 h 1720299"/>
              <a:gd name="connsiteX228" fmla="*/ 1162482 w 1878763"/>
              <a:gd name="connsiteY228" fmla="*/ 1355523 h 1720299"/>
              <a:gd name="connsiteX229" fmla="*/ 1189914 w 1878763"/>
              <a:gd name="connsiteY229" fmla="*/ 1355523 h 1720299"/>
              <a:gd name="connsiteX230" fmla="*/ 1189914 w 1878763"/>
              <a:gd name="connsiteY230" fmla="*/ 1382955 h 1720299"/>
              <a:gd name="connsiteX231" fmla="*/ 1162482 w 1878763"/>
              <a:gd name="connsiteY231" fmla="*/ 1382955 h 1720299"/>
              <a:gd name="connsiteX232" fmla="*/ 1042307 w 1878763"/>
              <a:gd name="connsiteY232" fmla="*/ 1355523 h 1720299"/>
              <a:gd name="connsiteX233" fmla="*/ 1069739 w 1878763"/>
              <a:gd name="connsiteY233" fmla="*/ 1355523 h 1720299"/>
              <a:gd name="connsiteX234" fmla="*/ 1069739 w 1878763"/>
              <a:gd name="connsiteY234" fmla="*/ 1382955 h 1720299"/>
              <a:gd name="connsiteX235" fmla="*/ 1042307 w 1878763"/>
              <a:gd name="connsiteY235" fmla="*/ 1382955 h 1720299"/>
              <a:gd name="connsiteX236" fmla="*/ 926798 w 1878763"/>
              <a:gd name="connsiteY236" fmla="*/ 1355523 h 1720299"/>
              <a:gd name="connsiteX237" fmla="*/ 954230 w 1878763"/>
              <a:gd name="connsiteY237" fmla="*/ 1355523 h 1720299"/>
              <a:gd name="connsiteX238" fmla="*/ 954230 w 1878763"/>
              <a:gd name="connsiteY238" fmla="*/ 1382955 h 1720299"/>
              <a:gd name="connsiteX239" fmla="*/ 926798 w 1878763"/>
              <a:gd name="connsiteY239" fmla="*/ 1382955 h 1720299"/>
              <a:gd name="connsiteX240" fmla="*/ 812625 w 1878763"/>
              <a:gd name="connsiteY240" fmla="*/ 1355523 h 1720299"/>
              <a:gd name="connsiteX241" fmla="*/ 840057 w 1878763"/>
              <a:gd name="connsiteY241" fmla="*/ 1355523 h 1720299"/>
              <a:gd name="connsiteX242" fmla="*/ 840057 w 1878763"/>
              <a:gd name="connsiteY242" fmla="*/ 1382955 h 1720299"/>
              <a:gd name="connsiteX243" fmla="*/ 812625 w 1878763"/>
              <a:gd name="connsiteY243" fmla="*/ 1382955 h 1720299"/>
              <a:gd name="connsiteX244" fmla="*/ 692450 w 1878763"/>
              <a:gd name="connsiteY244" fmla="*/ 1355523 h 1720299"/>
              <a:gd name="connsiteX245" fmla="*/ 719882 w 1878763"/>
              <a:gd name="connsiteY245" fmla="*/ 1355523 h 1720299"/>
              <a:gd name="connsiteX246" fmla="*/ 719882 w 1878763"/>
              <a:gd name="connsiteY246" fmla="*/ 1382955 h 1720299"/>
              <a:gd name="connsiteX247" fmla="*/ 692450 w 1878763"/>
              <a:gd name="connsiteY247" fmla="*/ 1382955 h 1720299"/>
              <a:gd name="connsiteX248" fmla="*/ 576340 w 1878763"/>
              <a:gd name="connsiteY248" fmla="*/ 1355523 h 1720299"/>
              <a:gd name="connsiteX249" fmla="*/ 603772 w 1878763"/>
              <a:gd name="connsiteY249" fmla="*/ 1355523 h 1720299"/>
              <a:gd name="connsiteX250" fmla="*/ 603772 w 1878763"/>
              <a:gd name="connsiteY250" fmla="*/ 1382955 h 1720299"/>
              <a:gd name="connsiteX251" fmla="*/ 576340 w 1878763"/>
              <a:gd name="connsiteY251" fmla="*/ 1382955 h 1720299"/>
              <a:gd name="connsiteX252" fmla="*/ 456165 w 1878763"/>
              <a:gd name="connsiteY252" fmla="*/ 1355523 h 1720299"/>
              <a:gd name="connsiteX253" fmla="*/ 483597 w 1878763"/>
              <a:gd name="connsiteY253" fmla="*/ 1355523 h 1720299"/>
              <a:gd name="connsiteX254" fmla="*/ 483597 w 1878763"/>
              <a:gd name="connsiteY254" fmla="*/ 1382955 h 1720299"/>
              <a:gd name="connsiteX255" fmla="*/ 456165 w 1878763"/>
              <a:gd name="connsiteY255" fmla="*/ 1382955 h 1720299"/>
              <a:gd name="connsiteX256" fmla="*/ 340656 w 1878763"/>
              <a:gd name="connsiteY256" fmla="*/ 1355523 h 1720299"/>
              <a:gd name="connsiteX257" fmla="*/ 368088 w 1878763"/>
              <a:gd name="connsiteY257" fmla="*/ 1355523 h 1720299"/>
              <a:gd name="connsiteX258" fmla="*/ 368088 w 1878763"/>
              <a:gd name="connsiteY258" fmla="*/ 1382955 h 1720299"/>
              <a:gd name="connsiteX259" fmla="*/ 340656 w 1878763"/>
              <a:gd name="connsiteY259" fmla="*/ 1382955 h 1720299"/>
              <a:gd name="connsiteX260" fmla="*/ 226483 w 1878763"/>
              <a:gd name="connsiteY260" fmla="*/ 1355523 h 1720299"/>
              <a:gd name="connsiteX261" fmla="*/ 253915 w 1878763"/>
              <a:gd name="connsiteY261" fmla="*/ 1355523 h 1720299"/>
              <a:gd name="connsiteX262" fmla="*/ 253915 w 1878763"/>
              <a:gd name="connsiteY262" fmla="*/ 1382955 h 1720299"/>
              <a:gd name="connsiteX263" fmla="*/ 226483 w 1878763"/>
              <a:gd name="connsiteY263" fmla="*/ 1382955 h 1720299"/>
              <a:gd name="connsiteX264" fmla="*/ 114173 w 1878763"/>
              <a:gd name="connsiteY264" fmla="*/ 1355523 h 1720299"/>
              <a:gd name="connsiteX265" fmla="*/ 141605 w 1878763"/>
              <a:gd name="connsiteY265" fmla="*/ 1355523 h 1720299"/>
              <a:gd name="connsiteX266" fmla="*/ 141605 w 1878763"/>
              <a:gd name="connsiteY266" fmla="*/ 1382955 h 1720299"/>
              <a:gd name="connsiteX267" fmla="*/ 114173 w 1878763"/>
              <a:gd name="connsiteY267" fmla="*/ 1382955 h 1720299"/>
              <a:gd name="connsiteX268" fmla="*/ 0 w 1878763"/>
              <a:gd name="connsiteY268" fmla="*/ 1355523 h 1720299"/>
              <a:gd name="connsiteX269" fmla="*/ 27432 w 1878763"/>
              <a:gd name="connsiteY269" fmla="*/ 1355523 h 1720299"/>
              <a:gd name="connsiteX270" fmla="*/ 27432 w 1878763"/>
              <a:gd name="connsiteY270" fmla="*/ 1382955 h 1720299"/>
              <a:gd name="connsiteX271" fmla="*/ 0 w 1878763"/>
              <a:gd name="connsiteY271" fmla="*/ 1382955 h 1720299"/>
              <a:gd name="connsiteX272" fmla="*/ 1851331 w 1878763"/>
              <a:gd name="connsiteY272" fmla="*/ 1242220 h 1720299"/>
              <a:gd name="connsiteX273" fmla="*/ 1878763 w 1878763"/>
              <a:gd name="connsiteY273" fmla="*/ 1242220 h 1720299"/>
              <a:gd name="connsiteX274" fmla="*/ 1878763 w 1878763"/>
              <a:gd name="connsiteY274" fmla="*/ 1269652 h 1720299"/>
              <a:gd name="connsiteX275" fmla="*/ 1851331 w 1878763"/>
              <a:gd name="connsiteY275" fmla="*/ 1269652 h 1720299"/>
              <a:gd name="connsiteX276" fmla="*/ 1737031 w 1878763"/>
              <a:gd name="connsiteY276" fmla="*/ 1242220 h 1720299"/>
              <a:gd name="connsiteX277" fmla="*/ 1764463 w 1878763"/>
              <a:gd name="connsiteY277" fmla="*/ 1242220 h 1720299"/>
              <a:gd name="connsiteX278" fmla="*/ 1764463 w 1878763"/>
              <a:gd name="connsiteY278" fmla="*/ 1269652 h 1720299"/>
              <a:gd name="connsiteX279" fmla="*/ 1737031 w 1878763"/>
              <a:gd name="connsiteY279" fmla="*/ 1269652 h 1720299"/>
              <a:gd name="connsiteX280" fmla="*/ 1625112 w 1878763"/>
              <a:gd name="connsiteY280" fmla="*/ 1242220 h 1720299"/>
              <a:gd name="connsiteX281" fmla="*/ 1652544 w 1878763"/>
              <a:gd name="connsiteY281" fmla="*/ 1242220 h 1720299"/>
              <a:gd name="connsiteX282" fmla="*/ 1652544 w 1878763"/>
              <a:gd name="connsiteY282" fmla="*/ 1269652 h 1720299"/>
              <a:gd name="connsiteX283" fmla="*/ 1625112 w 1878763"/>
              <a:gd name="connsiteY283" fmla="*/ 1269652 h 1720299"/>
              <a:gd name="connsiteX284" fmla="*/ 1510812 w 1878763"/>
              <a:gd name="connsiteY284" fmla="*/ 1242220 h 1720299"/>
              <a:gd name="connsiteX285" fmla="*/ 1538244 w 1878763"/>
              <a:gd name="connsiteY285" fmla="*/ 1242220 h 1720299"/>
              <a:gd name="connsiteX286" fmla="*/ 1538244 w 1878763"/>
              <a:gd name="connsiteY286" fmla="*/ 1269652 h 1720299"/>
              <a:gd name="connsiteX287" fmla="*/ 1510812 w 1878763"/>
              <a:gd name="connsiteY287" fmla="*/ 1269652 h 1720299"/>
              <a:gd name="connsiteX288" fmla="*/ 1394702 w 1878763"/>
              <a:gd name="connsiteY288" fmla="*/ 1242220 h 1720299"/>
              <a:gd name="connsiteX289" fmla="*/ 1422134 w 1878763"/>
              <a:gd name="connsiteY289" fmla="*/ 1242220 h 1720299"/>
              <a:gd name="connsiteX290" fmla="*/ 1422134 w 1878763"/>
              <a:gd name="connsiteY290" fmla="*/ 1269652 h 1720299"/>
              <a:gd name="connsiteX291" fmla="*/ 1394702 w 1878763"/>
              <a:gd name="connsiteY291" fmla="*/ 1269652 h 1720299"/>
              <a:gd name="connsiteX292" fmla="*/ 1278592 w 1878763"/>
              <a:gd name="connsiteY292" fmla="*/ 1242220 h 1720299"/>
              <a:gd name="connsiteX293" fmla="*/ 1306024 w 1878763"/>
              <a:gd name="connsiteY293" fmla="*/ 1242220 h 1720299"/>
              <a:gd name="connsiteX294" fmla="*/ 1306024 w 1878763"/>
              <a:gd name="connsiteY294" fmla="*/ 1269652 h 1720299"/>
              <a:gd name="connsiteX295" fmla="*/ 1278592 w 1878763"/>
              <a:gd name="connsiteY295" fmla="*/ 1269652 h 1720299"/>
              <a:gd name="connsiteX296" fmla="*/ 1162482 w 1878763"/>
              <a:gd name="connsiteY296" fmla="*/ 1242220 h 1720299"/>
              <a:gd name="connsiteX297" fmla="*/ 1189914 w 1878763"/>
              <a:gd name="connsiteY297" fmla="*/ 1242220 h 1720299"/>
              <a:gd name="connsiteX298" fmla="*/ 1189914 w 1878763"/>
              <a:gd name="connsiteY298" fmla="*/ 1269652 h 1720299"/>
              <a:gd name="connsiteX299" fmla="*/ 1162482 w 1878763"/>
              <a:gd name="connsiteY299" fmla="*/ 1269652 h 1720299"/>
              <a:gd name="connsiteX300" fmla="*/ 1042307 w 1878763"/>
              <a:gd name="connsiteY300" fmla="*/ 1242220 h 1720299"/>
              <a:gd name="connsiteX301" fmla="*/ 1069739 w 1878763"/>
              <a:gd name="connsiteY301" fmla="*/ 1242220 h 1720299"/>
              <a:gd name="connsiteX302" fmla="*/ 1069739 w 1878763"/>
              <a:gd name="connsiteY302" fmla="*/ 1269652 h 1720299"/>
              <a:gd name="connsiteX303" fmla="*/ 1042307 w 1878763"/>
              <a:gd name="connsiteY303" fmla="*/ 1269652 h 1720299"/>
              <a:gd name="connsiteX304" fmla="*/ 926798 w 1878763"/>
              <a:gd name="connsiteY304" fmla="*/ 1242220 h 1720299"/>
              <a:gd name="connsiteX305" fmla="*/ 954230 w 1878763"/>
              <a:gd name="connsiteY305" fmla="*/ 1242220 h 1720299"/>
              <a:gd name="connsiteX306" fmla="*/ 954230 w 1878763"/>
              <a:gd name="connsiteY306" fmla="*/ 1269652 h 1720299"/>
              <a:gd name="connsiteX307" fmla="*/ 926798 w 1878763"/>
              <a:gd name="connsiteY307" fmla="*/ 1269652 h 1720299"/>
              <a:gd name="connsiteX308" fmla="*/ 812625 w 1878763"/>
              <a:gd name="connsiteY308" fmla="*/ 1242220 h 1720299"/>
              <a:gd name="connsiteX309" fmla="*/ 840057 w 1878763"/>
              <a:gd name="connsiteY309" fmla="*/ 1242220 h 1720299"/>
              <a:gd name="connsiteX310" fmla="*/ 840057 w 1878763"/>
              <a:gd name="connsiteY310" fmla="*/ 1269652 h 1720299"/>
              <a:gd name="connsiteX311" fmla="*/ 812625 w 1878763"/>
              <a:gd name="connsiteY311" fmla="*/ 1269652 h 1720299"/>
              <a:gd name="connsiteX312" fmla="*/ 692450 w 1878763"/>
              <a:gd name="connsiteY312" fmla="*/ 1242220 h 1720299"/>
              <a:gd name="connsiteX313" fmla="*/ 719882 w 1878763"/>
              <a:gd name="connsiteY313" fmla="*/ 1242220 h 1720299"/>
              <a:gd name="connsiteX314" fmla="*/ 719882 w 1878763"/>
              <a:gd name="connsiteY314" fmla="*/ 1269652 h 1720299"/>
              <a:gd name="connsiteX315" fmla="*/ 692450 w 1878763"/>
              <a:gd name="connsiteY315" fmla="*/ 1269652 h 1720299"/>
              <a:gd name="connsiteX316" fmla="*/ 576340 w 1878763"/>
              <a:gd name="connsiteY316" fmla="*/ 1242220 h 1720299"/>
              <a:gd name="connsiteX317" fmla="*/ 603772 w 1878763"/>
              <a:gd name="connsiteY317" fmla="*/ 1242220 h 1720299"/>
              <a:gd name="connsiteX318" fmla="*/ 603772 w 1878763"/>
              <a:gd name="connsiteY318" fmla="*/ 1269652 h 1720299"/>
              <a:gd name="connsiteX319" fmla="*/ 576340 w 1878763"/>
              <a:gd name="connsiteY319" fmla="*/ 1269652 h 1720299"/>
              <a:gd name="connsiteX320" fmla="*/ 456165 w 1878763"/>
              <a:gd name="connsiteY320" fmla="*/ 1242220 h 1720299"/>
              <a:gd name="connsiteX321" fmla="*/ 483597 w 1878763"/>
              <a:gd name="connsiteY321" fmla="*/ 1242220 h 1720299"/>
              <a:gd name="connsiteX322" fmla="*/ 483597 w 1878763"/>
              <a:gd name="connsiteY322" fmla="*/ 1269652 h 1720299"/>
              <a:gd name="connsiteX323" fmla="*/ 456165 w 1878763"/>
              <a:gd name="connsiteY323" fmla="*/ 1269652 h 1720299"/>
              <a:gd name="connsiteX324" fmla="*/ 340656 w 1878763"/>
              <a:gd name="connsiteY324" fmla="*/ 1242220 h 1720299"/>
              <a:gd name="connsiteX325" fmla="*/ 368088 w 1878763"/>
              <a:gd name="connsiteY325" fmla="*/ 1242220 h 1720299"/>
              <a:gd name="connsiteX326" fmla="*/ 368088 w 1878763"/>
              <a:gd name="connsiteY326" fmla="*/ 1269652 h 1720299"/>
              <a:gd name="connsiteX327" fmla="*/ 340656 w 1878763"/>
              <a:gd name="connsiteY327" fmla="*/ 1269652 h 1720299"/>
              <a:gd name="connsiteX328" fmla="*/ 226483 w 1878763"/>
              <a:gd name="connsiteY328" fmla="*/ 1242220 h 1720299"/>
              <a:gd name="connsiteX329" fmla="*/ 253915 w 1878763"/>
              <a:gd name="connsiteY329" fmla="*/ 1242220 h 1720299"/>
              <a:gd name="connsiteX330" fmla="*/ 253915 w 1878763"/>
              <a:gd name="connsiteY330" fmla="*/ 1269652 h 1720299"/>
              <a:gd name="connsiteX331" fmla="*/ 226483 w 1878763"/>
              <a:gd name="connsiteY331" fmla="*/ 1269652 h 1720299"/>
              <a:gd name="connsiteX332" fmla="*/ 114173 w 1878763"/>
              <a:gd name="connsiteY332" fmla="*/ 1242220 h 1720299"/>
              <a:gd name="connsiteX333" fmla="*/ 141605 w 1878763"/>
              <a:gd name="connsiteY333" fmla="*/ 1242220 h 1720299"/>
              <a:gd name="connsiteX334" fmla="*/ 141605 w 1878763"/>
              <a:gd name="connsiteY334" fmla="*/ 1269652 h 1720299"/>
              <a:gd name="connsiteX335" fmla="*/ 114173 w 1878763"/>
              <a:gd name="connsiteY335" fmla="*/ 1269652 h 1720299"/>
              <a:gd name="connsiteX336" fmla="*/ 0 w 1878763"/>
              <a:gd name="connsiteY336" fmla="*/ 1242220 h 1720299"/>
              <a:gd name="connsiteX337" fmla="*/ 27432 w 1878763"/>
              <a:gd name="connsiteY337" fmla="*/ 1242220 h 1720299"/>
              <a:gd name="connsiteX338" fmla="*/ 27432 w 1878763"/>
              <a:gd name="connsiteY338" fmla="*/ 1269652 h 1720299"/>
              <a:gd name="connsiteX339" fmla="*/ 0 w 1878763"/>
              <a:gd name="connsiteY339" fmla="*/ 1269652 h 1720299"/>
              <a:gd name="connsiteX340" fmla="*/ 1851331 w 1878763"/>
              <a:gd name="connsiteY340" fmla="*/ 1128713 h 1720299"/>
              <a:gd name="connsiteX341" fmla="*/ 1878763 w 1878763"/>
              <a:gd name="connsiteY341" fmla="*/ 1128713 h 1720299"/>
              <a:gd name="connsiteX342" fmla="*/ 1878763 w 1878763"/>
              <a:gd name="connsiteY342" fmla="*/ 1156145 h 1720299"/>
              <a:gd name="connsiteX343" fmla="*/ 1851331 w 1878763"/>
              <a:gd name="connsiteY343" fmla="*/ 1156145 h 1720299"/>
              <a:gd name="connsiteX344" fmla="*/ 1737031 w 1878763"/>
              <a:gd name="connsiteY344" fmla="*/ 1128713 h 1720299"/>
              <a:gd name="connsiteX345" fmla="*/ 1764463 w 1878763"/>
              <a:gd name="connsiteY345" fmla="*/ 1128713 h 1720299"/>
              <a:gd name="connsiteX346" fmla="*/ 1764463 w 1878763"/>
              <a:gd name="connsiteY346" fmla="*/ 1156145 h 1720299"/>
              <a:gd name="connsiteX347" fmla="*/ 1737031 w 1878763"/>
              <a:gd name="connsiteY347" fmla="*/ 1156145 h 1720299"/>
              <a:gd name="connsiteX348" fmla="*/ 1625112 w 1878763"/>
              <a:gd name="connsiteY348" fmla="*/ 1128713 h 1720299"/>
              <a:gd name="connsiteX349" fmla="*/ 1652544 w 1878763"/>
              <a:gd name="connsiteY349" fmla="*/ 1128713 h 1720299"/>
              <a:gd name="connsiteX350" fmla="*/ 1652544 w 1878763"/>
              <a:gd name="connsiteY350" fmla="*/ 1156145 h 1720299"/>
              <a:gd name="connsiteX351" fmla="*/ 1625112 w 1878763"/>
              <a:gd name="connsiteY351" fmla="*/ 1156145 h 1720299"/>
              <a:gd name="connsiteX352" fmla="*/ 1510812 w 1878763"/>
              <a:gd name="connsiteY352" fmla="*/ 1128713 h 1720299"/>
              <a:gd name="connsiteX353" fmla="*/ 1538244 w 1878763"/>
              <a:gd name="connsiteY353" fmla="*/ 1128713 h 1720299"/>
              <a:gd name="connsiteX354" fmla="*/ 1538244 w 1878763"/>
              <a:gd name="connsiteY354" fmla="*/ 1156145 h 1720299"/>
              <a:gd name="connsiteX355" fmla="*/ 1510812 w 1878763"/>
              <a:gd name="connsiteY355" fmla="*/ 1156145 h 1720299"/>
              <a:gd name="connsiteX356" fmla="*/ 1394702 w 1878763"/>
              <a:gd name="connsiteY356" fmla="*/ 1128713 h 1720299"/>
              <a:gd name="connsiteX357" fmla="*/ 1422134 w 1878763"/>
              <a:gd name="connsiteY357" fmla="*/ 1128713 h 1720299"/>
              <a:gd name="connsiteX358" fmla="*/ 1422134 w 1878763"/>
              <a:gd name="connsiteY358" fmla="*/ 1156145 h 1720299"/>
              <a:gd name="connsiteX359" fmla="*/ 1394702 w 1878763"/>
              <a:gd name="connsiteY359" fmla="*/ 1156145 h 1720299"/>
              <a:gd name="connsiteX360" fmla="*/ 1278592 w 1878763"/>
              <a:gd name="connsiteY360" fmla="*/ 1128713 h 1720299"/>
              <a:gd name="connsiteX361" fmla="*/ 1306024 w 1878763"/>
              <a:gd name="connsiteY361" fmla="*/ 1128713 h 1720299"/>
              <a:gd name="connsiteX362" fmla="*/ 1306024 w 1878763"/>
              <a:gd name="connsiteY362" fmla="*/ 1156145 h 1720299"/>
              <a:gd name="connsiteX363" fmla="*/ 1278592 w 1878763"/>
              <a:gd name="connsiteY363" fmla="*/ 1156145 h 1720299"/>
              <a:gd name="connsiteX364" fmla="*/ 1162482 w 1878763"/>
              <a:gd name="connsiteY364" fmla="*/ 1128713 h 1720299"/>
              <a:gd name="connsiteX365" fmla="*/ 1189914 w 1878763"/>
              <a:gd name="connsiteY365" fmla="*/ 1128713 h 1720299"/>
              <a:gd name="connsiteX366" fmla="*/ 1189914 w 1878763"/>
              <a:gd name="connsiteY366" fmla="*/ 1156145 h 1720299"/>
              <a:gd name="connsiteX367" fmla="*/ 1162482 w 1878763"/>
              <a:gd name="connsiteY367" fmla="*/ 1156145 h 1720299"/>
              <a:gd name="connsiteX368" fmla="*/ 1042307 w 1878763"/>
              <a:gd name="connsiteY368" fmla="*/ 1128713 h 1720299"/>
              <a:gd name="connsiteX369" fmla="*/ 1069739 w 1878763"/>
              <a:gd name="connsiteY369" fmla="*/ 1128713 h 1720299"/>
              <a:gd name="connsiteX370" fmla="*/ 1069739 w 1878763"/>
              <a:gd name="connsiteY370" fmla="*/ 1156145 h 1720299"/>
              <a:gd name="connsiteX371" fmla="*/ 1042307 w 1878763"/>
              <a:gd name="connsiteY371" fmla="*/ 1156145 h 1720299"/>
              <a:gd name="connsiteX372" fmla="*/ 926798 w 1878763"/>
              <a:gd name="connsiteY372" fmla="*/ 1128713 h 1720299"/>
              <a:gd name="connsiteX373" fmla="*/ 954230 w 1878763"/>
              <a:gd name="connsiteY373" fmla="*/ 1128713 h 1720299"/>
              <a:gd name="connsiteX374" fmla="*/ 954230 w 1878763"/>
              <a:gd name="connsiteY374" fmla="*/ 1156145 h 1720299"/>
              <a:gd name="connsiteX375" fmla="*/ 926798 w 1878763"/>
              <a:gd name="connsiteY375" fmla="*/ 1156145 h 1720299"/>
              <a:gd name="connsiteX376" fmla="*/ 812625 w 1878763"/>
              <a:gd name="connsiteY376" fmla="*/ 1128713 h 1720299"/>
              <a:gd name="connsiteX377" fmla="*/ 840057 w 1878763"/>
              <a:gd name="connsiteY377" fmla="*/ 1128713 h 1720299"/>
              <a:gd name="connsiteX378" fmla="*/ 840057 w 1878763"/>
              <a:gd name="connsiteY378" fmla="*/ 1156145 h 1720299"/>
              <a:gd name="connsiteX379" fmla="*/ 812625 w 1878763"/>
              <a:gd name="connsiteY379" fmla="*/ 1156145 h 1720299"/>
              <a:gd name="connsiteX380" fmla="*/ 692450 w 1878763"/>
              <a:gd name="connsiteY380" fmla="*/ 1128713 h 1720299"/>
              <a:gd name="connsiteX381" fmla="*/ 719882 w 1878763"/>
              <a:gd name="connsiteY381" fmla="*/ 1128713 h 1720299"/>
              <a:gd name="connsiteX382" fmla="*/ 719882 w 1878763"/>
              <a:gd name="connsiteY382" fmla="*/ 1156145 h 1720299"/>
              <a:gd name="connsiteX383" fmla="*/ 692450 w 1878763"/>
              <a:gd name="connsiteY383" fmla="*/ 1156145 h 1720299"/>
              <a:gd name="connsiteX384" fmla="*/ 576340 w 1878763"/>
              <a:gd name="connsiteY384" fmla="*/ 1128713 h 1720299"/>
              <a:gd name="connsiteX385" fmla="*/ 603772 w 1878763"/>
              <a:gd name="connsiteY385" fmla="*/ 1128713 h 1720299"/>
              <a:gd name="connsiteX386" fmla="*/ 603772 w 1878763"/>
              <a:gd name="connsiteY386" fmla="*/ 1156145 h 1720299"/>
              <a:gd name="connsiteX387" fmla="*/ 576340 w 1878763"/>
              <a:gd name="connsiteY387" fmla="*/ 1156145 h 1720299"/>
              <a:gd name="connsiteX388" fmla="*/ 456165 w 1878763"/>
              <a:gd name="connsiteY388" fmla="*/ 1128713 h 1720299"/>
              <a:gd name="connsiteX389" fmla="*/ 483597 w 1878763"/>
              <a:gd name="connsiteY389" fmla="*/ 1128713 h 1720299"/>
              <a:gd name="connsiteX390" fmla="*/ 483597 w 1878763"/>
              <a:gd name="connsiteY390" fmla="*/ 1156145 h 1720299"/>
              <a:gd name="connsiteX391" fmla="*/ 456165 w 1878763"/>
              <a:gd name="connsiteY391" fmla="*/ 1156145 h 1720299"/>
              <a:gd name="connsiteX392" fmla="*/ 340656 w 1878763"/>
              <a:gd name="connsiteY392" fmla="*/ 1128713 h 1720299"/>
              <a:gd name="connsiteX393" fmla="*/ 368088 w 1878763"/>
              <a:gd name="connsiteY393" fmla="*/ 1128713 h 1720299"/>
              <a:gd name="connsiteX394" fmla="*/ 368088 w 1878763"/>
              <a:gd name="connsiteY394" fmla="*/ 1156145 h 1720299"/>
              <a:gd name="connsiteX395" fmla="*/ 340656 w 1878763"/>
              <a:gd name="connsiteY395" fmla="*/ 1156145 h 1720299"/>
              <a:gd name="connsiteX396" fmla="*/ 226483 w 1878763"/>
              <a:gd name="connsiteY396" fmla="*/ 1128713 h 1720299"/>
              <a:gd name="connsiteX397" fmla="*/ 253915 w 1878763"/>
              <a:gd name="connsiteY397" fmla="*/ 1128713 h 1720299"/>
              <a:gd name="connsiteX398" fmla="*/ 253915 w 1878763"/>
              <a:gd name="connsiteY398" fmla="*/ 1156145 h 1720299"/>
              <a:gd name="connsiteX399" fmla="*/ 226483 w 1878763"/>
              <a:gd name="connsiteY399" fmla="*/ 1156145 h 1720299"/>
              <a:gd name="connsiteX400" fmla="*/ 114173 w 1878763"/>
              <a:gd name="connsiteY400" fmla="*/ 1128713 h 1720299"/>
              <a:gd name="connsiteX401" fmla="*/ 141605 w 1878763"/>
              <a:gd name="connsiteY401" fmla="*/ 1128713 h 1720299"/>
              <a:gd name="connsiteX402" fmla="*/ 141605 w 1878763"/>
              <a:gd name="connsiteY402" fmla="*/ 1156145 h 1720299"/>
              <a:gd name="connsiteX403" fmla="*/ 114173 w 1878763"/>
              <a:gd name="connsiteY403" fmla="*/ 1156145 h 1720299"/>
              <a:gd name="connsiteX404" fmla="*/ 0 w 1878763"/>
              <a:gd name="connsiteY404" fmla="*/ 1128713 h 1720299"/>
              <a:gd name="connsiteX405" fmla="*/ 27432 w 1878763"/>
              <a:gd name="connsiteY405" fmla="*/ 1128713 h 1720299"/>
              <a:gd name="connsiteX406" fmla="*/ 27432 w 1878763"/>
              <a:gd name="connsiteY406" fmla="*/ 1156145 h 1720299"/>
              <a:gd name="connsiteX407" fmla="*/ 0 w 1878763"/>
              <a:gd name="connsiteY407" fmla="*/ 1156145 h 1720299"/>
              <a:gd name="connsiteX408" fmla="*/ 1851331 w 1878763"/>
              <a:gd name="connsiteY408" fmla="*/ 1018383 h 1720299"/>
              <a:gd name="connsiteX409" fmla="*/ 1878763 w 1878763"/>
              <a:gd name="connsiteY409" fmla="*/ 1018383 h 1720299"/>
              <a:gd name="connsiteX410" fmla="*/ 1878763 w 1878763"/>
              <a:gd name="connsiteY410" fmla="*/ 1045815 h 1720299"/>
              <a:gd name="connsiteX411" fmla="*/ 1851331 w 1878763"/>
              <a:gd name="connsiteY411" fmla="*/ 1045815 h 1720299"/>
              <a:gd name="connsiteX412" fmla="*/ 1737031 w 1878763"/>
              <a:gd name="connsiteY412" fmla="*/ 1018383 h 1720299"/>
              <a:gd name="connsiteX413" fmla="*/ 1764463 w 1878763"/>
              <a:gd name="connsiteY413" fmla="*/ 1018383 h 1720299"/>
              <a:gd name="connsiteX414" fmla="*/ 1764463 w 1878763"/>
              <a:gd name="connsiteY414" fmla="*/ 1045815 h 1720299"/>
              <a:gd name="connsiteX415" fmla="*/ 1737031 w 1878763"/>
              <a:gd name="connsiteY415" fmla="*/ 1045815 h 1720299"/>
              <a:gd name="connsiteX416" fmla="*/ 1625112 w 1878763"/>
              <a:gd name="connsiteY416" fmla="*/ 1018383 h 1720299"/>
              <a:gd name="connsiteX417" fmla="*/ 1652544 w 1878763"/>
              <a:gd name="connsiteY417" fmla="*/ 1018383 h 1720299"/>
              <a:gd name="connsiteX418" fmla="*/ 1652544 w 1878763"/>
              <a:gd name="connsiteY418" fmla="*/ 1045815 h 1720299"/>
              <a:gd name="connsiteX419" fmla="*/ 1625112 w 1878763"/>
              <a:gd name="connsiteY419" fmla="*/ 1045815 h 1720299"/>
              <a:gd name="connsiteX420" fmla="*/ 1510812 w 1878763"/>
              <a:gd name="connsiteY420" fmla="*/ 1018383 h 1720299"/>
              <a:gd name="connsiteX421" fmla="*/ 1538244 w 1878763"/>
              <a:gd name="connsiteY421" fmla="*/ 1018383 h 1720299"/>
              <a:gd name="connsiteX422" fmla="*/ 1538244 w 1878763"/>
              <a:gd name="connsiteY422" fmla="*/ 1045815 h 1720299"/>
              <a:gd name="connsiteX423" fmla="*/ 1510812 w 1878763"/>
              <a:gd name="connsiteY423" fmla="*/ 1045815 h 1720299"/>
              <a:gd name="connsiteX424" fmla="*/ 1394702 w 1878763"/>
              <a:gd name="connsiteY424" fmla="*/ 1018383 h 1720299"/>
              <a:gd name="connsiteX425" fmla="*/ 1422134 w 1878763"/>
              <a:gd name="connsiteY425" fmla="*/ 1018383 h 1720299"/>
              <a:gd name="connsiteX426" fmla="*/ 1422134 w 1878763"/>
              <a:gd name="connsiteY426" fmla="*/ 1045815 h 1720299"/>
              <a:gd name="connsiteX427" fmla="*/ 1394702 w 1878763"/>
              <a:gd name="connsiteY427" fmla="*/ 1045815 h 1720299"/>
              <a:gd name="connsiteX428" fmla="*/ 1278592 w 1878763"/>
              <a:gd name="connsiteY428" fmla="*/ 1018383 h 1720299"/>
              <a:gd name="connsiteX429" fmla="*/ 1306024 w 1878763"/>
              <a:gd name="connsiteY429" fmla="*/ 1018383 h 1720299"/>
              <a:gd name="connsiteX430" fmla="*/ 1306024 w 1878763"/>
              <a:gd name="connsiteY430" fmla="*/ 1045815 h 1720299"/>
              <a:gd name="connsiteX431" fmla="*/ 1278592 w 1878763"/>
              <a:gd name="connsiteY431" fmla="*/ 1045815 h 1720299"/>
              <a:gd name="connsiteX432" fmla="*/ 1162482 w 1878763"/>
              <a:gd name="connsiteY432" fmla="*/ 1018383 h 1720299"/>
              <a:gd name="connsiteX433" fmla="*/ 1189914 w 1878763"/>
              <a:gd name="connsiteY433" fmla="*/ 1018383 h 1720299"/>
              <a:gd name="connsiteX434" fmla="*/ 1189914 w 1878763"/>
              <a:gd name="connsiteY434" fmla="*/ 1045815 h 1720299"/>
              <a:gd name="connsiteX435" fmla="*/ 1162482 w 1878763"/>
              <a:gd name="connsiteY435" fmla="*/ 1045815 h 1720299"/>
              <a:gd name="connsiteX436" fmla="*/ 1042307 w 1878763"/>
              <a:gd name="connsiteY436" fmla="*/ 1018383 h 1720299"/>
              <a:gd name="connsiteX437" fmla="*/ 1069739 w 1878763"/>
              <a:gd name="connsiteY437" fmla="*/ 1018383 h 1720299"/>
              <a:gd name="connsiteX438" fmla="*/ 1069739 w 1878763"/>
              <a:gd name="connsiteY438" fmla="*/ 1045815 h 1720299"/>
              <a:gd name="connsiteX439" fmla="*/ 1042307 w 1878763"/>
              <a:gd name="connsiteY439" fmla="*/ 1045815 h 1720299"/>
              <a:gd name="connsiteX440" fmla="*/ 926798 w 1878763"/>
              <a:gd name="connsiteY440" fmla="*/ 1018383 h 1720299"/>
              <a:gd name="connsiteX441" fmla="*/ 954230 w 1878763"/>
              <a:gd name="connsiteY441" fmla="*/ 1018383 h 1720299"/>
              <a:gd name="connsiteX442" fmla="*/ 954230 w 1878763"/>
              <a:gd name="connsiteY442" fmla="*/ 1045815 h 1720299"/>
              <a:gd name="connsiteX443" fmla="*/ 926798 w 1878763"/>
              <a:gd name="connsiteY443" fmla="*/ 1045815 h 1720299"/>
              <a:gd name="connsiteX444" fmla="*/ 812625 w 1878763"/>
              <a:gd name="connsiteY444" fmla="*/ 1018383 h 1720299"/>
              <a:gd name="connsiteX445" fmla="*/ 840057 w 1878763"/>
              <a:gd name="connsiteY445" fmla="*/ 1018383 h 1720299"/>
              <a:gd name="connsiteX446" fmla="*/ 840057 w 1878763"/>
              <a:gd name="connsiteY446" fmla="*/ 1045815 h 1720299"/>
              <a:gd name="connsiteX447" fmla="*/ 812625 w 1878763"/>
              <a:gd name="connsiteY447" fmla="*/ 1045815 h 1720299"/>
              <a:gd name="connsiteX448" fmla="*/ 692450 w 1878763"/>
              <a:gd name="connsiteY448" fmla="*/ 1018383 h 1720299"/>
              <a:gd name="connsiteX449" fmla="*/ 719882 w 1878763"/>
              <a:gd name="connsiteY449" fmla="*/ 1018383 h 1720299"/>
              <a:gd name="connsiteX450" fmla="*/ 719882 w 1878763"/>
              <a:gd name="connsiteY450" fmla="*/ 1045815 h 1720299"/>
              <a:gd name="connsiteX451" fmla="*/ 692450 w 1878763"/>
              <a:gd name="connsiteY451" fmla="*/ 1045815 h 1720299"/>
              <a:gd name="connsiteX452" fmla="*/ 576340 w 1878763"/>
              <a:gd name="connsiteY452" fmla="*/ 1018383 h 1720299"/>
              <a:gd name="connsiteX453" fmla="*/ 603772 w 1878763"/>
              <a:gd name="connsiteY453" fmla="*/ 1018383 h 1720299"/>
              <a:gd name="connsiteX454" fmla="*/ 603772 w 1878763"/>
              <a:gd name="connsiteY454" fmla="*/ 1045815 h 1720299"/>
              <a:gd name="connsiteX455" fmla="*/ 576340 w 1878763"/>
              <a:gd name="connsiteY455" fmla="*/ 1045815 h 1720299"/>
              <a:gd name="connsiteX456" fmla="*/ 456165 w 1878763"/>
              <a:gd name="connsiteY456" fmla="*/ 1018383 h 1720299"/>
              <a:gd name="connsiteX457" fmla="*/ 483597 w 1878763"/>
              <a:gd name="connsiteY457" fmla="*/ 1018383 h 1720299"/>
              <a:gd name="connsiteX458" fmla="*/ 483597 w 1878763"/>
              <a:gd name="connsiteY458" fmla="*/ 1045815 h 1720299"/>
              <a:gd name="connsiteX459" fmla="*/ 456165 w 1878763"/>
              <a:gd name="connsiteY459" fmla="*/ 1045815 h 1720299"/>
              <a:gd name="connsiteX460" fmla="*/ 340656 w 1878763"/>
              <a:gd name="connsiteY460" fmla="*/ 1018383 h 1720299"/>
              <a:gd name="connsiteX461" fmla="*/ 368088 w 1878763"/>
              <a:gd name="connsiteY461" fmla="*/ 1018383 h 1720299"/>
              <a:gd name="connsiteX462" fmla="*/ 368088 w 1878763"/>
              <a:gd name="connsiteY462" fmla="*/ 1045815 h 1720299"/>
              <a:gd name="connsiteX463" fmla="*/ 340656 w 1878763"/>
              <a:gd name="connsiteY463" fmla="*/ 1045815 h 1720299"/>
              <a:gd name="connsiteX464" fmla="*/ 226483 w 1878763"/>
              <a:gd name="connsiteY464" fmla="*/ 1018383 h 1720299"/>
              <a:gd name="connsiteX465" fmla="*/ 253915 w 1878763"/>
              <a:gd name="connsiteY465" fmla="*/ 1018383 h 1720299"/>
              <a:gd name="connsiteX466" fmla="*/ 253915 w 1878763"/>
              <a:gd name="connsiteY466" fmla="*/ 1045815 h 1720299"/>
              <a:gd name="connsiteX467" fmla="*/ 226483 w 1878763"/>
              <a:gd name="connsiteY467" fmla="*/ 1045815 h 1720299"/>
              <a:gd name="connsiteX468" fmla="*/ 114173 w 1878763"/>
              <a:gd name="connsiteY468" fmla="*/ 1018383 h 1720299"/>
              <a:gd name="connsiteX469" fmla="*/ 141605 w 1878763"/>
              <a:gd name="connsiteY469" fmla="*/ 1018383 h 1720299"/>
              <a:gd name="connsiteX470" fmla="*/ 141605 w 1878763"/>
              <a:gd name="connsiteY470" fmla="*/ 1045815 h 1720299"/>
              <a:gd name="connsiteX471" fmla="*/ 114173 w 1878763"/>
              <a:gd name="connsiteY471" fmla="*/ 1045815 h 1720299"/>
              <a:gd name="connsiteX472" fmla="*/ 0 w 1878763"/>
              <a:gd name="connsiteY472" fmla="*/ 1018383 h 1720299"/>
              <a:gd name="connsiteX473" fmla="*/ 27432 w 1878763"/>
              <a:gd name="connsiteY473" fmla="*/ 1018383 h 1720299"/>
              <a:gd name="connsiteX474" fmla="*/ 27432 w 1878763"/>
              <a:gd name="connsiteY474" fmla="*/ 1045815 h 1720299"/>
              <a:gd name="connsiteX475" fmla="*/ 0 w 1878763"/>
              <a:gd name="connsiteY475" fmla="*/ 1045815 h 1720299"/>
              <a:gd name="connsiteX476" fmla="*/ 1851331 w 1878763"/>
              <a:gd name="connsiteY476" fmla="*/ 904876 h 1720299"/>
              <a:gd name="connsiteX477" fmla="*/ 1878763 w 1878763"/>
              <a:gd name="connsiteY477" fmla="*/ 904876 h 1720299"/>
              <a:gd name="connsiteX478" fmla="*/ 1878763 w 1878763"/>
              <a:gd name="connsiteY478" fmla="*/ 932308 h 1720299"/>
              <a:gd name="connsiteX479" fmla="*/ 1851331 w 1878763"/>
              <a:gd name="connsiteY479" fmla="*/ 932308 h 1720299"/>
              <a:gd name="connsiteX480" fmla="*/ 1737031 w 1878763"/>
              <a:gd name="connsiteY480" fmla="*/ 904876 h 1720299"/>
              <a:gd name="connsiteX481" fmla="*/ 1764463 w 1878763"/>
              <a:gd name="connsiteY481" fmla="*/ 904876 h 1720299"/>
              <a:gd name="connsiteX482" fmla="*/ 1764463 w 1878763"/>
              <a:gd name="connsiteY482" fmla="*/ 932308 h 1720299"/>
              <a:gd name="connsiteX483" fmla="*/ 1737031 w 1878763"/>
              <a:gd name="connsiteY483" fmla="*/ 932308 h 1720299"/>
              <a:gd name="connsiteX484" fmla="*/ 1625112 w 1878763"/>
              <a:gd name="connsiteY484" fmla="*/ 904876 h 1720299"/>
              <a:gd name="connsiteX485" fmla="*/ 1652544 w 1878763"/>
              <a:gd name="connsiteY485" fmla="*/ 904876 h 1720299"/>
              <a:gd name="connsiteX486" fmla="*/ 1652544 w 1878763"/>
              <a:gd name="connsiteY486" fmla="*/ 932308 h 1720299"/>
              <a:gd name="connsiteX487" fmla="*/ 1625112 w 1878763"/>
              <a:gd name="connsiteY487" fmla="*/ 932308 h 1720299"/>
              <a:gd name="connsiteX488" fmla="*/ 1510812 w 1878763"/>
              <a:gd name="connsiteY488" fmla="*/ 904876 h 1720299"/>
              <a:gd name="connsiteX489" fmla="*/ 1538244 w 1878763"/>
              <a:gd name="connsiteY489" fmla="*/ 904876 h 1720299"/>
              <a:gd name="connsiteX490" fmla="*/ 1538244 w 1878763"/>
              <a:gd name="connsiteY490" fmla="*/ 932308 h 1720299"/>
              <a:gd name="connsiteX491" fmla="*/ 1510812 w 1878763"/>
              <a:gd name="connsiteY491" fmla="*/ 932308 h 1720299"/>
              <a:gd name="connsiteX492" fmla="*/ 1394702 w 1878763"/>
              <a:gd name="connsiteY492" fmla="*/ 904876 h 1720299"/>
              <a:gd name="connsiteX493" fmla="*/ 1422134 w 1878763"/>
              <a:gd name="connsiteY493" fmla="*/ 904876 h 1720299"/>
              <a:gd name="connsiteX494" fmla="*/ 1422134 w 1878763"/>
              <a:gd name="connsiteY494" fmla="*/ 932308 h 1720299"/>
              <a:gd name="connsiteX495" fmla="*/ 1394702 w 1878763"/>
              <a:gd name="connsiteY495" fmla="*/ 932308 h 1720299"/>
              <a:gd name="connsiteX496" fmla="*/ 1278592 w 1878763"/>
              <a:gd name="connsiteY496" fmla="*/ 904876 h 1720299"/>
              <a:gd name="connsiteX497" fmla="*/ 1306024 w 1878763"/>
              <a:gd name="connsiteY497" fmla="*/ 904876 h 1720299"/>
              <a:gd name="connsiteX498" fmla="*/ 1306024 w 1878763"/>
              <a:gd name="connsiteY498" fmla="*/ 932308 h 1720299"/>
              <a:gd name="connsiteX499" fmla="*/ 1278592 w 1878763"/>
              <a:gd name="connsiteY499" fmla="*/ 932308 h 1720299"/>
              <a:gd name="connsiteX500" fmla="*/ 1162482 w 1878763"/>
              <a:gd name="connsiteY500" fmla="*/ 904876 h 1720299"/>
              <a:gd name="connsiteX501" fmla="*/ 1189914 w 1878763"/>
              <a:gd name="connsiteY501" fmla="*/ 904876 h 1720299"/>
              <a:gd name="connsiteX502" fmla="*/ 1189914 w 1878763"/>
              <a:gd name="connsiteY502" fmla="*/ 932308 h 1720299"/>
              <a:gd name="connsiteX503" fmla="*/ 1162482 w 1878763"/>
              <a:gd name="connsiteY503" fmla="*/ 932308 h 1720299"/>
              <a:gd name="connsiteX504" fmla="*/ 1042307 w 1878763"/>
              <a:gd name="connsiteY504" fmla="*/ 904876 h 1720299"/>
              <a:gd name="connsiteX505" fmla="*/ 1069739 w 1878763"/>
              <a:gd name="connsiteY505" fmla="*/ 904876 h 1720299"/>
              <a:gd name="connsiteX506" fmla="*/ 1069739 w 1878763"/>
              <a:gd name="connsiteY506" fmla="*/ 932308 h 1720299"/>
              <a:gd name="connsiteX507" fmla="*/ 1042307 w 1878763"/>
              <a:gd name="connsiteY507" fmla="*/ 932308 h 1720299"/>
              <a:gd name="connsiteX508" fmla="*/ 926798 w 1878763"/>
              <a:gd name="connsiteY508" fmla="*/ 904876 h 1720299"/>
              <a:gd name="connsiteX509" fmla="*/ 954230 w 1878763"/>
              <a:gd name="connsiteY509" fmla="*/ 904876 h 1720299"/>
              <a:gd name="connsiteX510" fmla="*/ 954230 w 1878763"/>
              <a:gd name="connsiteY510" fmla="*/ 932308 h 1720299"/>
              <a:gd name="connsiteX511" fmla="*/ 926798 w 1878763"/>
              <a:gd name="connsiteY511" fmla="*/ 932308 h 1720299"/>
              <a:gd name="connsiteX512" fmla="*/ 812625 w 1878763"/>
              <a:gd name="connsiteY512" fmla="*/ 904876 h 1720299"/>
              <a:gd name="connsiteX513" fmla="*/ 840057 w 1878763"/>
              <a:gd name="connsiteY513" fmla="*/ 904876 h 1720299"/>
              <a:gd name="connsiteX514" fmla="*/ 840057 w 1878763"/>
              <a:gd name="connsiteY514" fmla="*/ 932308 h 1720299"/>
              <a:gd name="connsiteX515" fmla="*/ 812625 w 1878763"/>
              <a:gd name="connsiteY515" fmla="*/ 932308 h 1720299"/>
              <a:gd name="connsiteX516" fmla="*/ 692450 w 1878763"/>
              <a:gd name="connsiteY516" fmla="*/ 904876 h 1720299"/>
              <a:gd name="connsiteX517" fmla="*/ 719882 w 1878763"/>
              <a:gd name="connsiteY517" fmla="*/ 904876 h 1720299"/>
              <a:gd name="connsiteX518" fmla="*/ 719882 w 1878763"/>
              <a:gd name="connsiteY518" fmla="*/ 932308 h 1720299"/>
              <a:gd name="connsiteX519" fmla="*/ 692450 w 1878763"/>
              <a:gd name="connsiteY519" fmla="*/ 932308 h 1720299"/>
              <a:gd name="connsiteX520" fmla="*/ 576340 w 1878763"/>
              <a:gd name="connsiteY520" fmla="*/ 904876 h 1720299"/>
              <a:gd name="connsiteX521" fmla="*/ 603772 w 1878763"/>
              <a:gd name="connsiteY521" fmla="*/ 904876 h 1720299"/>
              <a:gd name="connsiteX522" fmla="*/ 603772 w 1878763"/>
              <a:gd name="connsiteY522" fmla="*/ 932308 h 1720299"/>
              <a:gd name="connsiteX523" fmla="*/ 576340 w 1878763"/>
              <a:gd name="connsiteY523" fmla="*/ 932308 h 1720299"/>
              <a:gd name="connsiteX524" fmla="*/ 456165 w 1878763"/>
              <a:gd name="connsiteY524" fmla="*/ 904876 h 1720299"/>
              <a:gd name="connsiteX525" fmla="*/ 483597 w 1878763"/>
              <a:gd name="connsiteY525" fmla="*/ 904876 h 1720299"/>
              <a:gd name="connsiteX526" fmla="*/ 483597 w 1878763"/>
              <a:gd name="connsiteY526" fmla="*/ 932308 h 1720299"/>
              <a:gd name="connsiteX527" fmla="*/ 456165 w 1878763"/>
              <a:gd name="connsiteY527" fmla="*/ 932308 h 1720299"/>
              <a:gd name="connsiteX528" fmla="*/ 340656 w 1878763"/>
              <a:gd name="connsiteY528" fmla="*/ 904876 h 1720299"/>
              <a:gd name="connsiteX529" fmla="*/ 368088 w 1878763"/>
              <a:gd name="connsiteY529" fmla="*/ 904876 h 1720299"/>
              <a:gd name="connsiteX530" fmla="*/ 368088 w 1878763"/>
              <a:gd name="connsiteY530" fmla="*/ 932308 h 1720299"/>
              <a:gd name="connsiteX531" fmla="*/ 340656 w 1878763"/>
              <a:gd name="connsiteY531" fmla="*/ 932308 h 1720299"/>
              <a:gd name="connsiteX532" fmla="*/ 226483 w 1878763"/>
              <a:gd name="connsiteY532" fmla="*/ 904876 h 1720299"/>
              <a:gd name="connsiteX533" fmla="*/ 253915 w 1878763"/>
              <a:gd name="connsiteY533" fmla="*/ 904876 h 1720299"/>
              <a:gd name="connsiteX534" fmla="*/ 253915 w 1878763"/>
              <a:gd name="connsiteY534" fmla="*/ 932308 h 1720299"/>
              <a:gd name="connsiteX535" fmla="*/ 226483 w 1878763"/>
              <a:gd name="connsiteY535" fmla="*/ 932308 h 1720299"/>
              <a:gd name="connsiteX536" fmla="*/ 114173 w 1878763"/>
              <a:gd name="connsiteY536" fmla="*/ 904876 h 1720299"/>
              <a:gd name="connsiteX537" fmla="*/ 141605 w 1878763"/>
              <a:gd name="connsiteY537" fmla="*/ 904876 h 1720299"/>
              <a:gd name="connsiteX538" fmla="*/ 141605 w 1878763"/>
              <a:gd name="connsiteY538" fmla="*/ 932308 h 1720299"/>
              <a:gd name="connsiteX539" fmla="*/ 114173 w 1878763"/>
              <a:gd name="connsiteY539" fmla="*/ 932308 h 1720299"/>
              <a:gd name="connsiteX540" fmla="*/ 0 w 1878763"/>
              <a:gd name="connsiteY540" fmla="*/ 904876 h 1720299"/>
              <a:gd name="connsiteX541" fmla="*/ 27432 w 1878763"/>
              <a:gd name="connsiteY541" fmla="*/ 904876 h 1720299"/>
              <a:gd name="connsiteX542" fmla="*/ 27432 w 1878763"/>
              <a:gd name="connsiteY542" fmla="*/ 932308 h 1720299"/>
              <a:gd name="connsiteX543" fmla="*/ 0 w 1878763"/>
              <a:gd name="connsiteY543" fmla="*/ 932308 h 1720299"/>
              <a:gd name="connsiteX544" fmla="*/ 1851331 w 1878763"/>
              <a:gd name="connsiteY544" fmla="*/ 789782 h 1720299"/>
              <a:gd name="connsiteX545" fmla="*/ 1878763 w 1878763"/>
              <a:gd name="connsiteY545" fmla="*/ 789782 h 1720299"/>
              <a:gd name="connsiteX546" fmla="*/ 1878763 w 1878763"/>
              <a:gd name="connsiteY546" fmla="*/ 817214 h 1720299"/>
              <a:gd name="connsiteX547" fmla="*/ 1851331 w 1878763"/>
              <a:gd name="connsiteY547" fmla="*/ 817214 h 1720299"/>
              <a:gd name="connsiteX548" fmla="*/ 1737031 w 1878763"/>
              <a:gd name="connsiteY548" fmla="*/ 789782 h 1720299"/>
              <a:gd name="connsiteX549" fmla="*/ 1764463 w 1878763"/>
              <a:gd name="connsiteY549" fmla="*/ 789782 h 1720299"/>
              <a:gd name="connsiteX550" fmla="*/ 1764463 w 1878763"/>
              <a:gd name="connsiteY550" fmla="*/ 817214 h 1720299"/>
              <a:gd name="connsiteX551" fmla="*/ 1737031 w 1878763"/>
              <a:gd name="connsiteY551" fmla="*/ 817214 h 1720299"/>
              <a:gd name="connsiteX552" fmla="*/ 1625112 w 1878763"/>
              <a:gd name="connsiteY552" fmla="*/ 789782 h 1720299"/>
              <a:gd name="connsiteX553" fmla="*/ 1652544 w 1878763"/>
              <a:gd name="connsiteY553" fmla="*/ 789782 h 1720299"/>
              <a:gd name="connsiteX554" fmla="*/ 1652544 w 1878763"/>
              <a:gd name="connsiteY554" fmla="*/ 817214 h 1720299"/>
              <a:gd name="connsiteX555" fmla="*/ 1625112 w 1878763"/>
              <a:gd name="connsiteY555" fmla="*/ 817214 h 1720299"/>
              <a:gd name="connsiteX556" fmla="*/ 1510812 w 1878763"/>
              <a:gd name="connsiteY556" fmla="*/ 789782 h 1720299"/>
              <a:gd name="connsiteX557" fmla="*/ 1538244 w 1878763"/>
              <a:gd name="connsiteY557" fmla="*/ 789782 h 1720299"/>
              <a:gd name="connsiteX558" fmla="*/ 1538244 w 1878763"/>
              <a:gd name="connsiteY558" fmla="*/ 817214 h 1720299"/>
              <a:gd name="connsiteX559" fmla="*/ 1510812 w 1878763"/>
              <a:gd name="connsiteY559" fmla="*/ 817214 h 1720299"/>
              <a:gd name="connsiteX560" fmla="*/ 1394702 w 1878763"/>
              <a:gd name="connsiteY560" fmla="*/ 789782 h 1720299"/>
              <a:gd name="connsiteX561" fmla="*/ 1422134 w 1878763"/>
              <a:gd name="connsiteY561" fmla="*/ 789782 h 1720299"/>
              <a:gd name="connsiteX562" fmla="*/ 1422134 w 1878763"/>
              <a:gd name="connsiteY562" fmla="*/ 817214 h 1720299"/>
              <a:gd name="connsiteX563" fmla="*/ 1394702 w 1878763"/>
              <a:gd name="connsiteY563" fmla="*/ 817214 h 1720299"/>
              <a:gd name="connsiteX564" fmla="*/ 1278592 w 1878763"/>
              <a:gd name="connsiteY564" fmla="*/ 789782 h 1720299"/>
              <a:gd name="connsiteX565" fmla="*/ 1306024 w 1878763"/>
              <a:gd name="connsiteY565" fmla="*/ 789782 h 1720299"/>
              <a:gd name="connsiteX566" fmla="*/ 1306024 w 1878763"/>
              <a:gd name="connsiteY566" fmla="*/ 817214 h 1720299"/>
              <a:gd name="connsiteX567" fmla="*/ 1278592 w 1878763"/>
              <a:gd name="connsiteY567" fmla="*/ 817214 h 1720299"/>
              <a:gd name="connsiteX568" fmla="*/ 1162482 w 1878763"/>
              <a:gd name="connsiteY568" fmla="*/ 789782 h 1720299"/>
              <a:gd name="connsiteX569" fmla="*/ 1189914 w 1878763"/>
              <a:gd name="connsiteY569" fmla="*/ 789782 h 1720299"/>
              <a:gd name="connsiteX570" fmla="*/ 1189914 w 1878763"/>
              <a:gd name="connsiteY570" fmla="*/ 817214 h 1720299"/>
              <a:gd name="connsiteX571" fmla="*/ 1162482 w 1878763"/>
              <a:gd name="connsiteY571" fmla="*/ 817214 h 1720299"/>
              <a:gd name="connsiteX572" fmla="*/ 1042307 w 1878763"/>
              <a:gd name="connsiteY572" fmla="*/ 789782 h 1720299"/>
              <a:gd name="connsiteX573" fmla="*/ 1069739 w 1878763"/>
              <a:gd name="connsiteY573" fmla="*/ 789782 h 1720299"/>
              <a:gd name="connsiteX574" fmla="*/ 1069739 w 1878763"/>
              <a:gd name="connsiteY574" fmla="*/ 817214 h 1720299"/>
              <a:gd name="connsiteX575" fmla="*/ 1042307 w 1878763"/>
              <a:gd name="connsiteY575" fmla="*/ 817214 h 1720299"/>
              <a:gd name="connsiteX576" fmla="*/ 926798 w 1878763"/>
              <a:gd name="connsiteY576" fmla="*/ 789782 h 1720299"/>
              <a:gd name="connsiteX577" fmla="*/ 954230 w 1878763"/>
              <a:gd name="connsiteY577" fmla="*/ 789782 h 1720299"/>
              <a:gd name="connsiteX578" fmla="*/ 954230 w 1878763"/>
              <a:gd name="connsiteY578" fmla="*/ 817214 h 1720299"/>
              <a:gd name="connsiteX579" fmla="*/ 926798 w 1878763"/>
              <a:gd name="connsiteY579" fmla="*/ 817214 h 1720299"/>
              <a:gd name="connsiteX580" fmla="*/ 812625 w 1878763"/>
              <a:gd name="connsiteY580" fmla="*/ 789782 h 1720299"/>
              <a:gd name="connsiteX581" fmla="*/ 840057 w 1878763"/>
              <a:gd name="connsiteY581" fmla="*/ 789782 h 1720299"/>
              <a:gd name="connsiteX582" fmla="*/ 840057 w 1878763"/>
              <a:gd name="connsiteY582" fmla="*/ 817214 h 1720299"/>
              <a:gd name="connsiteX583" fmla="*/ 812625 w 1878763"/>
              <a:gd name="connsiteY583" fmla="*/ 817214 h 1720299"/>
              <a:gd name="connsiteX584" fmla="*/ 692450 w 1878763"/>
              <a:gd name="connsiteY584" fmla="*/ 789782 h 1720299"/>
              <a:gd name="connsiteX585" fmla="*/ 719882 w 1878763"/>
              <a:gd name="connsiteY585" fmla="*/ 789782 h 1720299"/>
              <a:gd name="connsiteX586" fmla="*/ 719882 w 1878763"/>
              <a:gd name="connsiteY586" fmla="*/ 817214 h 1720299"/>
              <a:gd name="connsiteX587" fmla="*/ 692450 w 1878763"/>
              <a:gd name="connsiteY587" fmla="*/ 817214 h 1720299"/>
              <a:gd name="connsiteX588" fmla="*/ 576340 w 1878763"/>
              <a:gd name="connsiteY588" fmla="*/ 789782 h 1720299"/>
              <a:gd name="connsiteX589" fmla="*/ 603772 w 1878763"/>
              <a:gd name="connsiteY589" fmla="*/ 789782 h 1720299"/>
              <a:gd name="connsiteX590" fmla="*/ 603772 w 1878763"/>
              <a:gd name="connsiteY590" fmla="*/ 817214 h 1720299"/>
              <a:gd name="connsiteX591" fmla="*/ 576340 w 1878763"/>
              <a:gd name="connsiteY591" fmla="*/ 817214 h 1720299"/>
              <a:gd name="connsiteX592" fmla="*/ 456165 w 1878763"/>
              <a:gd name="connsiteY592" fmla="*/ 789782 h 1720299"/>
              <a:gd name="connsiteX593" fmla="*/ 483597 w 1878763"/>
              <a:gd name="connsiteY593" fmla="*/ 789782 h 1720299"/>
              <a:gd name="connsiteX594" fmla="*/ 483597 w 1878763"/>
              <a:gd name="connsiteY594" fmla="*/ 817214 h 1720299"/>
              <a:gd name="connsiteX595" fmla="*/ 456165 w 1878763"/>
              <a:gd name="connsiteY595" fmla="*/ 817214 h 1720299"/>
              <a:gd name="connsiteX596" fmla="*/ 340656 w 1878763"/>
              <a:gd name="connsiteY596" fmla="*/ 789782 h 1720299"/>
              <a:gd name="connsiteX597" fmla="*/ 368088 w 1878763"/>
              <a:gd name="connsiteY597" fmla="*/ 789782 h 1720299"/>
              <a:gd name="connsiteX598" fmla="*/ 368088 w 1878763"/>
              <a:gd name="connsiteY598" fmla="*/ 817214 h 1720299"/>
              <a:gd name="connsiteX599" fmla="*/ 340656 w 1878763"/>
              <a:gd name="connsiteY599" fmla="*/ 817214 h 1720299"/>
              <a:gd name="connsiteX600" fmla="*/ 226483 w 1878763"/>
              <a:gd name="connsiteY600" fmla="*/ 789782 h 1720299"/>
              <a:gd name="connsiteX601" fmla="*/ 253915 w 1878763"/>
              <a:gd name="connsiteY601" fmla="*/ 789782 h 1720299"/>
              <a:gd name="connsiteX602" fmla="*/ 253915 w 1878763"/>
              <a:gd name="connsiteY602" fmla="*/ 817214 h 1720299"/>
              <a:gd name="connsiteX603" fmla="*/ 226483 w 1878763"/>
              <a:gd name="connsiteY603" fmla="*/ 817214 h 1720299"/>
              <a:gd name="connsiteX604" fmla="*/ 114173 w 1878763"/>
              <a:gd name="connsiteY604" fmla="*/ 789782 h 1720299"/>
              <a:gd name="connsiteX605" fmla="*/ 141605 w 1878763"/>
              <a:gd name="connsiteY605" fmla="*/ 789782 h 1720299"/>
              <a:gd name="connsiteX606" fmla="*/ 141605 w 1878763"/>
              <a:gd name="connsiteY606" fmla="*/ 817214 h 1720299"/>
              <a:gd name="connsiteX607" fmla="*/ 114173 w 1878763"/>
              <a:gd name="connsiteY607" fmla="*/ 817214 h 1720299"/>
              <a:gd name="connsiteX608" fmla="*/ 0 w 1878763"/>
              <a:gd name="connsiteY608" fmla="*/ 789782 h 1720299"/>
              <a:gd name="connsiteX609" fmla="*/ 27432 w 1878763"/>
              <a:gd name="connsiteY609" fmla="*/ 789782 h 1720299"/>
              <a:gd name="connsiteX610" fmla="*/ 27432 w 1878763"/>
              <a:gd name="connsiteY610" fmla="*/ 817214 h 1720299"/>
              <a:gd name="connsiteX611" fmla="*/ 0 w 1878763"/>
              <a:gd name="connsiteY611" fmla="*/ 817214 h 1720299"/>
              <a:gd name="connsiteX612" fmla="*/ 1851331 w 1878763"/>
              <a:gd name="connsiteY612" fmla="*/ 676275 h 1720299"/>
              <a:gd name="connsiteX613" fmla="*/ 1878763 w 1878763"/>
              <a:gd name="connsiteY613" fmla="*/ 676275 h 1720299"/>
              <a:gd name="connsiteX614" fmla="*/ 1878763 w 1878763"/>
              <a:gd name="connsiteY614" fmla="*/ 703707 h 1720299"/>
              <a:gd name="connsiteX615" fmla="*/ 1851331 w 1878763"/>
              <a:gd name="connsiteY615" fmla="*/ 703707 h 1720299"/>
              <a:gd name="connsiteX616" fmla="*/ 1737031 w 1878763"/>
              <a:gd name="connsiteY616" fmla="*/ 676275 h 1720299"/>
              <a:gd name="connsiteX617" fmla="*/ 1764463 w 1878763"/>
              <a:gd name="connsiteY617" fmla="*/ 676275 h 1720299"/>
              <a:gd name="connsiteX618" fmla="*/ 1764463 w 1878763"/>
              <a:gd name="connsiteY618" fmla="*/ 703707 h 1720299"/>
              <a:gd name="connsiteX619" fmla="*/ 1737031 w 1878763"/>
              <a:gd name="connsiteY619" fmla="*/ 703707 h 1720299"/>
              <a:gd name="connsiteX620" fmla="*/ 1625112 w 1878763"/>
              <a:gd name="connsiteY620" fmla="*/ 676275 h 1720299"/>
              <a:gd name="connsiteX621" fmla="*/ 1652544 w 1878763"/>
              <a:gd name="connsiteY621" fmla="*/ 676275 h 1720299"/>
              <a:gd name="connsiteX622" fmla="*/ 1652544 w 1878763"/>
              <a:gd name="connsiteY622" fmla="*/ 703707 h 1720299"/>
              <a:gd name="connsiteX623" fmla="*/ 1625112 w 1878763"/>
              <a:gd name="connsiteY623" fmla="*/ 703707 h 1720299"/>
              <a:gd name="connsiteX624" fmla="*/ 1510812 w 1878763"/>
              <a:gd name="connsiteY624" fmla="*/ 676275 h 1720299"/>
              <a:gd name="connsiteX625" fmla="*/ 1538244 w 1878763"/>
              <a:gd name="connsiteY625" fmla="*/ 676275 h 1720299"/>
              <a:gd name="connsiteX626" fmla="*/ 1538244 w 1878763"/>
              <a:gd name="connsiteY626" fmla="*/ 703707 h 1720299"/>
              <a:gd name="connsiteX627" fmla="*/ 1510812 w 1878763"/>
              <a:gd name="connsiteY627" fmla="*/ 703707 h 1720299"/>
              <a:gd name="connsiteX628" fmla="*/ 1394702 w 1878763"/>
              <a:gd name="connsiteY628" fmla="*/ 676275 h 1720299"/>
              <a:gd name="connsiteX629" fmla="*/ 1422134 w 1878763"/>
              <a:gd name="connsiteY629" fmla="*/ 676275 h 1720299"/>
              <a:gd name="connsiteX630" fmla="*/ 1422134 w 1878763"/>
              <a:gd name="connsiteY630" fmla="*/ 703707 h 1720299"/>
              <a:gd name="connsiteX631" fmla="*/ 1394702 w 1878763"/>
              <a:gd name="connsiteY631" fmla="*/ 703707 h 1720299"/>
              <a:gd name="connsiteX632" fmla="*/ 1278592 w 1878763"/>
              <a:gd name="connsiteY632" fmla="*/ 676275 h 1720299"/>
              <a:gd name="connsiteX633" fmla="*/ 1306024 w 1878763"/>
              <a:gd name="connsiteY633" fmla="*/ 676275 h 1720299"/>
              <a:gd name="connsiteX634" fmla="*/ 1306024 w 1878763"/>
              <a:gd name="connsiteY634" fmla="*/ 703707 h 1720299"/>
              <a:gd name="connsiteX635" fmla="*/ 1278592 w 1878763"/>
              <a:gd name="connsiteY635" fmla="*/ 703707 h 1720299"/>
              <a:gd name="connsiteX636" fmla="*/ 1162482 w 1878763"/>
              <a:gd name="connsiteY636" fmla="*/ 676275 h 1720299"/>
              <a:gd name="connsiteX637" fmla="*/ 1189914 w 1878763"/>
              <a:gd name="connsiteY637" fmla="*/ 676275 h 1720299"/>
              <a:gd name="connsiteX638" fmla="*/ 1189914 w 1878763"/>
              <a:gd name="connsiteY638" fmla="*/ 703707 h 1720299"/>
              <a:gd name="connsiteX639" fmla="*/ 1162482 w 1878763"/>
              <a:gd name="connsiteY639" fmla="*/ 703707 h 1720299"/>
              <a:gd name="connsiteX640" fmla="*/ 1042307 w 1878763"/>
              <a:gd name="connsiteY640" fmla="*/ 676275 h 1720299"/>
              <a:gd name="connsiteX641" fmla="*/ 1069739 w 1878763"/>
              <a:gd name="connsiteY641" fmla="*/ 676275 h 1720299"/>
              <a:gd name="connsiteX642" fmla="*/ 1069739 w 1878763"/>
              <a:gd name="connsiteY642" fmla="*/ 703707 h 1720299"/>
              <a:gd name="connsiteX643" fmla="*/ 1042307 w 1878763"/>
              <a:gd name="connsiteY643" fmla="*/ 703707 h 1720299"/>
              <a:gd name="connsiteX644" fmla="*/ 926798 w 1878763"/>
              <a:gd name="connsiteY644" fmla="*/ 676275 h 1720299"/>
              <a:gd name="connsiteX645" fmla="*/ 954230 w 1878763"/>
              <a:gd name="connsiteY645" fmla="*/ 676275 h 1720299"/>
              <a:gd name="connsiteX646" fmla="*/ 954230 w 1878763"/>
              <a:gd name="connsiteY646" fmla="*/ 703707 h 1720299"/>
              <a:gd name="connsiteX647" fmla="*/ 926798 w 1878763"/>
              <a:gd name="connsiteY647" fmla="*/ 703707 h 1720299"/>
              <a:gd name="connsiteX648" fmla="*/ 812625 w 1878763"/>
              <a:gd name="connsiteY648" fmla="*/ 676275 h 1720299"/>
              <a:gd name="connsiteX649" fmla="*/ 840057 w 1878763"/>
              <a:gd name="connsiteY649" fmla="*/ 676275 h 1720299"/>
              <a:gd name="connsiteX650" fmla="*/ 840057 w 1878763"/>
              <a:gd name="connsiteY650" fmla="*/ 703707 h 1720299"/>
              <a:gd name="connsiteX651" fmla="*/ 812625 w 1878763"/>
              <a:gd name="connsiteY651" fmla="*/ 703707 h 1720299"/>
              <a:gd name="connsiteX652" fmla="*/ 692450 w 1878763"/>
              <a:gd name="connsiteY652" fmla="*/ 676275 h 1720299"/>
              <a:gd name="connsiteX653" fmla="*/ 719882 w 1878763"/>
              <a:gd name="connsiteY653" fmla="*/ 676275 h 1720299"/>
              <a:gd name="connsiteX654" fmla="*/ 719882 w 1878763"/>
              <a:gd name="connsiteY654" fmla="*/ 703707 h 1720299"/>
              <a:gd name="connsiteX655" fmla="*/ 692450 w 1878763"/>
              <a:gd name="connsiteY655" fmla="*/ 703707 h 1720299"/>
              <a:gd name="connsiteX656" fmla="*/ 576340 w 1878763"/>
              <a:gd name="connsiteY656" fmla="*/ 676275 h 1720299"/>
              <a:gd name="connsiteX657" fmla="*/ 603772 w 1878763"/>
              <a:gd name="connsiteY657" fmla="*/ 676275 h 1720299"/>
              <a:gd name="connsiteX658" fmla="*/ 603772 w 1878763"/>
              <a:gd name="connsiteY658" fmla="*/ 703707 h 1720299"/>
              <a:gd name="connsiteX659" fmla="*/ 576340 w 1878763"/>
              <a:gd name="connsiteY659" fmla="*/ 703707 h 1720299"/>
              <a:gd name="connsiteX660" fmla="*/ 456165 w 1878763"/>
              <a:gd name="connsiteY660" fmla="*/ 676275 h 1720299"/>
              <a:gd name="connsiteX661" fmla="*/ 483597 w 1878763"/>
              <a:gd name="connsiteY661" fmla="*/ 676275 h 1720299"/>
              <a:gd name="connsiteX662" fmla="*/ 483597 w 1878763"/>
              <a:gd name="connsiteY662" fmla="*/ 703707 h 1720299"/>
              <a:gd name="connsiteX663" fmla="*/ 456165 w 1878763"/>
              <a:gd name="connsiteY663" fmla="*/ 703707 h 1720299"/>
              <a:gd name="connsiteX664" fmla="*/ 340656 w 1878763"/>
              <a:gd name="connsiteY664" fmla="*/ 676275 h 1720299"/>
              <a:gd name="connsiteX665" fmla="*/ 368088 w 1878763"/>
              <a:gd name="connsiteY665" fmla="*/ 676275 h 1720299"/>
              <a:gd name="connsiteX666" fmla="*/ 368088 w 1878763"/>
              <a:gd name="connsiteY666" fmla="*/ 703707 h 1720299"/>
              <a:gd name="connsiteX667" fmla="*/ 340656 w 1878763"/>
              <a:gd name="connsiteY667" fmla="*/ 703707 h 1720299"/>
              <a:gd name="connsiteX668" fmla="*/ 226483 w 1878763"/>
              <a:gd name="connsiteY668" fmla="*/ 676275 h 1720299"/>
              <a:gd name="connsiteX669" fmla="*/ 253915 w 1878763"/>
              <a:gd name="connsiteY669" fmla="*/ 676275 h 1720299"/>
              <a:gd name="connsiteX670" fmla="*/ 253915 w 1878763"/>
              <a:gd name="connsiteY670" fmla="*/ 703707 h 1720299"/>
              <a:gd name="connsiteX671" fmla="*/ 226483 w 1878763"/>
              <a:gd name="connsiteY671" fmla="*/ 703707 h 1720299"/>
              <a:gd name="connsiteX672" fmla="*/ 114173 w 1878763"/>
              <a:gd name="connsiteY672" fmla="*/ 676275 h 1720299"/>
              <a:gd name="connsiteX673" fmla="*/ 141605 w 1878763"/>
              <a:gd name="connsiteY673" fmla="*/ 676275 h 1720299"/>
              <a:gd name="connsiteX674" fmla="*/ 141605 w 1878763"/>
              <a:gd name="connsiteY674" fmla="*/ 703707 h 1720299"/>
              <a:gd name="connsiteX675" fmla="*/ 114173 w 1878763"/>
              <a:gd name="connsiteY675" fmla="*/ 703707 h 1720299"/>
              <a:gd name="connsiteX676" fmla="*/ 0 w 1878763"/>
              <a:gd name="connsiteY676" fmla="*/ 676275 h 1720299"/>
              <a:gd name="connsiteX677" fmla="*/ 27432 w 1878763"/>
              <a:gd name="connsiteY677" fmla="*/ 676275 h 1720299"/>
              <a:gd name="connsiteX678" fmla="*/ 27432 w 1878763"/>
              <a:gd name="connsiteY678" fmla="*/ 703707 h 1720299"/>
              <a:gd name="connsiteX679" fmla="*/ 0 w 1878763"/>
              <a:gd name="connsiteY679" fmla="*/ 703707 h 1720299"/>
              <a:gd name="connsiteX680" fmla="*/ 1851331 w 1878763"/>
              <a:gd name="connsiteY680" fmla="*/ 565945 h 1720299"/>
              <a:gd name="connsiteX681" fmla="*/ 1878763 w 1878763"/>
              <a:gd name="connsiteY681" fmla="*/ 565945 h 1720299"/>
              <a:gd name="connsiteX682" fmla="*/ 1878763 w 1878763"/>
              <a:gd name="connsiteY682" fmla="*/ 593377 h 1720299"/>
              <a:gd name="connsiteX683" fmla="*/ 1851331 w 1878763"/>
              <a:gd name="connsiteY683" fmla="*/ 593377 h 1720299"/>
              <a:gd name="connsiteX684" fmla="*/ 1737031 w 1878763"/>
              <a:gd name="connsiteY684" fmla="*/ 565945 h 1720299"/>
              <a:gd name="connsiteX685" fmla="*/ 1764463 w 1878763"/>
              <a:gd name="connsiteY685" fmla="*/ 565945 h 1720299"/>
              <a:gd name="connsiteX686" fmla="*/ 1764463 w 1878763"/>
              <a:gd name="connsiteY686" fmla="*/ 593377 h 1720299"/>
              <a:gd name="connsiteX687" fmla="*/ 1737031 w 1878763"/>
              <a:gd name="connsiteY687" fmla="*/ 593377 h 1720299"/>
              <a:gd name="connsiteX688" fmla="*/ 1625112 w 1878763"/>
              <a:gd name="connsiteY688" fmla="*/ 565945 h 1720299"/>
              <a:gd name="connsiteX689" fmla="*/ 1652544 w 1878763"/>
              <a:gd name="connsiteY689" fmla="*/ 565945 h 1720299"/>
              <a:gd name="connsiteX690" fmla="*/ 1652544 w 1878763"/>
              <a:gd name="connsiteY690" fmla="*/ 593377 h 1720299"/>
              <a:gd name="connsiteX691" fmla="*/ 1625112 w 1878763"/>
              <a:gd name="connsiteY691" fmla="*/ 593377 h 1720299"/>
              <a:gd name="connsiteX692" fmla="*/ 1510812 w 1878763"/>
              <a:gd name="connsiteY692" fmla="*/ 565945 h 1720299"/>
              <a:gd name="connsiteX693" fmla="*/ 1538244 w 1878763"/>
              <a:gd name="connsiteY693" fmla="*/ 565945 h 1720299"/>
              <a:gd name="connsiteX694" fmla="*/ 1538244 w 1878763"/>
              <a:gd name="connsiteY694" fmla="*/ 593377 h 1720299"/>
              <a:gd name="connsiteX695" fmla="*/ 1510812 w 1878763"/>
              <a:gd name="connsiteY695" fmla="*/ 593377 h 1720299"/>
              <a:gd name="connsiteX696" fmla="*/ 1394702 w 1878763"/>
              <a:gd name="connsiteY696" fmla="*/ 565945 h 1720299"/>
              <a:gd name="connsiteX697" fmla="*/ 1422134 w 1878763"/>
              <a:gd name="connsiteY697" fmla="*/ 565945 h 1720299"/>
              <a:gd name="connsiteX698" fmla="*/ 1422134 w 1878763"/>
              <a:gd name="connsiteY698" fmla="*/ 593377 h 1720299"/>
              <a:gd name="connsiteX699" fmla="*/ 1394702 w 1878763"/>
              <a:gd name="connsiteY699" fmla="*/ 593377 h 1720299"/>
              <a:gd name="connsiteX700" fmla="*/ 1278592 w 1878763"/>
              <a:gd name="connsiteY700" fmla="*/ 565945 h 1720299"/>
              <a:gd name="connsiteX701" fmla="*/ 1306024 w 1878763"/>
              <a:gd name="connsiteY701" fmla="*/ 565945 h 1720299"/>
              <a:gd name="connsiteX702" fmla="*/ 1306024 w 1878763"/>
              <a:gd name="connsiteY702" fmla="*/ 593377 h 1720299"/>
              <a:gd name="connsiteX703" fmla="*/ 1278592 w 1878763"/>
              <a:gd name="connsiteY703" fmla="*/ 593377 h 1720299"/>
              <a:gd name="connsiteX704" fmla="*/ 1162482 w 1878763"/>
              <a:gd name="connsiteY704" fmla="*/ 565945 h 1720299"/>
              <a:gd name="connsiteX705" fmla="*/ 1189914 w 1878763"/>
              <a:gd name="connsiteY705" fmla="*/ 565945 h 1720299"/>
              <a:gd name="connsiteX706" fmla="*/ 1189914 w 1878763"/>
              <a:gd name="connsiteY706" fmla="*/ 593377 h 1720299"/>
              <a:gd name="connsiteX707" fmla="*/ 1162482 w 1878763"/>
              <a:gd name="connsiteY707" fmla="*/ 593377 h 1720299"/>
              <a:gd name="connsiteX708" fmla="*/ 1042307 w 1878763"/>
              <a:gd name="connsiteY708" fmla="*/ 565945 h 1720299"/>
              <a:gd name="connsiteX709" fmla="*/ 1069739 w 1878763"/>
              <a:gd name="connsiteY709" fmla="*/ 565945 h 1720299"/>
              <a:gd name="connsiteX710" fmla="*/ 1069739 w 1878763"/>
              <a:gd name="connsiteY710" fmla="*/ 593377 h 1720299"/>
              <a:gd name="connsiteX711" fmla="*/ 1042307 w 1878763"/>
              <a:gd name="connsiteY711" fmla="*/ 593377 h 1720299"/>
              <a:gd name="connsiteX712" fmla="*/ 926798 w 1878763"/>
              <a:gd name="connsiteY712" fmla="*/ 565945 h 1720299"/>
              <a:gd name="connsiteX713" fmla="*/ 954230 w 1878763"/>
              <a:gd name="connsiteY713" fmla="*/ 565945 h 1720299"/>
              <a:gd name="connsiteX714" fmla="*/ 954230 w 1878763"/>
              <a:gd name="connsiteY714" fmla="*/ 593377 h 1720299"/>
              <a:gd name="connsiteX715" fmla="*/ 926798 w 1878763"/>
              <a:gd name="connsiteY715" fmla="*/ 593377 h 1720299"/>
              <a:gd name="connsiteX716" fmla="*/ 812625 w 1878763"/>
              <a:gd name="connsiteY716" fmla="*/ 565945 h 1720299"/>
              <a:gd name="connsiteX717" fmla="*/ 840057 w 1878763"/>
              <a:gd name="connsiteY717" fmla="*/ 565945 h 1720299"/>
              <a:gd name="connsiteX718" fmla="*/ 840057 w 1878763"/>
              <a:gd name="connsiteY718" fmla="*/ 593377 h 1720299"/>
              <a:gd name="connsiteX719" fmla="*/ 812625 w 1878763"/>
              <a:gd name="connsiteY719" fmla="*/ 593377 h 1720299"/>
              <a:gd name="connsiteX720" fmla="*/ 692450 w 1878763"/>
              <a:gd name="connsiteY720" fmla="*/ 565945 h 1720299"/>
              <a:gd name="connsiteX721" fmla="*/ 719882 w 1878763"/>
              <a:gd name="connsiteY721" fmla="*/ 565945 h 1720299"/>
              <a:gd name="connsiteX722" fmla="*/ 719882 w 1878763"/>
              <a:gd name="connsiteY722" fmla="*/ 593377 h 1720299"/>
              <a:gd name="connsiteX723" fmla="*/ 692450 w 1878763"/>
              <a:gd name="connsiteY723" fmla="*/ 593377 h 1720299"/>
              <a:gd name="connsiteX724" fmla="*/ 576340 w 1878763"/>
              <a:gd name="connsiteY724" fmla="*/ 565945 h 1720299"/>
              <a:gd name="connsiteX725" fmla="*/ 603772 w 1878763"/>
              <a:gd name="connsiteY725" fmla="*/ 565945 h 1720299"/>
              <a:gd name="connsiteX726" fmla="*/ 603772 w 1878763"/>
              <a:gd name="connsiteY726" fmla="*/ 593377 h 1720299"/>
              <a:gd name="connsiteX727" fmla="*/ 576340 w 1878763"/>
              <a:gd name="connsiteY727" fmla="*/ 593377 h 1720299"/>
              <a:gd name="connsiteX728" fmla="*/ 456165 w 1878763"/>
              <a:gd name="connsiteY728" fmla="*/ 565945 h 1720299"/>
              <a:gd name="connsiteX729" fmla="*/ 483597 w 1878763"/>
              <a:gd name="connsiteY729" fmla="*/ 565945 h 1720299"/>
              <a:gd name="connsiteX730" fmla="*/ 483597 w 1878763"/>
              <a:gd name="connsiteY730" fmla="*/ 593377 h 1720299"/>
              <a:gd name="connsiteX731" fmla="*/ 456165 w 1878763"/>
              <a:gd name="connsiteY731" fmla="*/ 593377 h 1720299"/>
              <a:gd name="connsiteX732" fmla="*/ 340656 w 1878763"/>
              <a:gd name="connsiteY732" fmla="*/ 565945 h 1720299"/>
              <a:gd name="connsiteX733" fmla="*/ 368088 w 1878763"/>
              <a:gd name="connsiteY733" fmla="*/ 565945 h 1720299"/>
              <a:gd name="connsiteX734" fmla="*/ 368088 w 1878763"/>
              <a:gd name="connsiteY734" fmla="*/ 593377 h 1720299"/>
              <a:gd name="connsiteX735" fmla="*/ 340656 w 1878763"/>
              <a:gd name="connsiteY735" fmla="*/ 593377 h 1720299"/>
              <a:gd name="connsiteX736" fmla="*/ 226483 w 1878763"/>
              <a:gd name="connsiteY736" fmla="*/ 565945 h 1720299"/>
              <a:gd name="connsiteX737" fmla="*/ 253915 w 1878763"/>
              <a:gd name="connsiteY737" fmla="*/ 565945 h 1720299"/>
              <a:gd name="connsiteX738" fmla="*/ 253915 w 1878763"/>
              <a:gd name="connsiteY738" fmla="*/ 593377 h 1720299"/>
              <a:gd name="connsiteX739" fmla="*/ 226483 w 1878763"/>
              <a:gd name="connsiteY739" fmla="*/ 593377 h 1720299"/>
              <a:gd name="connsiteX740" fmla="*/ 114173 w 1878763"/>
              <a:gd name="connsiteY740" fmla="*/ 565945 h 1720299"/>
              <a:gd name="connsiteX741" fmla="*/ 141605 w 1878763"/>
              <a:gd name="connsiteY741" fmla="*/ 565945 h 1720299"/>
              <a:gd name="connsiteX742" fmla="*/ 141605 w 1878763"/>
              <a:gd name="connsiteY742" fmla="*/ 593377 h 1720299"/>
              <a:gd name="connsiteX743" fmla="*/ 114173 w 1878763"/>
              <a:gd name="connsiteY743" fmla="*/ 593377 h 1720299"/>
              <a:gd name="connsiteX744" fmla="*/ 0 w 1878763"/>
              <a:gd name="connsiteY744" fmla="*/ 565945 h 1720299"/>
              <a:gd name="connsiteX745" fmla="*/ 27432 w 1878763"/>
              <a:gd name="connsiteY745" fmla="*/ 565945 h 1720299"/>
              <a:gd name="connsiteX746" fmla="*/ 27432 w 1878763"/>
              <a:gd name="connsiteY746" fmla="*/ 593377 h 1720299"/>
              <a:gd name="connsiteX747" fmla="*/ 0 w 1878763"/>
              <a:gd name="connsiteY747" fmla="*/ 593377 h 1720299"/>
              <a:gd name="connsiteX748" fmla="*/ 1851331 w 1878763"/>
              <a:gd name="connsiteY748" fmla="*/ 452438 h 1720299"/>
              <a:gd name="connsiteX749" fmla="*/ 1878763 w 1878763"/>
              <a:gd name="connsiteY749" fmla="*/ 452438 h 1720299"/>
              <a:gd name="connsiteX750" fmla="*/ 1878763 w 1878763"/>
              <a:gd name="connsiteY750" fmla="*/ 479870 h 1720299"/>
              <a:gd name="connsiteX751" fmla="*/ 1851331 w 1878763"/>
              <a:gd name="connsiteY751" fmla="*/ 479870 h 1720299"/>
              <a:gd name="connsiteX752" fmla="*/ 1737031 w 1878763"/>
              <a:gd name="connsiteY752" fmla="*/ 452438 h 1720299"/>
              <a:gd name="connsiteX753" fmla="*/ 1764463 w 1878763"/>
              <a:gd name="connsiteY753" fmla="*/ 452438 h 1720299"/>
              <a:gd name="connsiteX754" fmla="*/ 1764463 w 1878763"/>
              <a:gd name="connsiteY754" fmla="*/ 479870 h 1720299"/>
              <a:gd name="connsiteX755" fmla="*/ 1737031 w 1878763"/>
              <a:gd name="connsiteY755" fmla="*/ 479870 h 1720299"/>
              <a:gd name="connsiteX756" fmla="*/ 1625112 w 1878763"/>
              <a:gd name="connsiteY756" fmla="*/ 452438 h 1720299"/>
              <a:gd name="connsiteX757" fmla="*/ 1652544 w 1878763"/>
              <a:gd name="connsiteY757" fmla="*/ 452438 h 1720299"/>
              <a:gd name="connsiteX758" fmla="*/ 1652544 w 1878763"/>
              <a:gd name="connsiteY758" fmla="*/ 479870 h 1720299"/>
              <a:gd name="connsiteX759" fmla="*/ 1625112 w 1878763"/>
              <a:gd name="connsiteY759" fmla="*/ 479870 h 1720299"/>
              <a:gd name="connsiteX760" fmla="*/ 1510812 w 1878763"/>
              <a:gd name="connsiteY760" fmla="*/ 452438 h 1720299"/>
              <a:gd name="connsiteX761" fmla="*/ 1538244 w 1878763"/>
              <a:gd name="connsiteY761" fmla="*/ 452438 h 1720299"/>
              <a:gd name="connsiteX762" fmla="*/ 1538244 w 1878763"/>
              <a:gd name="connsiteY762" fmla="*/ 479870 h 1720299"/>
              <a:gd name="connsiteX763" fmla="*/ 1510812 w 1878763"/>
              <a:gd name="connsiteY763" fmla="*/ 479870 h 1720299"/>
              <a:gd name="connsiteX764" fmla="*/ 1394702 w 1878763"/>
              <a:gd name="connsiteY764" fmla="*/ 452438 h 1720299"/>
              <a:gd name="connsiteX765" fmla="*/ 1422134 w 1878763"/>
              <a:gd name="connsiteY765" fmla="*/ 452438 h 1720299"/>
              <a:gd name="connsiteX766" fmla="*/ 1422134 w 1878763"/>
              <a:gd name="connsiteY766" fmla="*/ 479870 h 1720299"/>
              <a:gd name="connsiteX767" fmla="*/ 1394702 w 1878763"/>
              <a:gd name="connsiteY767" fmla="*/ 479870 h 1720299"/>
              <a:gd name="connsiteX768" fmla="*/ 1278592 w 1878763"/>
              <a:gd name="connsiteY768" fmla="*/ 452438 h 1720299"/>
              <a:gd name="connsiteX769" fmla="*/ 1306024 w 1878763"/>
              <a:gd name="connsiteY769" fmla="*/ 452438 h 1720299"/>
              <a:gd name="connsiteX770" fmla="*/ 1306024 w 1878763"/>
              <a:gd name="connsiteY770" fmla="*/ 479870 h 1720299"/>
              <a:gd name="connsiteX771" fmla="*/ 1278592 w 1878763"/>
              <a:gd name="connsiteY771" fmla="*/ 479870 h 1720299"/>
              <a:gd name="connsiteX772" fmla="*/ 1162482 w 1878763"/>
              <a:gd name="connsiteY772" fmla="*/ 452438 h 1720299"/>
              <a:gd name="connsiteX773" fmla="*/ 1189914 w 1878763"/>
              <a:gd name="connsiteY773" fmla="*/ 452438 h 1720299"/>
              <a:gd name="connsiteX774" fmla="*/ 1189914 w 1878763"/>
              <a:gd name="connsiteY774" fmla="*/ 479870 h 1720299"/>
              <a:gd name="connsiteX775" fmla="*/ 1162482 w 1878763"/>
              <a:gd name="connsiteY775" fmla="*/ 479870 h 1720299"/>
              <a:gd name="connsiteX776" fmla="*/ 1042307 w 1878763"/>
              <a:gd name="connsiteY776" fmla="*/ 452438 h 1720299"/>
              <a:gd name="connsiteX777" fmla="*/ 1069739 w 1878763"/>
              <a:gd name="connsiteY777" fmla="*/ 452438 h 1720299"/>
              <a:gd name="connsiteX778" fmla="*/ 1069739 w 1878763"/>
              <a:gd name="connsiteY778" fmla="*/ 479870 h 1720299"/>
              <a:gd name="connsiteX779" fmla="*/ 1042307 w 1878763"/>
              <a:gd name="connsiteY779" fmla="*/ 479870 h 1720299"/>
              <a:gd name="connsiteX780" fmla="*/ 926798 w 1878763"/>
              <a:gd name="connsiteY780" fmla="*/ 452438 h 1720299"/>
              <a:gd name="connsiteX781" fmla="*/ 954230 w 1878763"/>
              <a:gd name="connsiteY781" fmla="*/ 452438 h 1720299"/>
              <a:gd name="connsiteX782" fmla="*/ 954230 w 1878763"/>
              <a:gd name="connsiteY782" fmla="*/ 479870 h 1720299"/>
              <a:gd name="connsiteX783" fmla="*/ 926798 w 1878763"/>
              <a:gd name="connsiteY783" fmla="*/ 479870 h 1720299"/>
              <a:gd name="connsiteX784" fmla="*/ 812625 w 1878763"/>
              <a:gd name="connsiteY784" fmla="*/ 452438 h 1720299"/>
              <a:gd name="connsiteX785" fmla="*/ 840057 w 1878763"/>
              <a:gd name="connsiteY785" fmla="*/ 452438 h 1720299"/>
              <a:gd name="connsiteX786" fmla="*/ 840057 w 1878763"/>
              <a:gd name="connsiteY786" fmla="*/ 479870 h 1720299"/>
              <a:gd name="connsiteX787" fmla="*/ 812625 w 1878763"/>
              <a:gd name="connsiteY787" fmla="*/ 479870 h 1720299"/>
              <a:gd name="connsiteX788" fmla="*/ 692450 w 1878763"/>
              <a:gd name="connsiteY788" fmla="*/ 452438 h 1720299"/>
              <a:gd name="connsiteX789" fmla="*/ 719882 w 1878763"/>
              <a:gd name="connsiteY789" fmla="*/ 452438 h 1720299"/>
              <a:gd name="connsiteX790" fmla="*/ 719882 w 1878763"/>
              <a:gd name="connsiteY790" fmla="*/ 479870 h 1720299"/>
              <a:gd name="connsiteX791" fmla="*/ 692450 w 1878763"/>
              <a:gd name="connsiteY791" fmla="*/ 479870 h 1720299"/>
              <a:gd name="connsiteX792" fmla="*/ 576340 w 1878763"/>
              <a:gd name="connsiteY792" fmla="*/ 452438 h 1720299"/>
              <a:gd name="connsiteX793" fmla="*/ 603772 w 1878763"/>
              <a:gd name="connsiteY793" fmla="*/ 452438 h 1720299"/>
              <a:gd name="connsiteX794" fmla="*/ 603772 w 1878763"/>
              <a:gd name="connsiteY794" fmla="*/ 479870 h 1720299"/>
              <a:gd name="connsiteX795" fmla="*/ 576340 w 1878763"/>
              <a:gd name="connsiteY795" fmla="*/ 479870 h 1720299"/>
              <a:gd name="connsiteX796" fmla="*/ 456165 w 1878763"/>
              <a:gd name="connsiteY796" fmla="*/ 452438 h 1720299"/>
              <a:gd name="connsiteX797" fmla="*/ 483597 w 1878763"/>
              <a:gd name="connsiteY797" fmla="*/ 452438 h 1720299"/>
              <a:gd name="connsiteX798" fmla="*/ 483597 w 1878763"/>
              <a:gd name="connsiteY798" fmla="*/ 479870 h 1720299"/>
              <a:gd name="connsiteX799" fmla="*/ 456165 w 1878763"/>
              <a:gd name="connsiteY799" fmla="*/ 479870 h 1720299"/>
              <a:gd name="connsiteX800" fmla="*/ 340656 w 1878763"/>
              <a:gd name="connsiteY800" fmla="*/ 452438 h 1720299"/>
              <a:gd name="connsiteX801" fmla="*/ 368088 w 1878763"/>
              <a:gd name="connsiteY801" fmla="*/ 452438 h 1720299"/>
              <a:gd name="connsiteX802" fmla="*/ 368088 w 1878763"/>
              <a:gd name="connsiteY802" fmla="*/ 479870 h 1720299"/>
              <a:gd name="connsiteX803" fmla="*/ 340656 w 1878763"/>
              <a:gd name="connsiteY803" fmla="*/ 479870 h 1720299"/>
              <a:gd name="connsiteX804" fmla="*/ 226483 w 1878763"/>
              <a:gd name="connsiteY804" fmla="*/ 452438 h 1720299"/>
              <a:gd name="connsiteX805" fmla="*/ 253915 w 1878763"/>
              <a:gd name="connsiteY805" fmla="*/ 452438 h 1720299"/>
              <a:gd name="connsiteX806" fmla="*/ 253915 w 1878763"/>
              <a:gd name="connsiteY806" fmla="*/ 479870 h 1720299"/>
              <a:gd name="connsiteX807" fmla="*/ 226483 w 1878763"/>
              <a:gd name="connsiteY807" fmla="*/ 479870 h 1720299"/>
              <a:gd name="connsiteX808" fmla="*/ 114173 w 1878763"/>
              <a:gd name="connsiteY808" fmla="*/ 452438 h 1720299"/>
              <a:gd name="connsiteX809" fmla="*/ 141605 w 1878763"/>
              <a:gd name="connsiteY809" fmla="*/ 452438 h 1720299"/>
              <a:gd name="connsiteX810" fmla="*/ 141605 w 1878763"/>
              <a:gd name="connsiteY810" fmla="*/ 479870 h 1720299"/>
              <a:gd name="connsiteX811" fmla="*/ 114173 w 1878763"/>
              <a:gd name="connsiteY811" fmla="*/ 479870 h 1720299"/>
              <a:gd name="connsiteX812" fmla="*/ 0 w 1878763"/>
              <a:gd name="connsiteY812" fmla="*/ 452438 h 1720299"/>
              <a:gd name="connsiteX813" fmla="*/ 27432 w 1878763"/>
              <a:gd name="connsiteY813" fmla="*/ 452438 h 1720299"/>
              <a:gd name="connsiteX814" fmla="*/ 27432 w 1878763"/>
              <a:gd name="connsiteY814" fmla="*/ 479870 h 1720299"/>
              <a:gd name="connsiteX815" fmla="*/ 0 w 1878763"/>
              <a:gd name="connsiteY815" fmla="*/ 479870 h 1720299"/>
              <a:gd name="connsiteX816" fmla="*/ 1851331 w 1878763"/>
              <a:gd name="connsiteY816" fmla="*/ 337344 h 1720299"/>
              <a:gd name="connsiteX817" fmla="*/ 1878763 w 1878763"/>
              <a:gd name="connsiteY817" fmla="*/ 337344 h 1720299"/>
              <a:gd name="connsiteX818" fmla="*/ 1878763 w 1878763"/>
              <a:gd name="connsiteY818" fmla="*/ 364776 h 1720299"/>
              <a:gd name="connsiteX819" fmla="*/ 1851331 w 1878763"/>
              <a:gd name="connsiteY819" fmla="*/ 364776 h 1720299"/>
              <a:gd name="connsiteX820" fmla="*/ 1737031 w 1878763"/>
              <a:gd name="connsiteY820" fmla="*/ 337344 h 1720299"/>
              <a:gd name="connsiteX821" fmla="*/ 1764463 w 1878763"/>
              <a:gd name="connsiteY821" fmla="*/ 337344 h 1720299"/>
              <a:gd name="connsiteX822" fmla="*/ 1764463 w 1878763"/>
              <a:gd name="connsiteY822" fmla="*/ 364776 h 1720299"/>
              <a:gd name="connsiteX823" fmla="*/ 1737031 w 1878763"/>
              <a:gd name="connsiteY823" fmla="*/ 364776 h 1720299"/>
              <a:gd name="connsiteX824" fmla="*/ 1625112 w 1878763"/>
              <a:gd name="connsiteY824" fmla="*/ 337344 h 1720299"/>
              <a:gd name="connsiteX825" fmla="*/ 1652544 w 1878763"/>
              <a:gd name="connsiteY825" fmla="*/ 337344 h 1720299"/>
              <a:gd name="connsiteX826" fmla="*/ 1652544 w 1878763"/>
              <a:gd name="connsiteY826" fmla="*/ 364776 h 1720299"/>
              <a:gd name="connsiteX827" fmla="*/ 1625112 w 1878763"/>
              <a:gd name="connsiteY827" fmla="*/ 364776 h 1720299"/>
              <a:gd name="connsiteX828" fmla="*/ 1510812 w 1878763"/>
              <a:gd name="connsiteY828" fmla="*/ 337344 h 1720299"/>
              <a:gd name="connsiteX829" fmla="*/ 1538244 w 1878763"/>
              <a:gd name="connsiteY829" fmla="*/ 337344 h 1720299"/>
              <a:gd name="connsiteX830" fmla="*/ 1538244 w 1878763"/>
              <a:gd name="connsiteY830" fmla="*/ 364776 h 1720299"/>
              <a:gd name="connsiteX831" fmla="*/ 1510812 w 1878763"/>
              <a:gd name="connsiteY831" fmla="*/ 364776 h 1720299"/>
              <a:gd name="connsiteX832" fmla="*/ 1394702 w 1878763"/>
              <a:gd name="connsiteY832" fmla="*/ 337344 h 1720299"/>
              <a:gd name="connsiteX833" fmla="*/ 1422134 w 1878763"/>
              <a:gd name="connsiteY833" fmla="*/ 337344 h 1720299"/>
              <a:gd name="connsiteX834" fmla="*/ 1422134 w 1878763"/>
              <a:gd name="connsiteY834" fmla="*/ 364776 h 1720299"/>
              <a:gd name="connsiteX835" fmla="*/ 1394702 w 1878763"/>
              <a:gd name="connsiteY835" fmla="*/ 364776 h 1720299"/>
              <a:gd name="connsiteX836" fmla="*/ 1278592 w 1878763"/>
              <a:gd name="connsiteY836" fmla="*/ 337344 h 1720299"/>
              <a:gd name="connsiteX837" fmla="*/ 1306024 w 1878763"/>
              <a:gd name="connsiteY837" fmla="*/ 337344 h 1720299"/>
              <a:gd name="connsiteX838" fmla="*/ 1306024 w 1878763"/>
              <a:gd name="connsiteY838" fmla="*/ 364776 h 1720299"/>
              <a:gd name="connsiteX839" fmla="*/ 1278592 w 1878763"/>
              <a:gd name="connsiteY839" fmla="*/ 364776 h 1720299"/>
              <a:gd name="connsiteX840" fmla="*/ 1162482 w 1878763"/>
              <a:gd name="connsiteY840" fmla="*/ 337344 h 1720299"/>
              <a:gd name="connsiteX841" fmla="*/ 1189914 w 1878763"/>
              <a:gd name="connsiteY841" fmla="*/ 337344 h 1720299"/>
              <a:gd name="connsiteX842" fmla="*/ 1189914 w 1878763"/>
              <a:gd name="connsiteY842" fmla="*/ 364776 h 1720299"/>
              <a:gd name="connsiteX843" fmla="*/ 1162482 w 1878763"/>
              <a:gd name="connsiteY843" fmla="*/ 364776 h 1720299"/>
              <a:gd name="connsiteX844" fmla="*/ 1042307 w 1878763"/>
              <a:gd name="connsiteY844" fmla="*/ 337344 h 1720299"/>
              <a:gd name="connsiteX845" fmla="*/ 1069739 w 1878763"/>
              <a:gd name="connsiteY845" fmla="*/ 337344 h 1720299"/>
              <a:gd name="connsiteX846" fmla="*/ 1069739 w 1878763"/>
              <a:gd name="connsiteY846" fmla="*/ 364776 h 1720299"/>
              <a:gd name="connsiteX847" fmla="*/ 1042307 w 1878763"/>
              <a:gd name="connsiteY847" fmla="*/ 364776 h 1720299"/>
              <a:gd name="connsiteX848" fmla="*/ 926798 w 1878763"/>
              <a:gd name="connsiteY848" fmla="*/ 337344 h 1720299"/>
              <a:gd name="connsiteX849" fmla="*/ 954230 w 1878763"/>
              <a:gd name="connsiteY849" fmla="*/ 337344 h 1720299"/>
              <a:gd name="connsiteX850" fmla="*/ 954230 w 1878763"/>
              <a:gd name="connsiteY850" fmla="*/ 364776 h 1720299"/>
              <a:gd name="connsiteX851" fmla="*/ 926798 w 1878763"/>
              <a:gd name="connsiteY851" fmla="*/ 364776 h 1720299"/>
              <a:gd name="connsiteX852" fmla="*/ 812625 w 1878763"/>
              <a:gd name="connsiteY852" fmla="*/ 337344 h 1720299"/>
              <a:gd name="connsiteX853" fmla="*/ 840057 w 1878763"/>
              <a:gd name="connsiteY853" fmla="*/ 337344 h 1720299"/>
              <a:gd name="connsiteX854" fmla="*/ 840057 w 1878763"/>
              <a:gd name="connsiteY854" fmla="*/ 364776 h 1720299"/>
              <a:gd name="connsiteX855" fmla="*/ 812625 w 1878763"/>
              <a:gd name="connsiteY855" fmla="*/ 364776 h 1720299"/>
              <a:gd name="connsiteX856" fmla="*/ 692450 w 1878763"/>
              <a:gd name="connsiteY856" fmla="*/ 337344 h 1720299"/>
              <a:gd name="connsiteX857" fmla="*/ 719882 w 1878763"/>
              <a:gd name="connsiteY857" fmla="*/ 337344 h 1720299"/>
              <a:gd name="connsiteX858" fmla="*/ 719882 w 1878763"/>
              <a:gd name="connsiteY858" fmla="*/ 364776 h 1720299"/>
              <a:gd name="connsiteX859" fmla="*/ 692450 w 1878763"/>
              <a:gd name="connsiteY859" fmla="*/ 364776 h 1720299"/>
              <a:gd name="connsiteX860" fmla="*/ 576340 w 1878763"/>
              <a:gd name="connsiteY860" fmla="*/ 337344 h 1720299"/>
              <a:gd name="connsiteX861" fmla="*/ 603772 w 1878763"/>
              <a:gd name="connsiteY861" fmla="*/ 337344 h 1720299"/>
              <a:gd name="connsiteX862" fmla="*/ 603772 w 1878763"/>
              <a:gd name="connsiteY862" fmla="*/ 364776 h 1720299"/>
              <a:gd name="connsiteX863" fmla="*/ 576340 w 1878763"/>
              <a:gd name="connsiteY863" fmla="*/ 364776 h 1720299"/>
              <a:gd name="connsiteX864" fmla="*/ 456165 w 1878763"/>
              <a:gd name="connsiteY864" fmla="*/ 337344 h 1720299"/>
              <a:gd name="connsiteX865" fmla="*/ 483597 w 1878763"/>
              <a:gd name="connsiteY865" fmla="*/ 337344 h 1720299"/>
              <a:gd name="connsiteX866" fmla="*/ 483597 w 1878763"/>
              <a:gd name="connsiteY866" fmla="*/ 364776 h 1720299"/>
              <a:gd name="connsiteX867" fmla="*/ 456165 w 1878763"/>
              <a:gd name="connsiteY867" fmla="*/ 364776 h 1720299"/>
              <a:gd name="connsiteX868" fmla="*/ 340656 w 1878763"/>
              <a:gd name="connsiteY868" fmla="*/ 337344 h 1720299"/>
              <a:gd name="connsiteX869" fmla="*/ 368088 w 1878763"/>
              <a:gd name="connsiteY869" fmla="*/ 337344 h 1720299"/>
              <a:gd name="connsiteX870" fmla="*/ 368088 w 1878763"/>
              <a:gd name="connsiteY870" fmla="*/ 364776 h 1720299"/>
              <a:gd name="connsiteX871" fmla="*/ 340656 w 1878763"/>
              <a:gd name="connsiteY871" fmla="*/ 364776 h 1720299"/>
              <a:gd name="connsiteX872" fmla="*/ 226483 w 1878763"/>
              <a:gd name="connsiteY872" fmla="*/ 337344 h 1720299"/>
              <a:gd name="connsiteX873" fmla="*/ 253915 w 1878763"/>
              <a:gd name="connsiteY873" fmla="*/ 337344 h 1720299"/>
              <a:gd name="connsiteX874" fmla="*/ 253915 w 1878763"/>
              <a:gd name="connsiteY874" fmla="*/ 364776 h 1720299"/>
              <a:gd name="connsiteX875" fmla="*/ 226483 w 1878763"/>
              <a:gd name="connsiteY875" fmla="*/ 364776 h 1720299"/>
              <a:gd name="connsiteX876" fmla="*/ 114173 w 1878763"/>
              <a:gd name="connsiteY876" fmla="*/ 337344 h 1720299"/>
              <a:gd name="connsiteX877" fmla="*/ 141605 w 1878763"/>
              <a:gd name="connsiteY877" fmla="*/ 337344 h 1720299"/>
              <a:gd name="connsiteX878" fmla="*/ 141605 w 1878763"/>
              <a:gd name="connsiteY878" fmla="*/ 364776 h 1720299"/>
              <a:gd name="connsiteX879" fmla="*/ 114173 w 1878763"/>
              <a:gd name="connsiteY879" fmla="*/ 364776 h 1720299"/>
              <a:gd name="connsiteX880" fmla="*/ 0 w 1878763"/>
              <a:gd name="connsiteY880" fmla="*/ 337344 h 1720299"/>
              <a:gd name="connsiteX881" fmla="*/ 27432 w 1878763"/>
              <a:gd name="connsiteY881" fmla="*/ 337344 h 1720299"/>
              <a:gd name="connsiteX882" fmla="*/ 27432 w 1878763"/>
              <a:gd name="connsiteY882" fmla="*/ 364776 h 1720299"/>
              <a:gd name="connsiteX883" fmla="*/ 0 w 1878763"/>
              <a:gd name="connsiteY883" fmla="*/ 364776 h 1720299"/>
              <a:gd name="connsiteX884" fmla="*/ 1851331 w 1878763"/>
              <a:gd name="connsiteY884" fmla="*/ 223837 h 1720299"/>
              <a:gd name="connsiteX885" fmla="*/ 1878763 w 1878763"/>
              <a:gd name="connsiteY885" fmla="*/ 223837 h 1720299"/>
              <a:gd name="connsiteX886" fmla="*/ 1878763 w 1878763"/>
              <a:gd name="connsiteY886" fmla="*/ 251269 h 1720299"/>
              <a:gd name="connsiteX887" fmla="*/ 1851331 w 1878763"/>
              <a:gd name="connsiteY887" fmla="*/ 251269 h 1720299"/>
              <a:gd name="connsiteX888" fmla="*/ 1737031 w 1878763"/>
              <a:gd name="connsiteY888" fmla="*/ 223837 h 1720299"/>
              <a:gd name="connsiteX889" fmla="*/ 1764463 w 1878763"/>
              <a:gd name="connsiteY889" fmla="*/ 223837 h 1720299"/>
              <a:gd name="connsiteX890" fmla="*/ 1764463 w 1878763"/>
              <a:gd name="connsiteY890" fmla="*/ 251269 h 1720299"/>
              <a:gd name="connsiteX891" fmla="*/ 1737031 w 1878763"/>
              <a:gd name="connsiteY891" fmla="*/ 251269 h 1720299"/>
              <a:gd name="connsiteX892" fmla="*/ 1625112 w 1878763"/>
              <a:gd name="connsiteY892" fmla="*/ 223837 h 1720299"/>
              <a:gd name="connsiteX893" fmla="*/ 1652544 w 1878763"/>
              <a:gd name="connsiteY893" fmla="*/ 223837 h 1720299"/>
              <a:gd name="connsiteX894" fmla="*/ 1652544 w 1878763"/>
              <a:gd name="connsiteY894" fmla="*/ 251269 h 1720299"/>
              <a:gd name="connsiteX895" fmla="*/ 1625112 w 1878763"/>
              <a:gd name="connsiteY895" fmla="*/ 251269 h 1720299"/>
              <a:gd name="connsiteX896" fmla="*/ 1510812 w 1878763"/>
              <a:gd name="connsiteY896" fmla="*/ 223837 h 1720299"/>
              <a:gd name="connsiteX897" fmla="*/ 1538244 w 1878763"/>
              <a:gd name="connsiteY897" fmla="*/ 223837 h 1720299"/>
              <a:gd name="connsiteX898" fmla="*/ 1538244 w 1878763"/>
              <a:gd name="connsiteY898" fmla="*/ 251269 h 1720299"/>
              <a:gd name="connsiteX899" fmla="*/ 1510812 w 1878763"/>
              <a:gd name="connsiteY899" fmla="*/ 251269 h 1720299"/>
              <a:gd name="connsiteX900" fmla="*/ 1394702 w 1878763"/>
              <a:gd name="connsiteY900" fmla="*/ 223837 h 1720299"/>
              <a:gd name="connsiteX901" fmla="*/ 1422134 w 1878763"/>
              <a:gd name="connsiteY901" fmla="*/ 223837 h 1720299"/>
              <a:gd name="connsiteX902" fmla="*/ 1422134 w 1878763"/>
              <a:gd name="connsiteY902" fmla="*/ 251269 h 1720299"/>
              <a:gd name="connsiteX903" fmla="*/ 1394702 w 1878763"/>
              <a:gd name="connsiteY903" fmla="*/ 251269 h 1720299"/>
              <a:gd name="connsiteX904" fmla="*/ 1278592 w 1878763"/>
              <a:gd name="connsiteY904" fmla="*/ 223837 h 1720299"/>
              <a:gd name="connsiteX905" fmla="*/ 1306024 w 1878763"/>
              <a:gd name="connsiteY905" fmla="*/ 223837 h 1720299"/>
              <a:gd name="connsiteX906" fmla="*/ 1306024 w 1878763"/>
              <a:gd name="connsiteY906" fmla="*/ 251269 h 1720299"/>
              <a:gd name="connsiteX907" fmla="*/ 1278592 w 1878763"/>
              <a:gd name="connsiteY907" fmla="*/ 251269 h 1720299"/>
              <a:gd name="connsiteX908" fmla="*/ 1162482 w 1878763"/>
              <a:gd name="connsiteY908" fmla="*/ 223837 h 1720299"/>
              <a:gd name="connsiteX909" fmla="*/ 1189914 w 1878763"/>
              <a:gd name="connsiteY909" fmla="*/ 223837 h 1720299"/>
              <a:gd name="connsiteX910" fmla="*/ 1189914 w 1878763"/>
              <a:gd name="connsiteY910" fmla="*/ 251269 h 1720299"/>
              <a:gd name="connsiteX911" fmla="*/ 1162482 w 1878763"/>
              <a:gd name="connsiteY911" fmla="*/ 251269 h 1720299"/>
              <a:gd name="connsiteX912" fmla="*/ 1042307 w 1878763"/>
              <a:gd name="connsiteY912" fmla="*/ 223837 h 1720299"/>
              <a:gd name="connsiteX913" fmla="*/ 1069739 w 1878763"/>
              <a:gd name="connsiteY913" fmla="*/ 223837 h 1720299"/>
              <a:gd name="connsiteX914" fmla="*/ 1069739 w 1878763"/>
              <a:gd name="connsiteY914" fmla="*/ 251269 h 1720299"/>
              <a:gd name="connsiteX915" fmla="*/ 1042307 w 1878763"/>
              <a:gd name="connsiteY915" fmla="*/ 251269 h 1720299"/>
              <a:gd name="connsiteX916" fmla="*/ 926798 w 1878763"/>
              <a:gd name="connsiteY916" fmla="*/ 223837 h 1720299"/>
              <a:gd name="connsiteX917" fmla="*/ 954230 w 1878763"/>
              <a:gd name="connsiteY917" fmla="*/ 223837 h 1720299"/>
              <a:gd name="connsiteX918" fmla="*/ 954230 w 1878763"/>
              <a:gd name="connsiteY918" fmla="*/ 251269 h 1720299"/>
              <a:gd name="connsiteX919" fmla="*/ 926798 w 1878763"/>
              <a:gd name="connsiteY919" fmla="*/ 251269 h 1720299"/>
              <a:gd name="connsiteX920" fmla="*/ 812625 w 1878763"/>
              <a:gd name="connsiteY920" fmla="*/ 223837 h 1720299"/>
              <a:gd name="connsiteX921" fmla="*/ 840057 w 1878763"/>
              <a:gd name="connsiteY921" fmla="*/ 223837 h 1720299"/>
              <a:gd name="connsiteX922" fmla="*/ 840057 w 1878763"/>
              <a:gd name="connsiteY922" fmla="*/ 251269 h 1720299"/>
              <a:gd name="connsiteX923" fmla="*/ 812625 w 1878763"/>
              <a:gd name="connsiteY923" fmla="*/ 251269 h 1720299"/>
              <a:gd name="connsiteX924" fmla="*/ 692450 w 1878763"/>
              <a:gd name="connsiteY924" fmla="*/ 223837 h 1720299"/>
              <a:gd name="connsiteX925" fmla="*/ 719882 w 1878763"/>
              <a:gd name="connsiteY925" fmla="*/ 223837 h 1720299"/>
              <a:gd name="connsiteX926" fmla="*/ 719882 w 1878763"/>
              <a:gd name="connsiteY926" fmla="*/ 251269 h 1720299"/>
              <a:gd name="connsiteX927" fmla="*/ 692450 w 1878763"/>
              <a:gd name="connsiteY927" fmla="*/ 251269 h 1720299"/>
              <a:gd name="connsiteX928" fmla="*/ 576340 w 1878763"/>
              <a:gd name="connsiteY928" fmla="*/ 223837 h 1720299"/>
              <a:gd name="connsiteX929" fmla="*/ 603772 w 1878763"/>
              <a:gd name="connsiteY929" fmla="*/ 223837 h 1720299"/>
              <a:gd name="connsiteX930" fmla="*/ 603772 w 1878763"/>
              <a:gd name="connsiteY930" fmla="*/ 251269 h 1720299"/>
              <a:gd name="connsiteX931" fmla="*/ 576340 w 1878763"/>
              <a:gd name="connsiteY931" fmla="*/ 251269 h 1720299"/>
              <a:gd name="connsiteX932" fmla="*/ 456165 w 1878763"/>
              <a:gd name="connsiteY932" fmla="*/ 223837 h 1720299"/>
              <a:gd name="connsiteX933" fmla="*/ 483597 w 1878763"/>
              <a:gd name="connsiteY933" fmla="*/ 223837 h 1720299"/>
              <a:gd name="connsiteX934" fmla="*/ 483597 w 1878763"/>
              <a:gd name="connsiteY934" fmla="*/ 251269 h 1720299"/>
              <a:gd name="connsiteX935" fmla="*/ 456165 w 1878763"/>
              <a:gd name="connsiteY935" fmla="*/ 251269 h 1720299"/>
              <a:gd name="connsiteX936" fmla="*/ 340656 w 1878763"/>
              <a:gd name="connsiteY936" fmla="*/ 223837 h 1720299"/>
              <a:gd name="connsiteX937" fmla="*/ 368088 w 1878763"/>
              <a:gd name="connsiteY937" fmla="*/ 223837 h 1720299"/>
              <a:gd name="connsiteX938" fmla="*/ 368088 w 1878763"/>
              <a:gd name="connsiteY938" fmla="*/ 251269 h 1720299"/>
              <a:gd name="connsiteX939" fmla="*/ 340656 w 1878763"/>
              <a:gd name="connsiteY939" fmla="*/ 251269 h 1720299"/>
              <a:gd name="connsiteX940" fmla="*/ 226483 w 1878763"/>
              <a:gd name="connsiteY940" fmla="*/ 223837 h 1720299"/>
              <a:gd name="connsiteX941" fmla="*/ 253915 w 1878763"/>
              <a:gd name="connsiteY941" fmla="*/ 223837 h 1720299"/>
              <a:gd name="connsiteX942" fmla="*/ 253915 w 1878763"/>
              <a:gd name="connsiteY942" fmla="*/ 251269 h 1720299"/>
              <a:gd name="connsiteX943" fmla="*/ 226483 w 1878763"/>
              <a:gd name="connsiteY943" fmla="*/ 251269 h 1720299"/>
              <a:gd name="connsiteX944" fmla="*/ 114173 w 1878763"/>
              <a:gd name="connsiteY944" fmla="*/ 223837 h 1720299"/>
              <a:gd name="connsiteX945" fmla="*/ 141605 w 1878763"/>
              <a:gd name="connsiteY945" fmla="*/ 223837 h 1720299"/>
              <a:gd name="connsiteX946" fmla="*/ 141605 w 1878763"/>
              <a:gd name="connsiteY946" fmla="*/ 251269 h 1720299"/>
              <a:gd name="connsiteX947" fmla="*/ 114173 w 1878763"/>
              <a:gd name="connsiteY947" fmla="*/ 251269 h 1720299"/>
              <a:gd name="connsiteX948" fmla="*/ 0 w 1878763"/>
              <a:gd name="connsiteY948" fmla="*/ 223837 h 1720299"/>
              <a:gd name="connsiteX949" fmla="*/ 27432 w 1878763"/>
              <a:gd name="connsiteY949" fmla="*/ 223837 h 1720299"/>
              <a:gd name="connsiteX950" fmla="*/ 27432 w 1878763"/>
              <a:gd name="connsiteY950" fmla="*/ 251269 h 1720299"/>
              <a:gd name="connsiteX951" fmla="*/ 0 w 1878763"/>
              <a:gd name="connsiteY951" fmla="*/ 251269 h 1720299"/>
              <a:gd name="connsiteX952" fmla="*/ 1851331 w 1878763"/>
              <a:gd name="connsiteY952" fmla="*/ 113507 h 1720299"/>
              <a:gd name="connsiteX953" fmla="*/ 1878763 w 1878763"/>
              <a:gd name="connsiteY953" fmla="*/ 113507 h 1720299"/>
              <a:gd name="connsiteX954" fmla="*/ 1878763 w 1878763"/>
              <a:gd name="connsiteY954" fmla="*/ 140939 h 1720299"/>
              <a:gd name="connsiteX955" fmla="*/ 1851331 w 1878763"/>
              <a:gd name="connsiteY955" fmla="*/ 140939 h 1720299"/>
              <a:gd name="connsiteX956" fmla="*/ 1737031 w 1878763"/>
              <a:gd name="connsiteY956" fmla="*/ 113507 h 1720299"/>
              <a:gd name="connsiteX957" fmla="*/ 1764463 w 1878763"/>
              <a:gd name="connsiteY957" fmla="*/ 113507 h 1720299"/>
              <a:gd name="connsiteX958" fmla="*/ 1764463 w 1878763"/>
              <a:gd name="connsiteY958" fmla="*/ 140939 h 1720299"/>
              <a:gd name="connsiteX959" fmla="*/ 1737031 w 1878763"/>
              <a:gd name="connsiteY959" fmla="*/ 140939 h 1720299"/>
              <a:gd name="connsiteX960" fmla="*/ 1625112 w 1878763"/>
              <a:gd name="connsiteY960" fmla="*/ 113507 h 1720299"/>
              <a:gd name="connsiteX961" fmla="*/ 1652544 w 1878763"/>
              <a:gd name="connsiteY961" fmla="*/ 113507 h 1720299"/>
              <a:gd name="connsiteX962" fmla="*/ 1652544 w 1878763"/>
              <a:gd name="connsiteY962" fmla="*/ 140939 h 1720299"/>
              <a:gd name="connsiteX963" fmla="*/ 1625112 w 1878763"/>
              <a:gd name="connsiteY963" fmla="*/ 140939 h 1720299"/>
              <a:gd name="connsiteX964" fmla="*/ 1510812 w 1878763"/>
              <a:gd name="connsiteY964" fmla="*/ 113507 h 1720299"/>
              <a:gd name="connsiteX965" fmla="*/ 1538244 w 1878763"/>
              <a:gd name="connsiteY965" fmla="*/ 113507 h 1720299"/>
              <a:gd name="connsiteX966" fmla="*/ 1538244 w 1878763"/>
              <a:gd name="connsiteY966" fmla="*/ 140939 h 1720299"/>
              <a:gd name="connsiteX967" fmla="*/ 1510812 w 1878763"/>
              <a:gd name="connsiteY967" fmla="*/ 140939 h 1720299"/>
              <a:gd name="connsiteX968" fmla="*/ 1394702 w 1878763"/>
              <a:gd name="connsiteY968" fmla="*/ 113507 h 1720299"/>
              <a:gd name="connsiteX969" fmla="*/ 1422134 w 1878763"/>
              <a:gd name="connsiteY969" fmla="*/ 113507 h 1720299"/>
              <a:gd name="connsiteX970" fmla="*/ 1422134 w 1878763"/>
              <a:gd name="connsiteY970" fmla="*/ 140939 h 1720299"/>
              <a:gd name="connsiteX971" fmla="*/ 1394702 w 1878763"/>
              <a:gd name="connsiteY971" fmla="*/ 140939 h 1720299"/>
              <a:gd name="connsiteX972" fmla="*/ 1278592 w 1878763"/>
              <a:gd name="connsiteY972" fmla="*/ 113507 h 1720299"/>
              <a:gd name="connsiteX973" fmla="*/ 1306024 w 1878763"/>
              <a:gd name="connsiteY973" fmla="*/ 113507 h 1720299"/>
              <a:gd name="connsiteX974" fmla="*/ 1306024 w 1878763"/>
              <a:gd name="connsiteY974" fmla="*/ 140939 h 1720299"/>
              <a:gd name="connsiteX975" fmla="*/ 1278592 w 1878763"/>
              <a:gd name="connsiteY975" fmla="*/ 140939 h 1720299"/>
              <a:gd name="connsiteX976" fmla="*/ 1162482 w 1878763"/>
              <a:gd name="connsiteY976" fmla="*/ 113507 h 1720299"/>
              <a:gd name="connsiteX977" fmla="*/ 1189914 w 1878763"/>
              <a:gd name="connsiteY977" fmla="*/ 113507 h 1720299"/>
              <a:gd name="connsiteX978" fmla="*/ 1189914 w 1878763"/>
              <a:gd name="connsiteY978" fmla="*/ 140939 h 1720299"/>
              <a:gd name="connsiteX979" fmla="*/ 1162482 w 1878763"/>
              <a:gd name="connsiteY979" fmla="*/ 140939 h 1720299"/>
              <a:gd name="connsiteX980" fmla="*/ 1042307 w 1878763"/>
              <a:gd name="connsiteY980" fmla="*/ 113507 h 1720299"/>
              <a:gd name="connsiteX981" fmla="*/ 1069739 w 1878763"/>
              <a:gd name="connsiteY981" fmla="*/ 113507 h 1720299"/>
              <a:gd name="connsiteX982" fmla="*/ 1069739 w 1878763"/>
              <a:gd name="connsiteY982" fmla="*/ 140939 h 1720299"/>
              <a:gd name="connsiteX983" fmla="*/ 1042307 w 1878763"/>
              <a:gd name="connsiteY983" fmla="*/ 140939 h 1720299"/>
              <a:gd name="connsiteX984" fmla="*/ 926798 w 1878763"/>
              <a:gd name="connsiteY984" fmla="*/ 113507 h 1720299"/>
              <a:gd name="connsiteX985" fmla="*/ 954230 w 1878763"/>
              <a:gd name="connsiteY985" fmla="*/ 113507 h 1720299"/>
              <a:gd name="connsiteX986" fmla="*/ 954230 w 1878763"/>
              <a:gd name="connsiteY986" fmla="*/ 140939 h 1720299"/>
              <a:gd name="connsiteX987" fmla="*/ 926798 w 1878763"/>
              <a:gd name="connsiteY987" fmla="*/ 140939 h 1720299"/>
              <a:gd name="connsiteX988" fmla="*/ 812625 w 1878763"/>
              <a:gd name="connsiteY988" fmla="*/ 113507 h 1720299"/>
              <a:gd name="connsiteX989" fmla="*/ 840057 w 1878763"/>
              <a:gd name="connsiteY989" fmla="*/ 113507 h 1720299"/>
              <a:gd name="connsiteX990" fmla="*/ 840057 w 1878763"/>
              <a:gd name="connsiteY990" fmla="*/ 140939 h 1720299"/>
              <a:gd name="connsiteX991" fmla="*/ 812625 w 1878763"/>
              <a:gd name="connsiteY991" fmla="*/ 140939 h 1720299"/>
              <a:gd name="connsiteX992" fmla="*/ 692450 w 1878763"/>
              <a:gd name="connsiteY992" fmla="*/ 113507 h 1720299"/>
              <a:gd name="connsiteX993" fmla="*/ 719882 w 1878763"/>
              <a:gd name="connsiteY993" fmla="*/ 113507 h 1720299"/>
              <a:gd name="connsiteX994" fmla="*/ 719882 w 1878763"/>
              <a:gd name="connsiteY994" fmla="*/ 140939 h 1720299"/>
              <a:gd name="connsiteX995" fmla="*/ 692450 w 1878763"/>
              <a:gd name="connsiteY995" fmla="*/ 140939 h 1720299"/>
              <a:gd name="connsiteX996" fmla="*/ 576340 w 1878763"/>
              <a:gd name="connsiteY996" fmla="*/ 113507 h 1720299"/>
              <a:gd name="connsiteX997" fmla="*/ 603772 w 1878763"/>
              <a:gd name="connsiteY997" fmla="*/ 113507 h 1720299"/>
              <a:gd name="connsiteX998" fmla="*/ 603772 w 1878763"/>
              <a:gd name="connsiteY998" fmla="*/ 140939 h 1720299"/>
              <a:gd name="connsiteX999" fmla="*/ 576340 w 1878763"/>
              <a:gd name="connsiteY999" fmla="*/ 140939 h 1720299"/>
              <a:gd name="connsiteX1000" fmla="*/ 456165 w 1878763"/>
              <a:gd name="connsiteY1000" fmla="*/ 113507 h 1720299"/>
              <a:gd name="connsiteX1001" fmla="*/ 483597 w 1878763"/>
              <a:gd name="connsiteY1001" fmla="*/ 113507 h 1720299"/>
              <a:gd name="connsiteX1002" fmla="*/ 483597 w 1878763"/>
              <a:gd name="connsiteY1002" fmla="*/ 140939 h 1720299"/>
              <a:gd name="connsiteX1003" fmla="*/ 456165 w 1878763"/>
              <a:gd name="connsiteY1003" fmla="*/ 140939 h 1720299"/>
              <a:gd name="connsiteX1004" fmla="*/ 340656 w 1878763"/>
              <a:gd name="connsiteY1004" fmla="*/ 113507 h 1720299"/>
              <a:gd name="connsiteX1005" fmla="*/ 368088 w 1878763"/>
              <a:gd name="connsiteY1005" fmla="*/ 113507 h 1720299"/>
              <a:gd name="connsiteX1006" fmla="*/ 368088 w 1878763"/>
              <a:gd name="connsiteY1006" fmla="*/ 140939 h 1720299"/>
              <a:gd name="connsiteX1007" fmla="*/ 340656 w 1878763"/>
              <a:gd name="connsiteY1007" fmla="*/ 140939 h 1720299"/>
              <a:gd name="connsiteX1008" fmla="*/ 226483 w 1878763"/>
              <a:gd name="connsiteY1008" fmla="*/ 113507 h 1720299"/>
              <a:gd name="connsiteX1009" fmla="*/ 253915 w 1878763"/>
              <a:gd name="connsiteY1009" fmla="*/ 113507 h 1720299"/>
              <a:gd name="connsiteX1010" fmla="*/ 253915 w 1878763"/>
              <a:gd name="connsiteY1010" fmla="*/ 140939 h 1720299"/>
              <a:gd name="connsiteX1011" fmla="*/ 226483 w 1878763"/>
              <a:gd name="connsiteY1011" fmla="*/ 140939 h 1720299"/>
              <a:gd name="connsiteX1012" fmla="*/ 114173 w 1878763"/>
              <a:gd name="connsiteY1012" fmla="*/ 113507 h 1720299"/>
              <a:gd name="connsiteX1013" fmla="*/ 141605 w 1878763"/>
              <a:gd name="connsiteY1013" fmla="*/ 113507 h 1720299"/>
              <a:gd name="connsiteX1014" fmla="*/ 141605 w 1878763"/>
              <a:gd name="connsiteY1014" fmla="*/ 140939 h 1720299"/>
              <a:gd name="connsiteX1015" fmla="*/ 114173 w 1878763"/>
              <a:gd name="connsiteY1015" fmla="*/ 140939 h 1720299"/>
              <a:gd name="connsiteX1016" fmla="*/ 0 w 1878763"/>
              <a:gd name="connsiteY1016" fmla="*/ 113507 h 1720299"/>
              <a:gd name="connsiteX1017" fmla="*/ 27432 w 1878763"/>
              <a:gd name="connsiteY1017" fmla="*/ 113507 h 1720299"/>
              <a:gd name="connsiteX1018" fmla="*/ 27432 w 1878763"/>
              <a:gd name="connsiteY1018" fmla="*/ 140939 h 1720299"/>
              <a:gd name="connsiteX1019" fmla="*/ 0 w 1878763"/>
              <a:gd name="connsiteY1019" fmla="*/ 140939 h 1720299"/>
              <a:gd name="connsiteX1020" fmla="*/ 1851331 w 1878763"/>
              <a:gd name="connsiteY1020" fmla="*/ 0 h 1720299"/>
              <a:gd name="connsiteX1021" fmla="*/ 1878763 w 1878763"/>
              <a:gd name="connsiteY1021" fmla="*/ 0 h 1720299"/>
              <a:gd name="connsiteX1022" fmla="*/ 1878763 w 1878763"/>
              <a:gd name="connsiteY1022" fmla="*/ 27432 h 1720299"/>
              <a:gd name="connsiteX1023" fmla="*/ 1851331 w 1878763"/>
              <a:gd name="connsiteY1023" fmla="*/ 27432 h 1720299"/>
              <a:gd name="connsiteX1024" fmla="*/ 1737031 w 1878763"/>
              <a:gd name="connsiteY1024" fmla="*/ 0 h 1720299"/>
              <a:gd name="connsiteX1025" fmla="*/ 1764463 w 1878763"/>
              <a:gd name="connsiteY1025" fmla="*/ 0 h 1720299"/>
              <a:gd name="connsiteX1026" fmla="*/ 1764463 w 1878763"/>
              <a:gd name="connsiteY1026" fmla="*/ 27432 h 1720299"/>
              <a:gd name="connsiteX1027" fmla="*/ 1737031 w 1878763"/>
              <a:gd name="connsiteY1027" fmla="*/ 27432 h 1720299"/>
              <a:gd name="connsiteX1028" fmla="*/ 1625112 w 1878763"/>
              <a:gd name="connsiteY1028" fmla="*/ 0 h 1720299"/>
              <a:gd name="connsiteX1029" fmla="*/ 1652544 w 1878763"/>
              <a:gd name="connsiteY1029" fmla="*/ 0 h 1720299"/>
              <a:gd name="connsiteX1030" fmla="*/ 1652544 w 1878763"/>
              <a:gd name="connsiteY1030" fmla="*/ 27432 h 1720299"/>
              <a:gd name="connsiteX1031" fmla="*/ 1625112 w 1878763"/>
              <a:gd name="connsiteY1031" fmla="*/ 27432 h 1720299"/>
              <a:gd name="connsiteX1032" fmla="*/ 1510812 w 1878763"/>
              <a:gd name="connsiteY1032" fmla="*/ 0 h 1720299"/>
              <a:gd name="connsiteX1033" fmla="*/ 1538244 w 1878763"/>
              <a:gd name="connsiteY1033" fmla="*/ 0 h 1720299"/>
              <a:gd name="connsiteX1034" fmla="*/ 1538244 w 1878763"/>
              <a:gd name="connsiteY1034" fmla="*/ 27432 h 1720299"/>
              <a:gd name="connsiteX1035" fmla="*/ 1510812 w 1878763"/>
              <a:gd name="connsiteY1035" fmla="*/ 27432 h 1720299"/>
              <a:gd name="connsiteX1036" fmla="*/ 1394702 w 1878763"/>
              <a:gd name="connsiteY1036" fmla="*/ 0 h 1720299"/>
              <a:gd name="connsiteX1037" fmla="*/ 1422134 w 1878763"/>
              <a:gd name="connsiteY1037" fmla="*/ 0 h 1720299"/>
              <a:gd name="connsiteX1038" fmla="*/ 1422134 w 1878763"/>
              <a:gd name="connsiteY1038" fmla="*/ 27432 h 1720299"/>
              <a:gd name="connsiteX1039" fmla="*/ 1394702 w 1878763"/>
              <a:gd name="connsiteY1039" fmla="*/ 27432 h 1720299"/>
              <a:gd name="connsiteX1040" fmla="*/ 1278592 w 1878763"/>
              <a:gd name="connsiteY1040" fmla="*/ 0 h 1720299"/>
              <a:gd name="connsiteX1041" fmla="*/ 1306024 w 1878763"/>
              <a:gd name="connsiteY1041" fmla="*/ 0 h 1720299"/>
              <a:gd name="connsiteX1042" fmla="*/ 1306024 w 1878763"/>
              <a:gd name="connsiteY1042" fmla="*/ 27432 h 1720299"/>
              <a:gd name="connsiteX1043" fmla="*/ 1278592 w 1878763"/>
              <a:gd name="connsiteY1043" fmla="*/ 27432 h 1720299"/>
              <a:gd name="connsiteX1044" fmla="*/ 1162482 w 1878763"/>
              <a:gd name="connsiteY1044" fmla="*/ 0 h 1720299"/>
              <a:gd name="connsiteX1045" fmla="*/ 1189914 w 1878763"/>
              <a:gd name="connsiteY1045" fmla="*/ 0 h 1720299"/>
              <a:gd name="connsiteX1046" fmla="*/ 1189914 w 1878763"/>
              <a:gd name="connsiteY1046" fmla="*/ 27432 h 1720299"/>
              <a:gd name="connsiteX1047" fmla="*/ 1162482 w 1878763"/>
              <a:gd name="connsiteY1047" fmla="*/ 27432 h 1720299"/>
              <a:gd name="connsiteX1048" fmla="*/ 1042307 w 1878763"/>
              <a:gd name="connsiteY1048" fmla="*/ 0 h 1720299"/>
              <a:gd name="connsiteX1049" fmla="*/ 1069739 w 1878763"/>
              <a:gd name="connsiteY1049" fmla="*/ 0 h 1720299"/>
              <a:gd name="connsiteX1050" fmla="*/ 1069739 w 1878763"/>
              <a:gd name="connsiteY1050" fmla="*/ 27432 h 1720299"/>
              <a:gd name="connsiteX1051" fmla="*/ 1042307 w 1878763"/>
              <a:gd name="connsiteY1051" fmla="*/ 27432 h 1720299"/>
              <a:gd name="connsiteX1052" fmla="*/ 926798 w 1878763"/>
              <a:gd name="connsiteY1052" fmla="*/ 0 h 1720299"/>
              <a:gd name="connsiteX1053" fmla="*/ 954230 w 1878763"/>
              <a:gd name="connsiteY1053" fmla="*/ 0 h 1720299"/>
              <a:gd name="connsiteX1054" fmla="*/ 954230 w 1878763"/>
              <a:gd name="connsiteY1054" fmla="*/ 27432 h 1720299"/>
              <a:gd name="connsiteX1055" fmla="*/ 926798 w 1878763"/>
              <a:gd name="connsiteY1055" fmla="*/ 27432 h 1720299"/>
              <a:gd name="connsiteX1056" fmla="*/ 812625 w 1878763"/>
              <a:gd name="connsiteY1056" fmla="*/ 0 h 1720299"/>
              <a:gd name="connsiteX1057" fmla="*/ 840057 w 1878763"/>
              <a:gd name="connsiteY1057" fmla="*/ 0 h 1720299"/>
              <a:gd name="connsiteX1058" fmla="*/ 840057 w 1878763"/>
              <a:gd name="connsiteY1058" fmla="*/ 27432 h 1720299"/>
              <a:gd name="connsiteX1059" fmla="*/ 812625 w 1878763"/>
              <a:gd name="connsiteY1059" fmla="*/ 27432 h 1720299"/>
              <a:gd name="connsiteX1060" fmla="*/ 692450 w 1878763"/>
              <a:gd name="connsiteY1060" fmla="*/ 0 h 1720299"/>
              <a:gd name="connsiteX1061" fmla="*/ 719882 w 1878763"/>
              <a:gd name="connsiteY1061" fmla="*/ 0 h 1720299"/>
              <a:gd name="connsiteX1062" fmla="*/ 719882 w 1878763"/>
              <a:gd name="connsiteY1062" fmla="*/ 27432 h 1720299"/>
              <a:gd name="connsiteX1063" fmla="*/ 692450 w 1878763"/>
              <a:gd name="connsiteY1063" fmla="*/ 27432 h 1720299"/>
              <a:gd name="connsiteX1064" fmla="*/ 576340 w 1878763"/>
              <a:gd name="connsiteY1064" fmla="*/ 0 h 1720299"/>
              <a:gd name="connsiteX1065" fmla="*/ 603772 w 1878763"/>
              <a:gd name="connsiteY1065" fmla="*/ 0 h 1720299"/>
              <a:gd name="connsiteX1066" fmla="*/ 603772 w 1878763"/>
              <a:gd name="connsiteY1066" fmla="*/ 27432 h 1720299"/>
              <a:gd name="connsiteX1067" fmla="*/ 576340 w 1878763"/>
              <a:gd name="connsiteY1067" fmla="*/ 27432 h 1720299"/>
              <a:gd name="connsiteX1068" fmla="*/ 456165 w 1878763"/>
              <a:gd name="connsiteY1068" fmla="*/ 0 h 1720299"/>
              <a:gd name="connsiteX1069" fmla="*/ 483597 w 1878763"/>
              <a:gd name="connsiteY1069" fmla="*/ 0 h 1720299"/>
              <a:gd name="connsiteX1070" fmla="*/ 483597 w 1878763"/>
              <a:gd name="connsiteY1070" fmla="*/ 27432 h 1720299"/>
              <a:gd name="connsiteX1071" fmla="*/ 456165 w 1878763"/>
              <a:gd name="connsiteY1071" fmla="*/ 27432 h 1720299"/>
              <a:gd name="connsiteX1072" fmla="*/ 340656 w 1878763"/>
              <a:gd name="connsiteY1072" fmla="*/ 0 h 1720299"/>
              <a:gd name="connsiteX1073" fmla="*/ 368088 w 1878763"/>
              <a:gd name="connsiteY1073" fmla="*/ 0 h 1720299"/>
              <a:gd name="connsiteX1074" fmla="*/ 368088 w 1878763"/>
              <a:gd name="connsiteY1074" fmla="*/ 27432 h 1720299"/>
              <a:gd name="connsiteX1075" fmla="*/ 340656 w 1878763"/>
              <a:gd name="connsiteY1075" fmla="*/ 27432 h 1720299"/>
              <a:gd name="connsiteX1076" fmla="*/ 226483 w 1878763"/>
              <a:gd name="connsiteY1076" fmla="*/ 0 h 1720299"/>
              <a:gd name="connsiteX1077" fmla="*/ 253915 w 1878763"/>
              <a:gd name="connsiteY1077" fmla="*/ 0 h 1720299"/>
              <a:gd name="connsiteX1078" fmla="*/ 253915 w 1878763"/>
              <a:gd name="connsiteY1078" fmla="*/ 27432 h 1720299"/>
              <a:gd name="connsiteX1079" fmla="*/ 226483 w 1878763"/>
              <a:gd name="connsiteY1079" fmla="*/ 27432 h 1720299"/>
              <a:gd name="connsiteX1080" fmla="*/ 114173 w 1878763"/>
              <a:gd name="connsiteY1080" fmla="*/ 0 h 1720299"/>
              <a:gd name="connsiteX1081" fmla="*/ 141605 w 1878763"/>
              <a:gd name="connsiteY1081" fmla="*/ 0 h 1720299"/>
              <a:gd name="connsiteX1082" fmla="*/ 141605 w 1878763"/>
              <a:gd name="connsiteY1082" fmla="*/ 27432 h 1720299"/>
              <a:gd name="connsiteX1083" fmla="*/ 114173 w 1878763"/>
              <a:gd name="connsiteY1083" fmla="*/ 27432 h 1720299"/>
              <a:gd name="connsiteX1084" fmla="*/ 0 w 1878763"/>
              <a:gd name="connsiteY1084" fmla="*/ 0 h 1720299"/>
              <a:gd name="connsiteX1085" fmla="*/ 27432 w 1878763"/>
              <a:gd name="connsiteY1085" fmla="*/ 0 h 1720299"/>
              <a:gd name="connsiteX1086" fmla="*/ 27432 w 1878763"/>
              <a:gd name="connsiteY1086" fmla="*/ 27432 h 1720299"/>
              <a:gd name="connsiteX1087" fmla="*/ 0 w 1878763"/>
              <a:gd name="connsiteY1087" fmla="*/ 27432 h 1720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</a:cxnLst>
            <a:rect l="l" t="t" r="r" b="b"/>
            <a:pathLst>
              <a:path w="1878763" h="1720299">
                <a:moveTo>
                  <a:pt x="1851331" y="1692867"/>
                </a:moveTo>
                <a:lnTo>
                  <a:pt x="1878763" y="1692867"/>
                </a:lnTo>
                <a:lnTo>
                  <a:pt x="1878763" y="1720299"/>
                </a:lnTo>
                <a:lnTo>
                  <a:pt x="1851331" y="1720299"/>
                </a:lnTo>
                <a:close/>
                <a:moveTo>
                  <a:pt x="1737031" y="1692867"/>
                </a:moveTo>
                <a:lnTo>
                  <a:pt x="1764463" y="1692867"/>
                </a:lnTo>
                <a:lnTo>
                  <a:pt x="1764463" y="1720299"/>
                </a:lnTo>
                <a:lnTo>
                  <a:pt x="1737031" y="1720299"/>
                </a:lnTo>
                <a:close/>
                <a:moveTo>
                  <a:pt x="1625112" y="1692867"/>
                </a:moveTo>
                <a:lnTo>
                  <a:pt x="1652544" y="1692867"/>
                </a:lnTo>
                <a:lnTo>
                  <a:pt x="1652544" y="1720299"/>
                </a:lnTo>
                <a:lnTo>
                  <a:pt x="1625112" y="1720299"/>
                </a:lnTo>
                <a:close/>
                <a:moveTo>
                  <a:pt x="1510812" y="1692867"/>
                </a:moveTo>
                <a:lnTo>
                  <a:pt x="1538244" y="1692867"/>
                </a:lnTo>
                <a:lnTo>
                  <a:pt x="1538244" y="1720299"/>
                </a:lnTo>
                <a:lnTo>
                  <a:pt x="1510812" y="1720299"/>
                </a:lnTo>
                <a:close/>
                <a:moveTo>
                  <a:pt x="1394702" y="1692867"/>
                </a:moveTo>
                <a:lnTo>
                  <a:pt x="1422134" y="1692867"/>
                </a:lnTo>
                <a:lnTo>
                  <a:pt x="1422134" y="1720299"/>
                </a:lnTo>
                <a:lnTo>
                  <a:pt x="1394702" y="1720299"/>
                </a:lnTo>
                <a:close/>
                <a:moveTo>
                  <a:pt x="1278592" y="1692867"/>
                </a:moveTo>
                <a:lnTo>
                  <a:pt x="1306024" y="1692867"/>
                </a:lnTo>
                <a:lnTo>
                  <a:pt x="1306024" y="1720299"/>
                </a:lnTo>
                <a:lnTo>
                  <a:pt x="1278592" y="1720299"/>
                </a:lnTo>
                <a:close/>
                <a:moveTo>
                  <a:pt x="1162482" y="1692867"/>
                </a:moveTo>
                <a:lnTo>
                  <a:pt x="1189914" y="1692867"/>
                </a:lnTo>
                <a:lnTo>
                  <a:pt x="1189914" y="1720299"/>
                </a:lnTo>
                <a:lnTo>
                  <a:pt x="1162482" y="1720299"/>
                </a:lnTo>
                <a:close/>
                <a:moveTo>
                  <a:pt x="1042307" y="1692867"/>
                </a:moveTo>
                <a:lnTo>
                  <a:pt x="1069739" y="1692867"/>
                </a:lnTo>
                <a:lnTo>
                  <a:pt x="1069739" y="1720299"/>
                </a:lnTo>
                <a:lnTo>
                  <a:pt x="1042307" y="1720299"/>
                </a:lnTo>
                <a:close/>
                <a:moveTo>
                  <a:pt x="926798" y="1692867"/>
                </a:moveTo>
                <a:lnTo>
                  <a:pt x="954230" y="1692867"/>
                </a:lnTo>
                <a:lnTo>
                  <a:pt x="954230" y="1720299"/>
                </a:lnTo>
                <a:lnTo>
                  <a:pt x="926798" y="1720299"/>
                </a:lnTo>
                <a:close/>
                <a:moveTo>
                  <a:pt x="812625" y="1692867"/>
                </a:moveTo>
                <a:lnTo>
                  <a:pt x="840057" y="1692867"/>
                </a:lnTo>
                <a:lnTo>
                  <a:pt x="840057" y="1720299"/>
                </a:lnTo>
                <a:lnTo>
                  <a:pt x="812625" y="1720299"/>
                </a:lnTo>
                <a:close/>
                <a:moveTo>
                  <a:pt x="692450" y="1692867"/>
                </a:moveTo>
                <a:lnTo>
                  <a:pt x="719882" y="1692867"/>
                </a:lnTo>
                <a:lnTo>
                  <a:pt x="719882" y="1720299"/>
                </a:lnTo>
                <a:lnTo>
                  <a:pt x="692450" y="1720299"/>
                </a:lnTo>
                <a:close/>
                <a:moveTo>
                  <a:pt x="576340" y="1692867"/>
                </a:moveTo>
                <a:lnTo>
                  <a:pt x="603772" y="1692867"/>
                </a:lnTo>
                <a:lnTo>
                  <a:pt x="603772" y="1720299"/>
                </a:lnTo>
                <a:lnTo>
                  <a:pt x="576340" y="1720299"/>
                </a:lnTo>
                <a:close/>
                <a:moveTo>
                  <a:pt x="456165" y="1692867"/>
                </a:moveTo>
                <a:lnTo>
                  <a:pt x="483597" y="1692867"/>
                </a:lnTo>
                <a:lnTo>
                  <a:pt x="483597" y="1720299"/>
                </a:lnTo>
                <a:lnTo>
                  <a:pt x="456165" y="1720299"/>
                </a:lnTo>
                <a:close/>
                <a:moveTo>
                  <a:pt x="340656" y="1692867"/>
                </a:moveTo>
                <a:lnTo>
                  <a:pt x="368088" y="1692867"/>
                </a:lnTo>
                <a:lnTo>
                  <a:pt x="368088" y="1720299"/>
                </a:lnTo>
                <a:lnTo>
                  <a:pt x="340656" y="1720299"/>
                </a:lnTo>
                <a:close/>
                <a:moveTo>
                  <a:pt x="226483" y="1692867"/>
                </a:moveTo>
                <a:lnTo>
                  <a:pt x="253915" y="1692867"/>
                </a:lnTo>
                <a:lnTo>
                  <a:pt x="253915" y="1720299"/>
                </a:lnTo>
                <a:lnTo>
                  <a:pt x="226483" y="1720299"/>
                </a:lnTo>
                <a:close/>
                <a:moveTo>
                  <a:pt x="114173" y="1692867"/>
                </a:moveTo>
                <a:lnTo>
                  <a:pt x="141605" y="1692867"/>
                </a:lnTo>
                <a:lnTo>
                  <a:pt x="141605" y="1720299"/>
                </a:lnTo>
                <a:lnTo>
                  <a:pt x="114173" y="1720299"/>
                </a:lnTo>
                <a:close/>
                <a:moveTo>
                  <a:pt x="0" y="1692867"/>
                </a:moveTo>
                <a:lnTo>
                  <a:pt x="27432" y="1692867"/>
                </a:lnTo>
                <a:lnTo>
                  <a:pt x="27432" y="1720299"/>
                </a:lnTo>
                <a:lnTo>
                  <a:pt x="0" y="1720299"/>
                </a:lnTo>
                <a:close/>
                <a:moveTo>
                  <a:pt x="1851331" y="1579360"/>
                </a:moveTo>
                <a:lnTo>
                  <a:pt x="1878763" y="1579360"/>
                </a:lnTo>
                <a:lnTo>
                  <a:pt x="1878763" y="1606792"/>
                </a:lnTo>
                <a:lnTo>
                  <a:pt x="1851331" y="1606792"/>
                </a:lnTo>
                <a:close/>
                <a:moveTo>
                  <a:pt x="1737031" y="1579360"/>
                </a:moveTo>
                <a:lnTo>
                  <a:pt x="1764463" y="1579360"/>
                </a:lnTo>
                <a:lnTo>
                  <a:pt x="1764463" y="1606792"/>
                </a:lnTo>
                <a:lnTo>
                  <a:pt x="1737031" y="1606792"/>
                </a:lnTo>
                <a:close/>
                <a:moveTo>
                  <a:pt x="1625112" y="1579360"/>
                </a:moveTo>
                <a:lnTo>
                  <a:pt x="1652544" y="1579360"/>
                </a:lnTo>
                <a:lnTo>
                  <a:pt x="1652544" y="1606792"/>
                </a:lnTo>
                <a:lnTo>
                  <a:pt x="1625112" y="1606792"/>
                </a:lnTo>
                <a:close/>
                <a:moveTo>
                  <a:pt x="1510812" y="1579360"/>
                </a:moveTo>
                <a:lnTo>
                  <a:pt x="1538244" y="1579360"/>
                </a:lnTo>
                <a:lnTo>
                  <a:pt x="1538244" y="1606792"/>
                </a:lnTo>
                <a:lnTo>
                  <a:pt x="1510812" y="1606792"/>
                </a:lnTo>
                <a:close/>
                <a:moveTo>
                  <a:pt x="1394702" y="1579360"/>
                </a:moveTo>
                <a:lnTo>
                  <a:pt x="1422134" y="1579360"/>
                </a:lnTo>
                <a:lnTo>
                  <a:pt x="1422134" y="1606792"/>
                </a:lnTo>
                <a:lnTo>
                  <a:pt x="1394702" y="1606792"/>
                </a:lnTo>
                <a:close/>
                <a:moveTo>
                  <a:pt x="1278592" y="1579360"/>
                </a:moveTo>
                <a:lnTo>
                  <a:pt x="1306024" y="1579360"/>
                </a:lnTo>
                <a:lnTo>
                  <a:pt x="1306024" y="1606792"/>
                </a:lnTo>
                <a:lnTo>
                  <a:pt x="1278592" y="1606792"/>
                </a:lnTo>
                <a:close/>
                <a:moveTo>
                  <a:pt x="1162482" y="1579360"/>
                </a:moveTo>
                <a:lnTo>
                  <a:pt x="1189914" y="1579360"/>
                </a:lnTo>
                <a:lnTo>
                  <a:pt x="1189914" y="1606792"/>
                </a:lnTo>
                <a:lnTo>
                  <a:pt x="1162482" y="1606792"/>
                </a:lnTo>
                <a:close/>
                <a:moveTo>
                  <a:pt x="1042307" y="1579360"/>
                </a:moveTo>
                <a:lnTo>
                  <a:pt x="1069739" y="1579360"/>
                </a:lnTo>
                <a:lnTo>
                  <a:pt x="1069739" y="1606792"/>
                </a:lnTo>
                <a:lnTo>
                  <a:pt x="1042307" y="1606792"/>
                </a:lnTo>
                <a:close/>
                <a:moveTo>
                  <a:pt x="926798" y="1579360"/>
                </a:moveTo>
                <a:lnTo>
                  <a:pt x="954230" y="1579360"/>
                </a:lnTo>
                <a:lnTo>
                  <a:pt x="954230" y="1606792"/>
                </a:lnTo>
                <a:lnTo>
                  <a:pt x="926798" y="1606792"/>
                </a:lnTo>
                <a:close/>
                <a:moveTo>
                  <a:pt x="812625" y="1579360"/>
                </a:moveTo>
                <a:lnTo>
                  <a:pt x="840057" y="1579360"/>
                </a:lnTo>
                <a:lnTo>
                  <a:pt x="840057" y="1606792"/>
                </a:lnTo>
                <a:lnTo>
                  <a:pt x="812625" y="1606792"/>
                </a:lnTo>
                <a:close/>
                <a:moveTo>
                  <a:pt x="692450" y="1579360"/>
                </a:moveTo>
                <a:lnTo>
                  <a:pt x="719882" y="1579360"/>
                </a:lnTo>
                <a:lnTo>
                  <a:pt x="719882" y="1606792"/>
                </a:lnTo>
                <a:lnTo>
                  <a:pt x="692450" y="1606792"/>
                </a:lnTo>
                <a:close/>
                <a:moveTo>
                  <a:pt x="576340" y="1579360"/>
                </a:moveTo>
                <a:lnTo>
                  <a:pt x="603772" y="1579360"/>
                </a:lnTo>
                <a:lnTo>
                  <a:pt x="603772" y="1606792"/>
                </a:lnTo>
                <a:lnTo>
                  <a:pt x="576340" y="1606792"/>
                </a:lnTo>
                <a:close/>
                <a:moveTo>
                  <a:pt x="456165" y="1579360"/>
                </a:moveTo>
                <a:lnTo>
                  <a:pt x="483597" y="1579360"/>
                </a:lnTo>
                <a:lnTo>
                  <a:pt x="483597" y="1606792"/>
                </a:lnTo>
                <a:lnTo>
                  <a:pt x="456165" y="1606792"/>
                </a:lnTo>
                <a:close/>
                <a:moveTo>
                  <a:pt x="340656" y="1579360"/>
                </a:moveTo>
                <a:lnTo>
                  <a:pt x="368088" y="1579360"/>
                </a:lnTo>
                <a:lnTo>
                  <a:pt x="368088" y="1606792"/>
                </a:lnTo>
                <a:lnTo>
                  <a:pt x="340656" y="1606792"/>
                </a:lnTo>
                <a:close/>
                <a:moveTo>
                  <a:pt x="226483" y="1579360"/>
                </a:moveTo>
                <a:lnTo>
                  <a:pt x="253915" y="1579360"/>
                </a:lnTo>
                <a:lnTo>
                  <a:pt x="253915" y="1606792"/>
                </a:lnTo>
                <a:lnTo>
                  <a:pt x="226483" y="1606792"/>
                </a:lnTo>
                <a:close/>
                <a:moveTo>
                  <a:pt x="114173" y="1579360"/>
                </a:moveTo>
                <a:lnTo>
                  <a:pt x="141605" y="1579360"/>
                </a:lnTo>
                <a:lnTo>
                  <a:pt x="141605" y="1606792"/>
                </a:lnTo>
                <a:lnTo>
                  <a:pt x="114173" y="1606792"/>
                </a:lnTo>
                <a:close/>
                <a:moveTo>
                  <a:pt x="0" y="1579360"/>
                </a:moveTo>
                <a:lnTo>
                  <a:pt x="27432" y="1579360"/>
                </a:lnTo>
                <a:lnTo>
                  <a:pt x="27432" y="1606792"/>
                </a:lnTo>
                <a:lnTo>
                  <a:pt x="0" y="1606792"/>
                </a:lnTo>
                <a:close/>
                <a:moveTo>
                  <a:pt x="1851331" y="1469030"/>
                </a:moveTo>
                <a:lnTo>
                  <a:pt x="1878763" y="1469030"/>
                </a:lnTo>
                <a:lnTo>
                  <a:pt x="1878763" y="1496462"/>
                </a:lnTo>
                <a:lnTo>
                  <a:pt x="1851331" y="1496462"/>
                </a:lnTo>
                <a:close/>
                <a:moveTo>
                  <a:pt x="1737031" y="1469030"/>
                </a:moveTo>
                <a:lnTo>
                  <a:pt x="1764463" y="1469030"/>
                </a:lnTo>
                <a:lnTo>
                  <a:pt x="1764463" y="1496462"/>
                </a:lnTo>
                <a:lnTo>
                  <a:pt x="1737031" y="1496462"/>
                </a:lnTo>
                <a:close/>
                <a:moveTo>
                  <a:pt x="1625112" y="1469030"/>
                </a:moveTo>
                <a:lnTo>
                  <a:pt x="1652544" y="1469030"/>
                </a:lnTo>
                <a:lnTo>
                  <a:pt x="1652544" y="1496462"/>
                </a:lnTo>
                <a:lnTo>
                  <a:pt x="1625112" y="1496462"/>
                </a:lnTo>
                <a:close/>
                <a:moveTo>
                  <a:pt x="1510812" y="1469030"/>
                </a:moveTo>
                <a:lnTo>
                  <a:pt x="1538244" y="1469030"/>
                </a:lnTo>
                <a:lnTo>
                  <a:pt x="1538244" y="1496462"/>
                </a:lnTo>
                <a:lnTo>
                  <a:pt x="1510812" y="1496462"/>
                </a:lnTo>
                <a:close/>
                <a:moveTo>
                  <a:pt x="1394702" y="1469030"/>
                </a:moveTo>
                <a:lnTo>
                  <a:pt x="1422134" y="1469030"/>
                </a:lnTo>
                <a:lnTo>
                  <a:pt x="1422134" y="1496462"/>
                </a:lnTo>
                <a:lnTo>
                  <a:pt x="1394702" y="1496462"/>
                </a:lnTo>
                <a:close/>
                <a:moveTo>
                  <a:pt x="1278592" y="1469030"/>
                </a:moveTo>
                <a:lnTo>
                  <a:pt x="1306024" y="1469030"/>
                </a:lnTo>
                <a:lnTo>
                  <a:pt x="1306024" y="1496462"/>
                </a:lnTo>
                <a:lnTo>
                  <a:pt x="1278592" y="1496462"/>
                </a:lnTo>
                <a:close/>
                <a:moveTo>
                  <a:pt x="1162482" y="1469030"/>
                </a:moveTo>
                <a:lnTo>
                  <a:pt x="1189914" y="1469030"/>
                </a:lnTo>
                <a:lnTo>
                  <a:pt x="1189914" y="1496462"/>
                </a:lnTo>
                <a:lnTo>
                  <a:pt x="1162482" y="1496462"/>
                </a:lnTo>
                <a:close/>
                <a:moveTo>
                  <a:pt x="1042307" y="1469030"/>
                </a:moveTo>
                <a:lnTo>
                  <a:pt x="1069739" y="1469030"/>
                </a:lnTo>
                <a:lnTo>
                  <a:pt x="1069739" y="1496462"/>
                </a:lnTo>
                <a:lnTo>
                  <a:pt x="1042307" y="1496462"/>
                </a:lnTo>
                <a:close/>
                <a:moveTo>
                  <a:pt x="926798" y="1469030"/>
                </a:moveTo>
                <a:lnTo>
                  <a:pt x="954230" y="1469030"/>
                </a:lnTo>
                <a:lnTo>
                  <a:pt x="954230" y="1496462"/>
                </a:lnTo>
                <a:lnTo>
                  <a:pt x="926798" y="1496462"/>
                </a:lnTo>
                <a:close/>
                <a:moveTo>
                  <a:pt x="812625" y="1469030"/>
                </a:moveTo>
                <a:lnTo>
                  <a:pt x="840057" y="1469030"/>
                </a:lnTo>
                <a:lnTo>
                  <a:pt x="840057" y="1496462"/>
                </a:lnTo>
                <a:lnTo>
                  <a:pt x="812625" y="1496462"/>
                </a:lnTo>
                <a:close/>
                <a:moveTo>
                  <a:pt x="692450" y="1469030"/>
                </a:moveTo>
                <a:lnTo>
                  <a:pt x="719882" y="1469030"/>
                </a:lnTo>
                <a:lnTo>
                  <a:pt x="719882" y="1496462"/>
                </a:lnTo>
                <a:lnTo>
                  <a:pt x="692450" y="1496462"/>
                </a:lnTo>
                <a:close/>
                <a:moveTo>
                  <a:pt x="576340" y="1469030"/>
                </a:moveTo>
                <a:lnTo>
                  <a:pt x="603772" y="1469030"/>
                </a:lnTo>
                <a:lnTo>
                  <a:pt x="603772" y="1496462"/>
                </a:lnTo>
                <a:lnTo>
                  <a:pt x="576340" y="1496462"/>
                </a:lnTo>
                <a:close/>
                <a:moveTo>
                  <a:pt x="456165" y="1469030"/>
                </a:moveTo>
                <a:lnTo>
                  <a:pt x="483597" y="1469030"/>
                </a:lnTo>
                <a:lnTo>
                  <a:pt x="483597" y="1496462"/>
                </a:lnTo>
                <a:lnTo>
                  <a:pt x="456165" y="1496462"/>
                </a:lnTo>
                <a:close/>
                <a:moveTo>
                  <a:pt x="340656" y="1469030"/>
                </a:moveTo>
                <a:lnTo>
                  <a:pt x="368088" y="1469030"/>
                </a:lnTo>
                <a:lnTo>
                  <a:pt x="368088" y="1496462"/>
                </a:lnTo>
                <a:lnTo>
                  <a:pt x="340656" y="1496462"/>
                </a:lnTo>
                <a:close/>
                <a:moveTo>
                  <a:pt x="226483" y="1469030"/>
                </a:moveTo>
                <a:lnTo>
                  <a:pt x="253915" y="1469030"/>
                </a:lnTo>
                <a:lnTo>
                  <a:pt x="253915" y="1496462"/>
                </a:lnTo>
                <a:lnTo>
                  <a:pt x="226483" y="1496462"/>
                </a:lnTo>
                <a:close/>
                <a:moveTo>
                  <a:pt x="114173" y="1469030"/>
                </a:moveTo>
                <a:lnTo>
                  <a:pt x="141605" y="1469030"/>
                </a:lnTo>
                <a:lnTo>
                  <a:pt x="141605" y="1496462"/>
                </a:lnTo>
                <a:lnTo>
                  <a:pt x="114173" y="1496462"/>
                </a:lnTo>
                <a:close/>
                <a:moveTo>
                  <a:pt x="0" y="1469030"/>
                </a:moveTo>
                <a:lnTo>
                  <a:pt x="27432" y="1469030"/>
                </a:lnTo>
                <a:lnTo>
                  <a:pt x="27432" y="1496462"/>
                </a:lnTo>
                <a:lnTo>
                  <a:pt x="0" y="1496462"/>
                </a:lnTo>
                <a:close/>
                <a:moveTo>
                  <a:pt x="1851331" y="1355523"/>
                </a:moveTo>
                <a:lnTo>
                  <a:pt x="1878763" y="1355523"/>
                </a:lnTo>
                <a:lnTo>
                  <a:pt x="1878763" y="1382955"/>
                </a:lnTo>
                <a:lnTo>
                  <a:pt x="1851331" y="1382955"/>
                </a:lnTo>
                <a:close/>
                <a:moveTo>
                  <a:pt x="1737031" y="1355523"/>
                </a:moveTo>
                <a:lnTo>
                  <a:pt x="1764463" y="1355523"/>
                </a:lnTo>
                <a:lnTo>
                  <a:pt x="1764463" y="1382955"/>
                </a:lnTo>
                <a:lnTo>
                  <a:pt x="1737031" y="1382955"/>
                </a:lnTo>
                <a:close/>
                <a:moveTo>
                  <a:pt x="1625112" y="1355523"/>
                </a:moveTo>
                <a:lnTo>
                  <a:pt x="1652544" y="1355523"/>
                </a:lnTo>
                <a:lnTo>
                  <a:pt x="1652544" y="1382955"/>
                </a:lnTo>
                <a:lnTo>
                  <a:pt x="1625112" y="1382955"/>
                </a:lnTo>
                <a:close/>
                <a:moveTo>
                  <a:pt x="1510812" y="1355523"/>
                </a:moveTo>
                <a:lnTo>
                  <a:pt x="1538244" y="1355523"/>
                </a:lnTo>
                <a:lnTo>
                  <a:pt x="1538244" y="1382955"/>
                </a:lnTo>
                <a:lnTo>
                  <a:pt x="1510812" y="1382955"/>
                </a:lnTo>
                <a:close/>
                <a:moveTo>
                  <a:pt x="1394702" y="1355523"/>
                </a:moveTo>
                <a:lnTo>
                  <a:pt x="1422134" y="1355523"/>
                </a:lnTo>
                <a:lnTo>
                  <a:pt x="1422134" y="1382955"/>
                </a:lnTo>
                <a:lnTo>
                  <a:pt x="1394702" y="1382955"/>
                </a:lnTo>
                <a:close/>
                <a:moveTo>
                  <a:pt x="1278592" y="1355523"/>
                </a:moveTo>
                <a:lnTo>
                  <a:pt x="1306024" y="1355523"/>
                </a:lnTo>
                <a:lnTo>
                  <a:pt x="1306024" y="1382955"/>
                </a:lnTo>
                <a:lnTo>
                  <a:pt x="1278592" y="1382955"/>
                </a:lnTo>
                <a:close/>
                <a:moveTo>
                  <a:pt x="1162482" y="1355523"/>
                </a:moveTo>
                <a:lnTo>
                  <a:pt x="1189914" y="1355523"/>
                </a:lnTo>
                <a:lnTo>
                  <a:pt x="1189914" y="1382955"/>
                </a:lnTo>
                <a:lnTo>
                  <a:pt x="1162482" y="1382955"/>
                </a:lnTo>
                <a:close/>
                <a:moveTo>
                  <a:pt x="1042307" y="1355523"/>
                </a:moveTo>
                <a:lnTo>
                  <a:pt x="1069739" y="1355523"/>
                </a:lnTo>
                <a:lnTo>
                  <a:pt x="1069739" y="1382955"/>
                </a:lnTo>
                <a:lnTo>
                  <a:pt x="1042307" y="1382955"/>
                </a:lnTo>
                <a:close/>
                <a:moveTo>
                  <a:pt x="926798" y="1355523"/>
                </a:moveTo>
                <a:lnTo>
                  <a:pt x="954230" y="1355523"/>
                </a:lnTo>
                <a:lnTo>
                  <a:pt x="954230" y="1382955"/>
                </a:lnTo>
                <a:lnTo>
                  <a:pt x="926798" y="1382955"/>
                </a:lnTo>
                <a:close/>
                <a:moveTo>
                  <a:pt x="812625" y="1355523"/>
                </a:moveTo>
                <a:lnTo>
                  <a:pt x="840057" y="1355523"/>
                </a:lnTo>
                <a:lnTo>
                  <a:pt x="840057" y="1382955"/>
                </a:lnTo>
                <a:lnTo>
                  <a:pt x="812625" y="1382955"/>
                </a:lnTo>
                <a:close/>
                <a:moveTo>
                  <a:pt x="692450" y="1355523"/>
                </a:moveTo>
                <a:lnTo>
                  <a:pt x="719882" y="1355523"/>
                </a:lnTo>
                <a:lnTo>
                  <a:pt x="719882" y="1382955"/>
                </a:lnTo>
                <a:lnTo>
                  <a:pt x="692450" y="1382955"/>
                </a:lnTo>
                <a:close/>
                <a:moveTo>
                  <a:pt x="576340" y="1355523"/>
                </a:moveTo>
                <a:lnTo>
                  <a:pt x="603772" y="1355523"/>
                </a:lnTo>
                <a:lnTo>
                  <a:pt x="603772" y="1382955"/>
                </a:lnTo>
                <a:lnTo>
                  <a:pt x="576340" y="1382955"/>
                </a:lnTo>
                <a:close/>
                <a:moveTo>
                  <a:pt x="456165" y="1355523"/>
                </a:moveTo>
                <a:lnTo>
                  <a:pt x="483597" y="1355523"/>
                </a:lnTo>
                <a:lnTo>
                  <a:pt x="483597" y="1382955"/>
                </a:lnTo>
                <a:lnTo>
                  <a:pt x="456165" y="1382955"/>
                </a:lnTo>
                <a:close/>
                <a:moveTo>
                  <a:pt x="340656" y="1355523"/>
                </a:moveTo>
                <a:lnTo>
                  <a:pt x="368088" y="1355523"/>
                </a:lnTo>
                <a:lnTo>
                  <a:pt x="368088" y="1382955"/>
                </a:lnTo>
                <a:lnTo>
                  <a:pt x="340656" y="1382955"/>
                </a:lnTo>
                <a:close/>
                <a:moveTo>
                  <a:pt x="226483" y="1355523"/>
                </a:moveTo>
                <a:lnTo>
                  <a:pt x="253915" y="1355523"/>
                </a:lnTo>
                <a:lnTo>
                  <a:pt x="253915" y="1382955"/>
                </a:lnTo>
                <a:lnTo>
                  <a:pt x="226483" y="1382955"/>
                </a:lnTo>
                <a:close/>
                <a:moveTo>
                  <a:pt x="114173" y="1355523"/>
                </a:moveTo>
                <a:lnTo>
                  <a:pt x="141605" y="1355523"/>
                </a:lnTo>
                <a:lnTo>
                  <a:pt x="141605" y="1382955"/>
                </a:lnTo>
                <a:lnTo>
                  <a:pt x="114173" y="1382955"/>
                </a:lnTo>
                <a:close/>
                <a:moveTo>
                  <a:pt x="0" y="1355523"/>
                </a:moveTo>
                <a:lnTo>
                  <a:pt x="27432" y="1355523"/>
                </a:lnTo>
                <a:lnTo>
                  <a:pt x="27432" y="1382955"/>
                </a:lnTo>
                <a:lnTo>
                  <a:pt x="0" y="1382955"/>
                </a:lnTo>
                <a:close/>
                <a:moveTo>
                  <a:pt x="1851331" y="1242220"/>
                </a:moveTo>
                <a:lnTo>
                  <a:pt x="1878763" y="1242220"/>
                </a:lnTo>
                <a:lnTo>
                  <a:pt x="1878763" y="1269652"/>
                </a:lnTo>
                <a:lnTo>
                  <a:pt x="1851331" y="1269652"/>
                </a:lnTo>
                <a:close/>
                <a:moveTo>
                  <a:pt x="1737031" y="1242220"/>
                </a:moveTo>
                <a:lnTo>
                  <a:pt x="1764463" y="1242220"/>
                </a:lnTo>
                <a:lnTo>
                  <a:pt x="1764463" y="1269652"/>
                </a:lnTo>
                <a:lnTo>
                  <a:pt x="1737031" y="1269652"/>
                </a:lnTo>
                <a:close/>
                <a:moveTo>
                  <a:pt x="1625112" y="1242220"/>
                </a:moveTo>
                <a:lnTo>
                  <a:pt x="1652544" y="1242220"/>
                </a:lnTo>
                <a:lnTo>
                  <a:pt x="1652544" y="1269652"/>
                </a:lnTo>
                <a:lnTo>
                  <a:pt x="1625112" y="1269652"/>
                </a:lnTo>
                <a:close/>
                <a:moveTo>
                  <a:pt x="1510812" y="1242220"/>
                </a:moveTo>
                <a:lnTo>
                  <a:pt x="1538244" y="1242220"/>
                </a:lnTo>
                <a:lnTo>
                  <a:pt x="1538244" y="1269652"/>
                </a:lnTo>
                <a:lnTo>
                  <a:pt x="1510812" y="1269652"/>
                </a:lnTo>
                <a:close/>
                <a:moveTo>
                  <a:pt x="1394702" y="1242220"/>
                </a:moveTo>
                <a:lnTo>
                  <a:pt x="1422134" y="1242220"/>
                </a:lnTo>
                <a:lnTo>
                  <a:pt x="1422134" y="1269652"/>
                </a:lnTo>
                <a:lnTo>
                  <a:pt x="1394702" y="1269652"/>
                </a:lnTo>
                <a:close/>
                <a:moveTo>
                  <a:pt x="1278592" y="1242220"/>
                </a:moveTo>
                <a:lnTo>
                  <a:pt x="1306024" y="1242220"/>
                </a:lnTo>
                <a:lnTo>
                  <a:pt x="1306024" y="1269652"/>
                </a:lnTo>
                <a:lnTo>
                  <a:pt x="1278592" y="1269652"/>
                </a:lnTo>
                <a:close/>
                <a:moveTo>
                  <a:pt x="1162482" y="1242220"/>
                </a:moveTo>
                <a:lnTo>
                  <a:pt x="1189914" y="1242220"/>
                </a:lnTo>
                <a:lnTo>
                  <a:pt x="1189914" y="1269652"/>
                </a:lnTo>
                <a:lnTo>
                  <a:pt x="1162482" y="1269652"/>
                </a:lnTo>
                <a:close/>
                <a:moveTo>
                  <a:pt x="1042307" y="1242220"/>
                </a:moveTo>
                <a:lnTo>
                  <a:pt x="1069739" y="1242220"/>
                </a:lnTo>
                <a:lnTo>
                  <a:pt x="1069739" y="1269652"/>
                </a:lnTo>
                <a:lnTo>
                  <a:pt x="1042307" y="1269652"/>
                </a:lnTo>
                <a:close/>
                <a:moveTo>
                  <a:pt x="926798" y="1242220"/>
                </a:moveTo>
                <a:lnTo>
                  <a:pt x="954230" y="1242220"/>
                </a:lnTo>
                <a:lnTo>
                  <a:pt x="954230" y="1269652"/>
                </a:lnTo>
                <a:lnTo>
                  <a:pt x="926798" y="1269652"/>
                </a:lnTo>
                <a:close/>
                <a:moveTo>
                  <a:pt x="812625" y="1242220"/>
                </a:moveTo>
                <a:lnTo>
                  <a:pt x="840057" y="1242220"/>
                </a:lnTo>
                <a:lnTo>
                  <a:pt x="840057" y="1269652"/>
                </a:lnTo>
                <a:lnTo>
                  <a:pt x="812625" y="1269652"/>
                </a:lnTo>
                <a:close/>
                <a:moveTo>
                  <a:pt x="692450" y="1242220"/>
                </a:moveTo>
                <a:lnTo>
                  <a:pt x="719882" y="1242220"/>
                </a:lnTo>
                <a:lnTo>
                  <a:pt x="719882" y="1269652"/>
                </a:lnTo>
                <a:lnTo>
                  <a:pt x="692450" y="1269652"/>
                </a:lnTo>
                <a:close/>
                <a:moveTo>
                  <a:pt x="576340" y="1242220"/>
                </a:moveTo>
                <a:lnTo>
                  <a:pt x="603772" y="1242220"/>
                </a:lnTo>
                <a:lnTo>
                  <a:pt x="603772" y="1269652"/>
                </a:lnTo>
                <a:lnTo>
                  <a:pt x="576340" y="1269652"/>
                </a:lnTo>
                <a:close/>
                <a:moveTo>
                  <a:pt x="456165" y="1242220"/>
                </a:moveTo>
                <a:lnTo>
                  <a:pt x="483597" y="1242220"/>
                </a:lnTo>
                <a:lnTo>
                  <a:pt x="483597" y="1269652"/>
                </a:lnTo>
                <a:lnTo>
                  <a:pt x="456165" y="1269652"/>
                </a:lnTo>
                <a:close/>
                <a:moveTo>
                  <a:pt x="340656" y="1242220"/>
                </a:moveTo>
                <a:lnTo>
                  <a:pt x="368088" y="1242220"/>
                </a:lnTo>
                <a:lnTo>
                  <a:pt x="368088" y="1269652"/>
                </a:lnTo>
                <a:lnTo>
                  <a:pt x="340656" y="1269652"/>
                </a:lnTo>
                <a:close/>
                <a:moveTo>
                  <a:pt x="226483" y="1242220"/>
                </a:moveTo>
                <a:lnTo>
                  <a:pt x="253915" y="1242220"/>
                </a:lnTo>
                <a:lnTo>
                  <a:pt x="253915" y="1269652"/>
                </a:lnTo>
                <a:lnTo>
                  <a:pt x="226483" y="1269652"/>
                </a:lnTo>
                <a:close/>
                <a:moveTo>
                  <a:pt x="114173" y="1242220"/>
                </a:moveTo>
                <a:lnTo>
                  <a:pt x="141605" y="1242220"/>
                </a:lnTo>
                <a:lnTo>
                  <a:pt x="141605" y="1269652"/>
                </a:lnTo>
                <a:lnTo>
                  <a:pt x="114173" y="1269652"/>
                </a:lnTo>
                <a:close/>
                <a:moveTo>
                  <a:pt x="0" y="1242220"/>
                </a:moveTo>
                <a:lnTo>
                  <a:pt x="27432" y="1242220"/>
                </a:lnTo>
                <a:lnTo>
                  <a:pt x="27432" y="1269652"/>
                </a:lnTo>
                <a:lnTo>
                  <a:pt x="0" y="1269652"/>
                </a:lnTo>
                <a:close/>
                <a:moveTo>
                  <a:pt x="1851331" y="1128713"/>
                </a:moveTo>
                <a:lnTo>
                  <a:pt x="1878763" y="1128713"/>
                </a:lnTo>
                <a:lnTo>
                  <a:pt x="1878763" y="1156145"/>
                </a:lnTo>
                <a:lnTo>
                  <a:pt x="1851331" y="1156145"/>
                </a:lnTo>
                <a:close/>
                <a:moveTo>
                  <a:pt x="1737031" y="1128713"/>
                </a:moveTo>
                <a:lnTo>
                  <a:pt x="1764463" y="1128713"/>
                </a:lnTo>
                <a:lnTo>
                  <a:pt x="1764463" y="1156145"/>
                </a:lnTo>
                <a:lnTo>
                  <a:pt x="1737031" y="1156145"/>
                </a:lnTo>
                <a:close/>
                <a:moveTo>
                  <a:pt x="1625112" y="1128713"/>
                </a:moveTo>
                <a:lnTo>
                  <a:pt x="1652544" y="1128713"/>
                </a:lnTo>
                <a:lnTo>
                  <a:pt x="1652544" y="1156145"/>
                </a:lnTo>
                <a:lnTo>
                  <a:pt x="1625112" y="1156145"/>
                </a:lnTo>
                <a:close/>
                <a:moveTo>
                  <a:pt x="1510812" y="1128713"/>
                </a:moveTo>
                <a:lnTo>
                  <a:pt x="1538244" y="1128713"/>
                </a:lnTo>
                <a:lnTo>
                  <a:pt x="1538244" y="1156145"/>
                </a:lnTo>
                <a:lnTo>
                  <a:pt x="1510812" y="1156145"/>
                </a:lnTo>
                <a:close/>
                <a:moveTo>
                  <a:pt x="1394702" y="1128713"/>
                </a:moveTo>
                <a:lnTo>
                  <a:pt x="1422134" y="1128713"/>
                </a:lnTo>
                <a:lnTo>
                  <a:pt x="1422134" y="1156145"/>
                </a:lnTo>
                <a:lnTo>
                  <a:pt x="1394702" y="1156145"/>
                </a:lnTo>
                <a:close/>
                <a:moveTo>
                  <a:pt x="1278592" y="1128713"/>
                </a:moveTo>
                <a:lnTo>
                  <a:pt x="1306024" y="1128713"/>
                </a:lnTo>
                <a:lnTo>
                  <a:pt x="1306024" y="1156145"/>
                </a:lnTo>
                <a:lnTo>
                  <a:pt x="1278592" y="1156145"/>
                </a:lnTo>
                <a:close/>
                <a:moveTo>
                  <a:pt x="1162482" y="1128713"/>
                </a:moveTo>
                <a:lnTo>
                  <a:pt x="1189914" y="1128713"/>
                </a:lnTo>
                <a:lnTo>
                  <a:pt x="1189914" y="1156145"/>
                </a:lnTo>
                <a:lnTo>
                  <a:pt x="1162482" y="1156145"/>
                </a:lnTo>
                <a:close/>
                <a:moveTo>
                  <a:pt x="1042307" y="1128713"/>
                </a:moveTo>
                <a:lnTo>
                  <a:pt x="1069739" y="1128713"/>
                </a:lnTo>
                <a:lnTo>
                  <a:pt x="1069739" y="1156145"/>
                </a:lnTo>
                <a:lnTo>
                  <a:pt x="1042307" y="1156145"/>
                </a:lnTo>
                <a:close/>
                <a:moveTo>
                  <a:pt x="926798" y="1128713"/>
                </a:moveTo>
                <a:lnTo>
                  <a:pt x="954230" y="1128713"/>
                </a:lnTo>
                <a:lnTo>
                  <a:pt x="954230" y="1156145"/>
                </a:lnTo>
                <a:lnTo>
                  <a:pt x="926798" y="1156145"/>
                </a:lnTo>
                <a:close/>
                <a:moveTo>
                  <a:pt x="812625" y="1128713"/>
                </a:moveTo>
                <a:lnTo>
                  <a:pt x="840057" y="1128713"/>
                </a:lnTo>
                <a:lnTo>
                  <a:pt x="840057" y="1156145"/>
                </a:lnTo>
                <a:lnTo>
                  <a:pt x="812625" y="1156145"/>
                </a:lnTo>
                <a:close/>
                <a:moveTo>
                  <a:pt x="692450" y="1128713"/>
                </a:moveTo>
                <a:lnTo>
                  <a:pt x="719882" y="1128713"/>
                </a:lnTo>
                <a:lnTo>
                  <a:pt x="719882" y="1156145"/>
                </a:lnTo>
                <a:lnTo>
                  <a:pt x="692450" y="1156145"/>
                </a:lnTo>
                <a:close/>
                <a:moveTo>
                  <a:pt x="576340" y="1128713"/>
                </a:moveTo>
                <a:lnTo>
                  <a:pt x="603772" y="1128713"/>
                </a:lnTo>
                <a:lnTo>
                  <a:pt x="603772" y="1156145"/>
                </a:lnTo>
                <a:lnTo>
                  <a:pt x="576340" y="1156145"/>
                </a:lnTo>
                <a:close/>
                <a:moveTo>
                  <a:pt x="456165" y="1128713"/>
                </a:moveTo>
                <a:lnTo>
                  <a:pt x="483597" y="1128713"/>
                </a:lnTo>
                <a:lnTo>
                  <a:pt x="483597" y="1156145"/>
                </a:lnTo>
                <a:lnTo>
                  <a:pt x="456165" y="1156145"/>
                </a:lnTo>
                <a:close/>
                <a:moveTo>
                  <a:pt x="340656" y="1128713"/>
                </a:moveTo>
                <a:lnTo>
                  <a:pt x="368088" y="1128713"/>
                </a:lnTo>
                <a:lnTo>
                  <a:pt x="368088" y="1156145"/>
                </a:lnTo>
                <a:lnTo>
                  <a:pt x="340656" y="1156145"/>
                </a:lnTo>
                <a:close/>
                <a:moveTo>
                  <a:pt x="226483" y="1128713"/>
                </a:moveTo>
                <a:lnTo>
                  <a:pt x="253915" y="1128713"/>
                </a:lnTo>
                <a:lnTo>
                  <a:pt x="253915" y="1156145"/>
                </a:lnTo>
                <a:lnTo>
                  <a:pt x="226483" y="1156145"/>
                </a:lnTo>
                <a:close/>
                <a:moveTo>
                  <a:pt x="114173" y="1128713"/>
                </a:moveTo>
                <a:lnTo>
                  <a:pt x="141605" y="1128713"/>
                </a:lnTo>
                <a:lnTo>
                  <a:pt x="141605" y="1156145"/>
                </a:lnTo>
                <a:lnTo>
                  <a:pt x="114173" y="1156145"/>
                </a:lnTo>
                <a:close/>
                <a:moveTo>
                  <a:pt x="0" y="1128713"/>
                </a:moveTo>
                <a:lnTo>
                  <a:pt x="27432" y="1128713"/>
                </a:lnTo>
                <a:lnTo>
                  <a:pt x="27432" y="1156145"/>
                </a:lnTo>
                <a:lnTo>
                  <a:pt x="0" y="1156145"/>
                </a:lnTo>
                <a:close/>
                <a:moveTo>
                  <a:pt x="1851331" y="1018383"/>
                </a:moveTo>
                <a:lnTo>
                  <a:pt x="1878763" y="1018383"/>
                </a:lnTo>
                <a:lnTo>
                  <a:pt x="1878763" y="1045815"/>
                </a:lnTo>
                <a:lnTo>
                  <a:pt x="1851331" y="1045815"/>
                </a:lnTo>
                <a:close/>
                <a:moveTo>
                  <a:pt x="1737031" y="1018383"/>
                </a:moveTo>
                <a:lnTo>
                  <a:pt x="1764463" y="1018383"/>
                </a:lnTo>
                <a:lnTo>
                  <a:pt x="1764463" y="1045815"/>
                </a:lnTo>
                <a:lnTo>
                  <a:pt x="1737031" y="1045815"/>
                </a:lnTo>
                <a:close/>
                <a:moveTo>
                  <a:pt x="1625112" y="1018383"/>
                </a:moveTo>
                <a:lnTo>
                  <a:pt x="1652544" y="1018383"/>
                </a:lnTo>
                <a:lnTo>
                  <a:pt x="1652544" y="1045815"/>
                </a:lnTo>
                <a:lnTo>
                  <a:pt x="1625112" y="1045815"/>
                </a:lnTo>
                <a:close/>
                <a:moveTo>
                  <a:pt x="1510812" y="1018383"/>
                </a:moveTo>
                <a:lnTo>
                  <a:pt x="1538244" y="1018383"/>
                </a:lnTo>
                <a:lnTo>
                  <a:pt x="1538244" y="1045815"/>
                </a:lnTo>
                <a:lnTo>
                  <a:pt x="1510812" y="1045815"/>
                </a:lnTo>
                <a:close/>
                <a:moveTo>
                  <a:pt x="1394702" y="1018383"/>
                </a:moveTo>
                <a:lnTo>
                  <a:pt x="1422134" y="1018383"/>
                </a:lnTo>
                <a:lnTo>
                  <a:pt x="1422134" y="1045815"/>
                </a:lnTo>
                <a:lnTo>
                  <a:pt x="1394702" y="1045815"/>
                </a:lnTo>
                <a:close/>
                <a:moveTo>
                  <a:pt x="1278592" y="1018383"/>
                </a:moveTo>
                <a:lnTo>
                  <a:pt x="1306024" y="1018383"/>
                </a:lnTo>
                <a:lnTo>
                  <a:pt x="1306024" y="1045815"/>
                </a:lnTo>
                <a:lnTo>
                  <a:pt x="1278592" y="1045815"/>
                </a:lnTo>
                <a:close/>
                <a:moveTo>
                  <a:pt x="1162482" y="1018383"/>
                </a:moveTo>
                <a:lnTo>
                  <a:pt x="1189914" y="1018383"/>
                </a:lnTo>
                <a:lnTo>
                  <a:pt x="1189914" y="1045815"/>
                </a:lnTo>
                <a:lnTo>
                  <a:pt x="1162482" y="1045815"/>
                </a:lnTo>
                <a:close/>
                <a:moveTo>
                  <a:pt x="1042307" y="1018383"/>
                </a:moveTo>
                <a:lnTo>
                  <a:pt x="1069739" y="1018383"/>
                </a:lnTo>
                <a:lnTo>
                  <a:pt x="1069739" y="1045815"/>
                </a:lnTo>
                <a:lnTo>
                  <a:pt x="1042307" y="1045815"/>
                </a:lnTo>
                <a:close/>
                <a:moveTo>
                  <a:pt x="926798" y="1018383"/>
                </a:moveTo>
                <a:lnTo>
                  <a:pt x="954230" y="1018383"/>
                </a:lnTo>
                <a:lnTo>
                  <a:pt x="954230" y="1045815"/>
                </a:lnTo>
                <a:lnTo>
                  <a:pt x="926798" y="1045815"/>
                </a:lnTo>
                <a:close/>
                <a:moveTo>
                  <a:pt x="812625" y="1018383"/>
                </a:moveTo>
                <a:lnTo>
                  <a:pt x="840057" y="1018383"/>
                </a:lnTo>
                <a:lnTo>
                  <a:pt x="840057" y="1045815"/>
                </a:lnTo>
                <a:lnTo>
                  <a:pt x="812625" y="1045815"/>
                </a:lnTo>
                <a:close/>
                <a:moveTo>
                  <a:pt x="692450" y="1018383"/>
                </a:moveTo>
                <a:lnTo>
                  <a:pt x="719882" y="1018383"/>
                </a:lnTo>
                <a:lnTo>
                  <a:pt x="719882" y="1045815"/>
                </a:lnTo>
                <a:lnTo>
                  <a:pt x="692450" y="1045815"/>
                </a:lnTo>
                <a:close/>
                <a:moveTo>
                  <a:pt x="576340" y="1018383"/>
                </a:moveTo>
                <a:lnTo>
                  <a:pt x="603772" y="1018383"/>
                </a:lnTo>
                <a:lnTo>
                  <a:pt x="603772" y="1045815"/>
                </a:lnTo>
                <a:lnTo>
                  <a:pt x="576340" y="1045815"/>
                </a:lnTo>
                <a:close/>
                <a:moveTo>
                  <a:pt x="456165" y="1018383"/>
                </a:moveTo>
                <a:lnTo>
                  <a:pt x="483597" y="1018383"/>
                </a:lnTo>
                <a:lnTo>
                  <a:pt x="483597" y="1045815"/>
                </a:lnTo>
                <a:lnTo>
                  <a:pt x="456165" y="1045815"/>
                </a:lnTo>
                <a:close/>
                <a:moveTo>
                  <a:pt x="340656" y="1018383"/>
                </a:moveTo>
                <a:lnTo>
                  <a:pt x="368088" y="1018383"/>
                </a:lnTo>
                <a:lnTo>
                  <a:pt x="368088" y="1045815"/>
                </a:lnTo>
                <a:lnTo>
                  <a:pt x="340656" y="1045815"/>
                </a:lnTo>
                <a:close/>
                <a:moveTo>
                  <a:pt x="226483" y="1018383"/>
                </a:moveTo>
                <a:lnTo>
                  <a:pt x="253915" y="1018383"/>
                </a:lnTo>
                <a:lnTo>
                  <a:pt x="253915" y="1045815"/>
                </a:lnTo>
                <a:lnTo>
                  <a:pt x="226483" y="1045815"/>
                </a:lnTo>
                <a:close/>
                <a:moveTo>
                  <a:pt x="114173" y="1018383"/>
                </a:moveTo>
                <a:lnTo>
                  <a:pt x="141605" y="1018383"/>
                </a:lnTo>
                <a:lnTo>
                  <a:pt x="141605" y="1045815"/>
                </a:lnTo>
                <a:lnTo>
                  <a:pt x="114173" y="1045815"/>
                </a:lnTo>
                <a:close/>
                <a:moveTo>
                  <a:pt x="0" y="1018383"/>
                </a:moveTo>
                <a:lnTo>
                  <a:pt x="27432" y="1018383"/>
                </a:lnTo>
                <a:lnTo>
                  <a:pt x="27432" y="1045815"/>
                </a:lnTo>
                <a:lnTo>
                  <a:pt x="0" y="1045815"/>
                </a:lnTo>
                <a:close/>
                <a:moveTo>
                  <a:pt x="1851331" y="904876"/>
                </a:moveTo>
                <a:lnTo>
                  <a:pt x="1878763" y="904876"/>
                </a:lnTo>
                <a:lnTo>
                  <a:pt x="1878763" y="932308"/>
                </a:lnTo>
                <a:lnTo>
                  <a:pt x="1851331" y="932308"/>
                </a:lnTo>
                <a:close/>
                <a:moveTo>
                  <a:pt x="1737031" y="904876"/>
                </a:moveTo>
                <a:lnTo>
                  <a:pt x="1764463" y="904876"/>
                </a:lnTo>
                <a:lnTo>
                  <a:pt x="1764463" y="932308"/>
                </a:lnTo>
                <a:lnTo>
                  <a:pt x="1737031" y="932308"/>
                </a:lnTo>
                <a:close/>
                <a:moveTo>
                  <a:pt x="1625112" y="904876"/>
                </a:moveTo>
                <a:lnTo>
                  <a:pt x="1652544" y="904876"/>
                </a:lnTo>
                <a:lnTo>
                  <a:pt x="1652544" y="932308"/>
                </a:lnTo>
                <a:lnTo>
                  <a:pt x="1625112" y="932308"/>
                </a:lnTo>
                <a:close/>
                <a:moveTo>
                  <a:pt x="1510812" y="904876"/>
                </a:moveTo>
                <a:lnTo>
                  <a:pt x="1538244" y="904876"/>
                </a:lnTo>
                <a:lnTo>
                  <a:pt x="1538244" y="932308"/>
                </a:lnTo>
                <a:lnTo>
                  <a:pt x="1510812" y="932308"/>
                </a:lnTo>
                <a:close/>
                <a:moveTo>
                  <a:pt x="1394702" y="904876"/>
                </a:moveTo>
                <a:lnTo>
                  <a:pt x="1422134" y="904876"/>
                </a:lnTo>
                <a:lnTo>
                  <a:pt x="1422134" y="932308"/>
                </a:lnTo>
                <a:lnTo>
                  <a:pt x="1394702" y="932308"/>
                </a:lnTo>
                <a:close/>
                <a:moveTo>
                  <a:pt x="1278592" y="904876"/>
                </a:moveTo>
                <a:lnTo>
                  <a:pt x="1306024" y="904876"/>
                </a:lnTo>
                <a:lnTo>
                  <a:pt x="1306024" y="932308"/>
                </a:lnTo>
                <a:lnTo>
                  <a:pt x="1278592" y="932308"/>
                </a:lnTo>
                <a:close/>
                <a:moveTo>
                  <a:pt x="1162482" y="904876"/>
                </a:moveTo>
                <a:lnTo>
                  <a:pt x="1189914" y="904876"/>
                </a:lnTo>
                <a:lnTo>
                  <a:pt x="1189914" y="932308"/>
                </a:lnTo>
                <a:lnTo>
                  <a:pt x="1162482" y="932308"/>
                </a:lnTo>
                <a:close/>
                <a:moveTo>
                  <a:pt x="1042307" y="904876"/>
                </a:moveTo>
                <a:lnTo>
                  <a:pt x="1069739" y="904876"/>
                </a:lnTo>
                <a:lnTo>
                  <a:pt x="1069739" y="932308"/>
                </a:lnTo>
                <a:lnTo>
                  <a:pt x="1042307" y="932308"/>
                </a:lnTo>
                <a:close/>
                <a:moveTo>
                  <a:pt x="926798" y="904876"/>
                </a:moveTo>
                <a:lnTo>
                  <a:pt x="954230" y="904876"/>
                </a:lnTo>
                <a:lnTo>
                  <a:pt x="954230" y="932308"/>
                </a:lnTo>
                <a:lnTo>
                  <a:pt x="926798" y="932308"/>
                </a:lnTo>
                <a:close/>
                <a:moveTo>
                  <a:pt x="812625" y="904876"/>
                </a:moveTo>
                <a:lnTo>
                  <a:pt x="840057" y="904876"/>
                </a:lnTo>
                <a:lnTo>
                  <a:pt x="840057" y="932308"/>
                </a:lnTo>
                <a:lnTo>
                  <a:pt x="812625" y="932308"/>
                </a:lnTo>
                <a:close/>
                <a:moveTo>
                  <a:pt x="692450" y="904876"/>
                </a:moveTo>
                <a:lnTo>
                  <a:pt x="719882" y="904876"/>
                </a:lnTo>
                <a:lnTo>
                  <a:pt x="719882" y="932308"/>
                </a:lnTo>
                <a:lnTo>
                  <a:pt x="692450" y="932308"/>
                </a:lnTo>
                <a:close/>
                <a:moveTo>
                  <a:pt x="576340" y="904876"/>
                </a:moveTo>
                <a:lnTo>
                  <a:pt x="603772" y="904876"/>
                </a:lnTo>
                <a:lnTo>
                  <a:pt x="603772" y="932308"/>
                </a:lnTo>
                <a:lnTo>
                  <a:pt x="576340" y="932308"/>
                </a:lnTo>
                <a:close/>
                <a:moveTo>
                  <a:pt x="456165" y="904876"/>
                </a:moveTo>
                <a:lnTo>
                  <a:pt x="483597" y="904876"/>
                </a:lnTo>
                <a:lnTo>
                  <a:pt x="483597" y="932308"/>
                </a:lnTo>
                <a:lnTo>
                  <a:pt x="456165" y="932308"/>
                </a:lnTo>
                <a:close/>
                <a:moveTo>
                  <a:pt x="340656" y="904876"/>
                </a:moveTo>
                <a:lnTo>
                  <a:pt x="368088" y="904876"/>
                </a:lnTo>
                <a:lnTo>
                  <a:pt x="368088" y="932308"/>
                </a:lnTo>
                <a:lnTo>
                  <a:pt x="340656" y="932308"/>
                </a:lnTo>
                <a:close/>
                <a:moveTo>
                  <a:pt x="226483" y="904876"/>
                </a:moveTo>
                <a:lnTo>
                  <a:pt x="253915" y="904876"/>
                </a:lnTo>
                <a:lnTo>
                  <a:pt x="253915" y="932308"/>
                </a:lnTo>
                <a:lnTo>
                  <a:pt x="226483" y="932308"/>
                </a:lnTo>
                <a:close/>
                <a:moveTo>
                  <a:pt x="114173" y="904876"/>
                </a:moveTo>
                <a:lnTo>
                  <a:pt x="141605" y="904876"/>
                </a:lnTo>
                <a:lnTo>
                  <a:pt x="141605" y="932308"/>
                </a:lnTo>
                <a:lnTo>
                  <a:pt x="114173" y="932308"/>
                </a:lnTo>
                <a:close/>
                <a:moveTo>
                  <a:pt x="0" y="904876"/>
                </a:moveTo>
                <a:lnTo>
                  <a:pt x="27432" y="904876"/>
                </a:lnTo>
                <a:lnTo>
                  <a:pt x="27432" y="932308"/>
                </a:lnTo>
                <a:lnTo>
                  <a:pt x="0" y="932308"/>
                </a:lnTo>
                <a:close/>
                <a:moveTo>
                  <a:pt x="1851331" y="789782"/>
                </a:moveTo>
                <a:lnTo>
                  <a:pt x="1878763" y="789782"/>
                </a:lnTo>
                <a:lnTo>
                  <a:pt x="1878763" y="817214"/>
                </a:lnTo>
                <a:lnTo>
                  <a:pt x="1851331" y="817214"/>
                </a:lnTo>
                <a:close/>
                <a:moveTo>
                  <a:pt x="1737031" y="789782"/>
                </a:moveTo>
                <a:lnTo>
                  <a:pt x="1764463" y="789782"/>
                </a:lnTo>
                <a:lnTo>
                  <a:pt x="1764463" y="817214"/>
                </a:lnTo>
                <a:lnTo>
                  <a:pt x="1737031" y="817214"/>
                </a:lnTo>
                <a:close/>
                <a:moveTo>
                  <a:pt x="1625112" y="789782"/>
                </a:moveTo>
                <a:lnTo>
                  <a:pt x="1652544" y="789782"/>
                </a:lnTo>
                <a:lnTo>
                  <a:pt x="1652544" y="817214"/>
                </a:lnTo>
                <a:lnTo>
                  <a:pt x="1625112" y="817214"/>
                </a:lnTo>
                <a:close/>
                <a:moveTo>
                  <a:pt x="1510812" y="789782"/>
                </a:moveTo>
                <a:lnTo>
                  <a:pt x="1538244" y="789782"/>
                </a:lnTo>
                <a:lnTo>
                  <a:pt x="1538244" y="817214"/>
                </a:lnTo>
                <a:lnTo>
                  <a:pt x="1510812" y="817214"/>
                </a:lnTo>
                <a:close/>
                <a:moveTo>
                  <a:pt x="1394702" y="789782"/>
                </a:moveTo>
                <a:lnTo>
                  <a:pt x="1422134" y="789782"/>
                </a:lnTo>
                <a:lnTo>
                  <a:pt x="1422134" y="817214"/>
                </a:lnTo>
                <a:lnTo>
                  <a:pt x="1394702" y="817214"/>
                </a:lnTo>
                <a:close/>
                <a:moveTo>
                  <a:pt x="1278592" y="789782"/>
                </a:moveTo>
                <a:lnTo>
                  <a:pt x="1306024" y="789782"/>
                </a:lnTo>
                <a:lnTo>
                  <a:pt x="1306024" y="817214"/>
                </a:lnTo>
                <a:lnTo>
                  <a:pt x="1278592" y="817214"/>
                </a:lnTo>
                <a:close/>
                <a:moveTo>
                  <a:pt x="1162482" y="789782"/>
                </a:moveTo>
                <a:lnTo>
                  <a:pt x="1189914" y="789782"/>
                </a:lnTo>
                <a:lnTo>
                  <a:pt x="1189914" y="817214"/>
                </a:lnTo>
                <a:lnTo>
                  <a:pt x="1162482" y="817214"/>
                </a:lnTo>
                <a:close/>
                <a:moveTo>
                  <a:pt x="1042307" y="789782"/>
                </a:moveTo>
                <a:lnTo>
                  <a:pt x="1069739" y="789782"/>
                </a:lnTo>
                <a:lnTo>
                  <a:pt x="1069739" y="817214"/>
                </a:lnTo>
                <a:lnTo>
                  <a:pt x="1042307" y="817214"/>
                </a:lnTo>
                <a:close/>
                <a:moveTo>
                  <a:pt x="926798" y="789782"/>
                </a:moveTo>
                <a:lnTo>
                  <a:pt x="954230" y="789782"/>
                </a:lnTo>
                <a:lnTo>
                  <a:pt x="954230" y="817214"/>
                </a:lnTo>
                <a:lnTo>
                  <a:pt x="926798" y="817214"/>
                </a:lnTo>
                <a:close/>
                <a:moveTo>
                  <a:pt x="812625" y="789782"/>
                </a:moveTo>
                <a:lnTo>
                  <a:pt x="840057" y="789782"/>
                </a:lnTo>
                <a:lnTo>
                  <a:pt x="840057" y="817214"/>
                </a:lnTo>
                <a:lnTo>
                  <a:pt x="812625" y="817214"/>
                </a:lnTo>
                <a:close/>
                <a:moveTo>
                  <a:pt x="692450" y="789782"/>
                </a:moveTo>
                <a:lnTo>
                  <a:pt x="719882" y="789782"/>
                </a:lnTo>
                <a:lnTo>
                  <a:pt x="719882" y="817214"/>
                </a:lnTo>
                <a:lnTo>
                  <a:pt x="692450" y="817214"/>
                </a:lnTo>
                <a:close/>
                <a:moveTo>
                  <a:pt x="576340" y="789782"/>
                </a:moveTo>
                <a:lnTo>
                  <a:pt x="603772" y="789782"/>
                </a:lnTo>
                <a:lnTo>
                  <a:pt x="603772" y="817214"/>
                </a:lnTo>
                <a:lnTo>
                  <a:pt x="576340" y="817214"/>
                </a:lnTo>
                <a:close/>
                <a:moveTo>
                  <a:pt x="456165" y="789782"/>
                </a:moveTo>
                <a:lnTo>
                  <a:pt x="483597" y="789782"/>
                </a:lnTo>
                <a:lnTo>
                  <a:pt x="483597" y="817214"/>
                </a:lnTo>
                <a:lnTo>
                  <a:pt x="456165" y="817214"/>
                </a:lnTo>
                <a:close/>
                <a:moveTo>
                  <a:pt x="340656" y="789782"/>
                </a:moveTo>
                <a:lnTo>
                  <a:pt x="368088" y="789782"/>
                </a:lnTo>
                <a:lnTo>
                  <a:pt x="368088" y="817214"/>
                </a:lnTo>
                <a:lnTo>
                  <a:pt x="340656" y="817214"/>
                </a:lnTo>
                <a:close/>
                <a:moveTo>
                  <a:pt x="226483" y="789782"/>
                </a:moveTo>
                <a:lnTo>
                  <a:pt x="253915" y="789782"/>
                </a:lnTo>
                <a:lnTo>
                  <a:pt x="253915" y="817214"/>
                </a:lnTo>
                <a:lnTo>
                  <a:pt x="226483" y="817214"/>
                </a:lnTo>
                <a:close/>
                <a:moveTo>
                  <a:pt x="114173" y="789782"/>
                </a:moveTo>
                <a:lnTo>
                  <a:pt x="141605" y="789782"/>
                </a:lnTo>
                <a:lnTo>
                  <a:pt x="141605" y="817214"/>
                </a:lnTo>
                <a:lnTo>
                  <a:pt x="114173" y="817214"/>
                </a:lnTo>
                <a:close/>
                <a:moveTo>
                  <a:pt x="0" y="789782"/>
                </a:moveTo>
                <a:lnTo>
                  <a:pt x="27432" y="789782"/>
                </a:lnTo>
                <a:lnTo>
                  <a:pt x="27432" y="817214"/>
                </a:lnTo>
                <a:lnTo>
                  <a:pt x="0" y="817214"/>
                </a:lnTo>
                <a:close/>
                <a:moveTo>
                  <a:pt x="1851331" y="676275"/>
                </a:moveTo>
                <a:lnTo>
                  <a:pt x="1878763" y="676275"/>
                </a:lnTo>
                <a:lnTo>
                  <a:pt x="1878763" y="703707"/>
                </a:lnTo>
                <a:lnTo>
                  <a:pt x="1851331" y="703707"/>
                </a:lnTo>
                <a:close/>
                <a:moveTo>
                  <a:pt x="1737031" y="676275"/>
                </a:moveTo>
                <a:lnTo>
                  <a:pt x="1764463" y="676275"/>
                </a:lnTo>
                <a:lnTo>
                  <a:pt x="1764463" y="703707"/>
                </a:lnTo>
                <a:lnTo>
                  <a:pt x="1737031" y="703707"/>
                </a:lnTo>
                <a:close/>
                <a:moveTo>
                  <a:pt x="1625112" y="676275"/>
                </a:moveTo>
                <a:lnTo>
                  <a:pt x="1652544" y="676275"/>
                </a:lnTo>
                <a:lnTo>
                  <a:pt x="1652544" y="703707"/>
                </a:lnTo>
                <a:lnTo>
                  <a:pt x="1625112" y="703707"/>
                </a:lnTo>
                <a:close/>
                <a:moveTo>
                  <a:pt x="1510812" y="676275"/>
                </a:moveTo>
                <a:lnTo>
                  <a:pt x="1538244" y="676275"/>
                </a:lnTo>
                <a:lnTo>
                  <a:pt x="1538244" y="703707"/>
                </a:lnTo>
                <a:lnTo>
                  <a:pt x="1510812" y="703707"/>
                </a:lnTo>
                <a:close/>
                <a:moveTo>
                  <a:pt x="1394702" y="676275"/>
                </a:moveTo>
                <a:lnTo>
                  <a:pt x="1422134" y="676275"/>
                </a:lnTo>
                <a:lnTo>
                  <a:pt x="1422134" y="703707"/>
                </a:lnTo>
                <a:lnTo>
                  <a:pt x="1394702" y="703707"/>
                </a:lnTo>
                <a:close/>
                <a:moveTo>
                  <a:pt x="1278592" y="676275"/>
                </a:moveTo>
                <a:lnTo>
                  <a:pt x="1306024" y="676275"/>
                </a:lnTo>
                <a:lnTo>
                  <a:pt x="1306024" y="703707"/>
                </a:lnTo>
                <a:lnTo>
                  <a:pt x="1278592" y="703707"/>
                </a:lnTo>
                <a:close/>
                <a:moveTo>
                  <a:pt x="1162482" y="676275"/>
                </a:moveTo>
                <a:lnTo>
                  <a:pt x="1189914" y="676275"/>
                </a:lnTo>
                <a:lnTo>
                  <a:pt x="1189914" y="703707"/>
                </a:lnTo>
                <a:lnTo>
                  <a:pt x="1162482" y="703707"/>
                </a:lnTo>
                <a:close/>
                <a:moveTo>
                  <a:pt x="1042307" y="676275"/>
                </a:moveTo>
                <a:lnTo>
                  <a:pt x="1069739" y="676275"/>
                </a:lnTo>
                <a:lnTo>
                  <a:pt x="1069739" y="703707"/>
                </a:lnTo>
                <a:lnTo>
                  <a:pt x="1042307" y="703707"/>
                </a:lnTo>
                <a:close/>
                <a:moveTo>
                  <a:pt x="926798" y="676275"/>
                </a:moveTo>
                <a:lnTo>
                  <a:pt x="954230" y="676275"/>
                </a:lnTo>
                <a:lnTo>
                  <a:pt x="954230" y="703707"/>
                </a:lnTo>
                <a:lnTo>
                  <a:pt x="926798" y="703707"/>
                </a:lnTo>
                <a:close/>
                <a:moveTo>
                  <a:pt x="812625" y="676275"/>
                </a:moveTo>
                <a:lnTo>
                  <a:pt x="840057" y="676275"/>
                </a:lnTo>
                <a:lnTo>
                  <a:pt x="840057" y="703707"/>
                </a:lnTo>
                <a:lnTo>
                  <a:pt x="812625" y="703707"/>
                </a:lnTo>
                <a:close/>
                <a:moveTo>
                  <a:pt x="692450" y="676275"/>
                </a:moveTo>
                <a:lnTo>
                  <a:pt x="719882" y="676275"/>
                </a:lnTo>
                <a:lnTo>
                  <a:pt x="719882" y="703707"/>
                </a:lnTo>
                <a:lnTo>
                  <a:pt x="692450" y="703707"/>
                </a:lnTo>
                <a:close/>
                <a:moveTo>
                  <a:pt x="576340" y="676275"/>
                </a:moveTo>
                <a:lnTo>
                  <a:pt x="603772" y="676275"/>
                </a:lnTo>
                <a:lnTo>
                  <a:pt x="603772" y="703707"/>
                </a:lnTo>
                <a:lnTo>
                  <a:pt x="576340" y="703707"/>
                </a:lnTo>
                <a:close/>
                <a:moveTo>
                  <a:pt x="456165" y="676275"/>
                </a:moveTo>
                <a:lnTo>
                  <a:pt x="483597" y="676275"/>
                </a:lnTo>
                <a:lnTo>
                  <a:pt x="483597" y="703707"/>
                </a:lnTo>
                <a:lnTo>
                  <a:pt x="456165" y="703707"/>
                </a:lnTo>
                <a:close/>
                <a:moveTo>
                  <a:pt x="340656" y="676275"/>
                </a:moveTo>
                <a:lnTo>
                  <a:pt x="368088" y="676275"/>
                </a:lnTo>
                <a:lnTo>
                  <a:pt x="368088" y="703707"/>
                </a:lnTo>
                <a:lnTo>
                  <a:pt x="340656" y="703707"/>
                </a:lnTo>
                <a:close/>
                <a:moveTo>
                  <a:pt x="226483" y="676275"/>
                </a:moveTo>
                <a:lnTo>
                  <a:pt x="253915" y="676275"/>
                </a:lnTo>
                <a:lnTo>
                  <a:pt x="253915" y="703707"/>
                </a:lnTo>
                <a:lnTo>
                  <a:pt x="226483" y="703707"/>
                </a:lnTo>
                <a:close/>
                <a:moveTo>
                  <a:pt x="114173" y="676275"/>
                </a:moveTo>
                <a:lnTo>
                  <a:pt x="141605" y="676275"/>
                </a:lnTo>
                <a:lnTo>
                  <a:pt x="141605" y="703707"/>
                </a:lnTo>
                <a:lnTo>
                  <a:pt x="114173" y="703707"/>
                </a:lnTo>
                <a:close/>
                <a:moveTo>
                  <a:pt x="0" y="676275"/>
                </a:moveTo>
                <a:lnTo>
                  <a:pt x="27432" y="676275"/>
                </a:lnTo>
                <a:lnTo>
                  <a:pt x="27432" y="703707"/>
                </a:lnTo>
                <a:lnTo>
                  <a:pt x="0" y="703707"/>
                </a:lnTo>
                <a:close/>
                <a:moveTo>
                  <a:pt x="1851331" y="565945"/>
                </a:moveTo>
                <a:lnTo>
                  <a:pt x="1878763" y="565945"/>
                </a:lnTo>
                <a:lnTo>
                  <a:pt x="1878763" y="593377"/>
                </a:lnTo>
                <a:lnTo>
                  <a:pt x="1851331" y="593377"/>
                </a:lnTo>
                <a:close/>
                <a:moveTo>
                  <a:pt x="1737031" y="565945"/>
                </a:moveTo>
                <a:lnTo>
                  <a:pt x="1764463" y="565945"/>
                </a:lnTo>
                <a:lnTo>
                  <a:pt x="1764463" y="593377"/>
                </a:lnTo>
                <a:lnTo>
                  <a:pt x="1737031" y="593377"/>
                </a:lnTo>
                <a:close/>
                <a:moveTo>
                  <a:pt x="1625112" y="565945"/>
                </a:moveTo>
                <a:lnTo>
                  <a:pt x="1652544" y="565945"/>
                </a:lnTo>
                <a:lnTo>
                  <a:pt x="1652544" y="593377"/>
                </a:lnTo>
                <a:lnTo>
                  <a:pt x="1625112" y="593377"/>
                </a:lnTo>
                <a:close/>
                <a:moveTo>
                  <a:pt x="1510812" y="565945"/>
                </a:moveTo>
                <a:lnTo>
                  <a:pt x="1538244" y="565945"/>
                </a:lnTo>
                <a:lnTo>
                  <a:pt x="1538244" y="593377"/>
                </a:lnTo>
                <a:lnTo>
                  <a:pt x="1510812" y="593377"/>
                </a:lnTo>
                <a:close/>
                <a:moveTo>
                  <a:pt x="1394702" y="565945"/>
                </a:moveTo>
                <a:lnTo>
                  <a:pt x="1422134" y="565945"/>
                </a:lnTo>
                <a:lnTo>
                  <a:pt x="1422134" y="593377"/>
                </a:lnTo>
                <a:lnTo>
                  <a:pt x="1394702" y="593377"/>
                </a:lnTo>
                <a:close/>
                <a:moveTo>
                  <a:pt x="1278592" y="565945"/>
                </a:moveTo>
                <a:lnTo>
                  <a:pt x="1306024" y="565945"/>
                </a:lnTo>
                <a:lnTo>
                  <a:pt x="1306024" y="593377"/>
                </a:lnTo>
                <a:lnTo>
                  <a:pt x="1278592" y="593377"/>
                </a:lnTo>
                <a:close/>
                <a:moveTo>
                  <a:pt x="1162482" y="565945"/>
                </a:moveTo>
                <a:lnTo>
                  <a:pt x="1189914" y="565945"/>
                </a:lnTo>
                <a:lnTo>
                  <a:pt x="1189914" y="593377"/>
                </a:lnTo>
                <a:lnTo>
                  <a:pt x="1162482" y="593377"/>
                </a:lnTo>
                <a:close/>
                <a:moveTo>
                  <a:pt x="1042307" y="565945"/>
                </a:moveTo>
                <a:lnTo>
                  <a:pt x="1069739" y="565945"/>
                </a:lnTo>
                <a:lnTo>
                  <a:pt x="1069739" y="593377"/>
                </a:lnTo>
                <a:lnTo>
                  <a:pt x="1042307" y="593377"/>
                </a:lnTo>
                <a:close/>
                <a:moveTo>
                  <a:pt x="926798" y="565945"/>
                </a:moveTo>
                <a:lnTo>
                  <a:pt x="954230" y="565945"/>
                </a:lnTo>
                <a:lnTo>
                  <a:pt x="954230" y="593377"/>
                </a:lnTo>
                <a:lnTo>
                  <a:pt x="926798" y="593377"/>
                </a:lnTo>
                <a:close/>
                <a:moveTo>
                  <a:pt x="812625" y="565945"/>
                </a:moveTo>
                <a:lnTo>
                  <a:pt x="840057" y="565945"/>
                </a:lnTo>
                <a:lnTo>
                  <a:pt x="840057" y="593377"/>
                </a:lnTo>
                <a:lnTo>
                  <a:pt x="812625" y="593377"/>
                </a:lnTo>
                <a:close/>
                <a:moveTo>
                  <a:pt x="692450" y="565945"/>
                </a:moveTo>
                <a:lnTo>
                  <a:pt x="719882" y="565945"/>
                </a:lnTo>
                <a:lnTo>
                  <a:pt x="719882" y="593377"/>
                </a:lnTo>
                <a:lnTo>
                  <a:pt x="692450" y="593377"/>
                </a:lnTo>
                <a:close/>
                <a:moveTo>
                  <a:pt x="576340" y="565945"/>
                </a:moveTo>
                <a:lnTo>
                  <a:pt x="603772" y="565945"/>
                </a:lnTo>
                <a:lnTo>
                  <a:pt x="603772" y="593377"/>
                </a:lnTo>
                <a:lnTo>
                  <a:pt x="576340" y="593377"/>
                </a:lnTo>
                <a:close/>
                <a:moveTo>
                  <a:pt x="456165" y="565945"/>
                </a:moveTo>
                <a:lnTo>
                  <a:pt x="483597" y="565945"/>
                </a:lnTo>
                <a:lnTo>
                  <a:pt x="483597" y="593377"/>
                </a:lnTo>
                <a:lnTo>
                  <a:pt x="456165" y="593377"/>
                </a:lnTo>
                <a:close/>
                <a:moveTo>
                  <a:pt x="340656" y="565945"/>
                </a:moveTo>
                <a:lnTo>
                  <a:pt x="368088" y="565945"/>
                </a:lnTo>
                <a:lnTo>
                  <a:pt x="368088" y="593377"/>
                </a:lnTo>
                <a:lnTo>
                  <a:pt x="340656" y="593377"/>
                </a:lnTo>
                <a:close/>
                <a:moveTo>
                  <a:pt x="226483" y="565945"/>
                </a:moveTo>
                <a:lnTo>
                  <a:pt x="253915" y="565945"/>
                </a:lnTo>
                <a:lnTo>
                  <a:pt x="253915" y="593377"/>
                </a:lnTo>
                <a:lnTo>
                  <a:pt x="226483" y="593377"/>
                </a:lnTo>
                <a:close/>
                <a:moveTo>
                  <a:pt x="114173" y="565945"/>
                </a:moveTo>
                <a:lnTo>
                  <a:pt x="141605" y="565945"/>
                </a:lnTo>
                <a:lnTo>
                  <a:pt x="141605" y="593377"/>
                </a:lnTo>
                <a:lnTo>
                  <a:pt x="114173" y="593377"/>
                </a:lnTo>
                <a:close/>
                <a:moveTo>
                  <a:pt x="0" y="565945"/>
                </a:moveTo>
                <a:lnTo>
                  <a:pt x="27432" y="565945"/>
                </a:lnTo>
                <a:lnTo>
                  <a:pt x="27432" y="593377"/>
                </a:lnTo>
                <a:lnTo>
                  <a:pt x="0" y="593377"/>
                </a:lnTo>
                <a:close/>
                <a:moveTo>
                  <a:pt x="1851331" y="452438"/>
                </a:moveTo>
                <a:lnTo>
                  <a:pt x="1878763" y="452438"/>
                </a:lnTo>
                <a:lnTo>
                  <a:pt x="1878763" y="479870"/>
                </a:lnTo>
                <a:lnTo>
                  <a:pt x="1851331" y="479870"/>
                </a:lnTo>
                <a:close/>
                <a:moveTo>
                  <a:pt x="1737031" y="452438"/>
                </a:moveTo>
                <a:lnTo>
                  <a:pt x="1764463" y="452438"/>
                </a:lnTo>
                <a:lnTo>
                  <a:pt x="1764463" y="479870"/>
                </a:lnTo>
                <a:lnTo>
                  <a:pt x="1737031" y="479870"/>
                </a:lnTo>
                <a:close/>
                <a:moveTo>
                  <a:pt x="1625112" y="452438"/>
                </a:moveTo>
                <a:lnTo>
                  <a:pt x="1652544" y="452438"/>
                </a:lnTo>
                <a:lnTo>
                  <a:pt x="1652544" y="479870"/>
                </a:lnTo>
                <a:lnTo>
                  <a:pt x="1625112" y="479870"/>
                </a:lnTo>
                <a:close/>
                <a:moveTo>
                  <a:pt x="1510812" y="452438"/>
                </a:moveTo>
                <a:lnTo>
                  <a:pt x="1538244" y="452438"/>
                </a:lnTo>
                <a:lnTo>
                  <a:pt x="1538244" y="479870"/>
                </a:lnTo>
                <a:lnTo>
                  <a:pt x="1510812" y="479870"/>
                </a:lnTo>
                <a:close/>
                <a:moveTo>
                  <a:pt x="1394702" y="452438"/>
                </a:moveTo>
                <a:lnTo>
                  <a:pt x="1422134" y="452438"/>
                </a:lnTo>
                <a:lnTo>
                  <a:pt x="1422134" y="479870"/>
                </a:lnTo>
                <a:lnTo>
                  <a:pt x="1394702" y="479870"/>
                </a:lnTo>
                <a:close/>
                <a:moveTo>
                  <a:pt x="1278592" y="452438"/>
                </a:moveTo>
                <a:lnTo>
                  <a:pt x="1306024" y="452438"/>
                </a:lnTo>
                <a:lnTo>
                  <a:pt x="1306024" y="479870"/>
                </a:lnTo>
                <a:lnTo>
                  <a:pt x="1278592" y="479870"/>
                </a:lnTo>
                <a:close/>
                <a:moveTo>
                  <a:pt x="1162482" y="452438"/>
                </a:moveTo>
                <a:lnTo>
                  <a:pt x="1189914" y="452438"/>
                </a:lnTo>
                <a:lnTo>
                  <a:pt x="1189914" y="479870"/>
                </a:lnTo>
                <a:lnTo>
                  <a:pt x="1162482" y="479870"/>
                </a:lnTo>
                <a:close/>
                <a:moveTo>
                  <a:pt x="1042307" y="452438"/>
                </a:moveTo>
                <a:lnTo>
                  <a:pt x="1069739" y="452438"/>
                </a:lnTo>
                <a:lnTo>
                  <a:pt x="1069739" y="479870"/>
                </a:lnTo>
                <a:lnTo>
                  <a:pt x="1042307" y="479870"/>
                </a:lnTo>
                <a:close/>
                <a:moveTo>
                  <a:pt x="926798" y="452438"/>
                </a:moveTo>
                <a:lnTo>
                  <a:pt x="954230" y="452438"/>
                </a:lnTo>
                <a:lnTo>
                  <a:pt x="954230" y="479870"/>
                </a:lnTo>
                <a:lnTo>
                  <a:pt x="926798" y="479870"/>
                </a:lnTo>
                <a:close/>
                <a:moveTo>
                  <a:pt x="812625" y="452438"/>
                </a:moveTo>
                <a:lnTo>
                  <a:pt x="840057" y="452438"/>
                </a:lnTo>
                <a:lnTo>
                  <a:pt x="840057" y="479870"/>
                </a:lnTo>
                <a:lnTo>
                  <a:pt x="812625" y="479870"/>
                </a:lnTo>
                <a:close/>
                <a:moveTo>
                  <a:pt x="692450" y="452438"/>
                </a:moveTo>
                <a:lnTo>
                  <a:pt x="719882" y="452438"/>
                </a:lnTo>
                <a:lnTo>
                  <a:pt x="719882" y="479870"/>
                </a:lnTo>
                <a:lnTo>
                  <a:pt x="692450" y="479870"/>
                </a:lnTo>
                <a:close/>
                <a:moveTo>
                  <a:pt x="576340" y="452438"/>
                </a:moveTo>
                <a:lnTo>
                  <a:pt x="603772" y="452438"/>
                </a:lnTo>
                <a:lnTo>
                  <a:pt x="603772" y="479870"/>
                </a:lnTo>
                <a:lnTo>
                  <a:pt x="576340" y="479870"/>
                </a:lnTo>
                <a:close/>
                <a:moveTo>
                  <a:pt x="456165" y="452438"/>
                </a:moveTo>
                <a:lnTo>
                  <a:pt x="483597" y="452438"/>
                </a:lnTo>
                <a:lnTo>
                  <a:pt x="483597" y="479870"/>
                </a:lnTo>
                <a:lnTo>
                  <a:pt x="456165" y="479870"/>
                </a:lnTo>
                <a:close/>
                <a:moveTo>
                  <a:pt x="340656" y="452438"/>
                </a:moveTo>
                <a:lnTo>
                  <a:pt x="368088" y="452438"/>
                </a:lnTo>
                <a:lnTo>
                  <a:pt x="368088" y="479870"/>
                </a:lnTo>
                <a:lnTo>
                  <a:pt x="340656" y="479870"/>
                </a:lnTo>
                <a:close/>
                <a:moveTo>
                  <a:pt x="226483" y="452438"/>
                </a:moveTo>
                <a:lnTo>
                  <a:pt x="253915" y="452438"/>
                </a:lnTo>
                <a:lnTo>
                  <a:pt x="253915" y="479870"/>
                </a:lnTo>
                <a:lnTo>
                  <a:pt x="226483" y="479870"/>
                </a:lnTo>
                <a:close/>
                <a:moveTo>
                  <a:pt x="114173" y="452438"/>
                </a:moveTo>
                <a:lnTo>
                  <a:pt x="141605" y="452438"/>
                </a:lnTo>
                <a:lnTo>
                  <a:pt x="141605" y="479870"/>
                </a:lnTo>
                <a:lnTo>
                  <a:pt x="114173" y="479870"/>
                </a:lnTo>
                <a:close/>
                <a:moveTo>
                  <a:pt x="0" y="452438"/>
                </a:moveTo>
                <a:lnTo>
                  <a:pt x="27432" y="452438"/>
                </a:lnTo>
                <a:lnTo>
                  <a:pt x="27432" y="479870"/>
                </a:lnTo>
                <a:lnTo>
                  <a:pt x="0" y="479870"/>
                </a:lnTo>
                <a:close/>
                <a:moveTo>
                  <a:pt x="1851331" y="337344"/>
                </a:moveTo>
                <a:lnTo>
                  <a:pt x="1878763" y="337344"/>
                </a:lnTo>
                <a:lnTo>
                  <a:pt x="1878763" y="364776"/>
                </a:lnTo>
                <a:lnTo>
                  <a:pt x="1851331" y="364776"/>
                </a:lnTo>
                <a:close/>
                <a:moveTo>
                  <a:pt x="1737031" y="337344"/>
                </a:moveTo>
                <a:lnTo>
                  <a:pt x="1764463" y="337344"/>
                </a:lnTo>
                <a:lnTo>
                  <a:pt x="1764463" y="364776"/>
                </a:lnTo>
                <a:lnTo>
                  <a:pt x="1737031" y="364776"/>
                </a:lnTo>
                <a:close/>
                <a:moveTo>
                  <a:pt x="1625112" y="337344"/>
                </a:moveTo>
                <a:lnTo>
                  <a:pt x="1652544" y="337344"/>
                </a:lnTo>
                <a:lnTo>
                  <a:pt x="1652544" y="364776"/>
                </a:lnTo>
                <a:lnTo>
                  <a:pt x="1625112" y="364776"/>
                </a:lnTo>
                <a:close/>
                <a:moveTo>
                  <a:pt x="1510812" y="337344"/>
                </a:moveTo>
                <a:lnTo>
                  <a:pt x="1538244" y="337344"/>
                </a:lnTo>
                <a:lnTo>
                  <a:pt x="1538244" y="364776"/>
                </a:lnTo>
                <a:lnTo>
                  <a:pt x="1510812" y="364776"/>
                </a:lnTo>
                <a:close/>
                <a:moveTo>
                  <a:pt x="1394702" y="337344"/>
                </a:moveTo>
                <a:lnTo>
                  <a:pt x="1422134" y="337344"/>
                </a:lnTo>
                <a:lnTo>
                  <a:pt x="1422134" y="364776"/>
                </a:lnTo>
                <a:lnTo>
                  <a:pt x="1394702" y="364776"/>
                </a:lnTo>
                <a:close/>
                <a:moveTo>
                  <a:pt x="1278592" y="337344"/>
                </a:moveTo>
                <a:lnTo>
                  <a:pt x="1306024" y="337344"/>
                </a:lnTo>
                <a:lnTo>
                  <a:pt x="1306024" y="364776"/>
                </a:lnTo>
                <a:lnTo>
                  <a:pt x="1278592" y="364776"/>
                </a:lnTo>
                <a:close/>
                <a:moveTo>
                  <a:pt x="1162482" y="337344"/>
                </a:moveTo>
                <a:lnTo>
                  <a:pt x="1189914" y="337344"/>
                </a:lnTo>
                <a:lnTo>
                  <a:pt x="1189914" y="364776"/>
                </a:lnTo>
                <a:lnTo>
                  <a:pt x="1162482" y="364776"/>
                </a:lnTo>
                <a:close/>
                <a:moveTo>
                  <a:pt x="1042307" y="337344"/>
                </a:moveTo>
                <a:lnTo>
                  <a:pt x="1069739" y="337344"/>
                </a:lnTo>
                <a:lnTo>
                  <a:pt x="1069739" y="364776"/>
                </a:lnTo>
                <a:lnTo>
                  <a:pt x="1042307" y="364776"/>
                </a:lnTo>
                <a:close/>
                <a:moveTo>
                  <a:pt x="926798" y="337344"/>
                </a:moveTo>
                <a:lnTo>
                  <a:pt x="954230" y="337344"/>
                </a:lnTo>
                <a:lnTo>
                  <a:pt x="954230" y="364776"/>
                </a:lnTo>
                <a:lnTo>
                  <a:pt x="926798" y="364776"/>
                </a:lnTo>
                <a:close/>
                <a:moveTo>
                  <a:pt x="812625" y="337344"/>
                </a:moveTo>
                <a:lnTo>
                  <a:pt x="840057" y="337344"/>
                </a:lnTo>
                <a:lnTo>
                  <a:pt x="840057" y="364776"/>
                </a:lnTo>
                <a:lnTo>
                  <a:pt x="812625" y="364776"/>
                </a:lnTo>
                <a:close/>
                <a:moveTo>
                  <a:pt x="692450" y="337344"/>
                </a:moveTo>
                <a:lnTo>
                  <a:pt x="719882" y="337344"/>
                </a:lnTo>
                <a:lnTo>
                  <a:pt x="719882" y="364776"/>
                </a:lnTo>
                <a:lnTo>
                  <a:pt x="692450" y="364776"/>
                </a:lnTo>
                <a:close/>
                <a:moveTo>
                  <a:pt x="576340" y="337344"/>
                </a:moveTo>
                <a:lnTo>
                  <a:pt x="603772" y="337344"/>
                </a:lnTo>
                <a:lnTo>
                  <a:pt x="603772" y="364776"/>
                </a:lnTo>
                <a:lnTo>
                  <a:pt x="576340" y="364776"/>
                </a:lnTo>
                <a:close/>
                <a:moveTo>
                  <a:pt x="456165" y="337344"/>
                </a:moveTo>
                <a:lnTo>
                  <a:pt x="483597" y="337344"/>
                </a:lnTo>
                <a:lnTo>
                  <a:pt x="483597" y="364776"/>
                </a:lnTo>
                <a:lnTo>
                  <a:pt x="456165" y="364776"/>
                </a:lnTo>
                <a:close/>
                <a:moveTo>
                  <a:pt x="340656" y="337344"/>
                </a:moveTo>
                <a:lnTo>
                  <a:pt x="368088" y="337344"/>
                </a:lnTo>
                <a:lnTo>
                  <a:pt x="368088" y="364776"/>
                </a:lnTo>
                <a:lnTo>
                  <a:pt x="340656" y="364776"/>
                </a:lnTo>
                <a:close/>
                <a:moveTo>
                  <a:pt x="226483" y="337344"/>
                </a:moveTo>
                <a:lnTo>
                  <a:pt x="253915" y="337344"/>
                </a:lnTo>
                <a:lnTo>
                  <a:pt x="253915" y="364776"/>
                </a:lnTo>
                <a:lnTo>
                  <a:pt x="226483" y="364776"/>
                </a:lnTo>
                <a:close/>
                <a:moveTo>
                  <a:pt x="114173" y="337344"/>
                </a:moveTo>
                <a:lnTo>
                  <a:pt x="141605" y="337344"/>
                </a:lnTo>
                <a:lnTo>
                  <a:pt x="141605" y="364776"/>
                </a:lnTo>
                <a:lnTo>
                  <a:pt x="114173" y="364776"/>
                </a:lnTo>
                <a:close/>
                <a:moveTo>
                  <a:pt x="0" y="337344"/>
                </a:moveTo>
                <a:lnTo>
                  <a:pt x="27432" y="337344"/>
                </a:lnTo>
                <a:lnTo>
                  <a:pt x="27432" y="364776"/>
                </a:lnTo>
                <a:lnTo>
                  <a:pt x="0" y="364776"/>
                </a:lnTo>
                <a:close/>
                <a:moveTo>
                  <a:pt x="1851331" y="223837"/>
                </a:moveTo>
                <a:lnTo>
                  <a:pt x="1878763" y="223837"/>
                </a:lnTo>
                <a:lnTo>
                  <a:pt x="1878763" y="251269"/>
                </a:lnTo>
                <a:lnTo>
                  <a:pt x="1851331" y="251269"/>
                </a:lnTo>
                <a:close/>
                <a:moveTo>
                  <a:pt x="1737031" y="223837"/>
                </a:moveTo>
                <a:lnTo>
                  <a:pt x="1764463" y="223837"/>
                </a:lnTo>
                <a:lnTo>
                  <a:pt x="1764463" y="251269"/>
                </a:lnTo>
                <a:lnTo>
                  <a:pt x="1737031" y="251269"/>
                </a:lnTo>
                <a:close/>
                <a:moveTo>
                  <a:pt x="1625112" y="223837"/>
                </a:moveTo>
                <a:lnTo>
                  <a:pt x="1652544" y="223837"/>
                </a:lnTo>
                <a:lnTo>
                  <a:pt x="1652544" y="251269"/>
                </a:lnTo>
                <a:lnTo>
                  <a:pt x="1625112" y="251269"/>
                </a:lnTo>
                <a:close/>
                <a:moveTo>
                  <a:pt x="1510812" y="223837"/>
                </a:moveTo>
                <a:lnTo>
                  <a:pt x="1538244" y="223837"/>
                </a:lnTo>
                <a:lnTo>
                  <a:pt x="1538244" y="251269"/>
                </a:lnTo>
                <a:lnTo>
                  <a:pt x="1510812" y="251269"/>
                </a:lnTo>
                <a:close/>
                <a:moveTo>
                  <a:pt x="1394702" y="223837"/>
                </a:moveTo>
                <a:lnTo>
                  <a:pt x="1422134" y="223837"/>
                </a:lnTo>
                <a:lnTo>
                  <a:pt x="1422134" y="251269"/>
                </a:lnTo>
                <a:lnTo>
                  <a:pt x="1394702" y="251269"/>
                </a:lnTo>
                <a:close/>
                <a:moveTo>
                  <a:pt x="1278592" y="223837"/>
                </a:moveTo>
                <a:lnTo>
                  <a:pt x="1306024" y="223837"/>
                </a:lnTo>
                <a:lnTo>
                  <a:pt x="1306024" y="251269"/>
                </a:lnTo>
                <a:lnTo>
                  <a:pt x="1278592" y="251269"/>
                </a:lnTo>
                <a:close/>
                <a:moveTo>
                  <a:pt x="1162482" y="223837"/>
                </a:moveTo>
                <a:lnTo>
                  <a:pt x="1189914" y="223837"/>
                </a:lnTo>
                <a:lnTo>
                  <a:pt x="1189914" y="251269"/>
                </a:lnTo>
                <a:lnTo>
                  <a:pt x="1162482" y="251269"/>
                </a:lnTo>
                <a:close/>
                <a:moveTo>
                  <a:pt x="1042307" y="223837"/>
                </a:moveTo>
                <a:lnTo>
                  <a:pt x="1069739" y="223837"/>
                </a:lnTo>
                <a:lnTo>
                  <a:pt x="1069739" y="251269"/>
                </a:lnTo>
                <a:lnTo>
                  <a:pt x="1042307" y="251269"/>
                </a:lnTo>
                <a:close/>
                <a:moveTo>
                  <a:pt x="926798" y="223837"/>
                </a:moveTo>
                <a:lnTo>
                  <a:pt x="954230" y="223837"/>
                </a:lnTo>
                <a:lnTo>
                  <a:pt x="954230" y="251269"/>
                </a:lnTo>
                <a:lnTo>
                  <a:pt x="926798" y="251269"/>
                </a:lnTo>
                <a:close/>
                <a:moveTo>
                  <a:pt x="812625" y="223837"/>
                </a:moveTo>
                <a:lnTo>
                  <a:pt x="840057" y="223837"/>
                </a:lnTo>
                <a:lnTo>
                  <a:pt x="840057" y="251269"/>
                </a:lnTo>
                <a:lnTo>
                  <a:pt x="812625" y="251269"/>
                </a:lnTo>
                <a:close/>
                <a:moveTo>
                  <a:pt x="692450" y="223837"/>
                </a:moveTo>
                <a:lnTo>
                  <a:pt x="719882" y="223837"/>
                </a:lnTo>
                <a:lnTo>
                  <a:pt x="719882" y="251269"/>
                </a:lnTo>
                <a:lnTo>
                  <a:pt x="692450" y="251269"/>
                </a:lnTo>
                <a:close/>
                <a:moveTo>
                  <a:pt x="576340" y="223837"/>
                </a:moveTo>
                <a:lnTo>
                  <a:pt x="603772" y="223837"/>
                </a:lnTo>
                <a:lnTo>
                  <a:pt x="603772" y="251269"/>
                </a:lnTo>
                <a:lnTo>
                  <a:pt x="576340" y="251269"/>
                </a:lnTo>
                <a:close/>
                <a:moveTo>
                  <a:pt x="456165" y="223837"/>
                </a:moveTo>
                <a:lnTo>
                  <a:pt x="483597" y="223837"/>
                </a:lnTo>
                <a:lnTo>
                  <a:pt x="483597" y="251269"/>
                </a:lnTo>
                <a:lnTo>
                  <a:pt x="456165" y="251269"/>
                </a:lnTo>
                <a:close/>
                <a:moveTo>
                  <a:pt x="340656" y="223837"/>
                </a:moveTo>
                <a:lnTo>
                  <a:pt x="368088" y="223837"/>
                </a:lnTo>
                <a:lnTo>
                  <a:pt x="368088" y="251269"/>
                </a:lnTo>
                <a:lnTo>
                  <a:pt x="340656" y="251269"/>
                </a:lnTo>
                <a:close/>
                <a:moveTo>
                  <a:pt x="226483" y="223837"/>
                </a:moveTo>
                <a:lnTo>
                  <a:pt x="253915" y="223837"/>
                </a:lnTo>
                <a:lnTo>
                  <a:pt x="253915" y="251269"/>
                </a:lnTo>
                <a:lnTo>
                  <a:pt x="226483" y="251269"/>
                </a:lnTo>
                <a:close/>
                <a:moveTo>
                  <a:pt x="114173" y="223837"/>
                </a:moveTo>
                <a:lnTo>
                  <a:pt x="141605" y="223837"/>
                </a:lnTo>
                <a:lnTo>
                  <a:pt x="141605" y="251269"/>
                </a:lnTo>
                <a:lnTo>
                  <a:pt x="114173" y="251269"/>
                </a:lnTo>
                <a:close/>
                <a:moveTo>
                  <a:pt x="0" y="223837"/>
                </a:moveTo>
                <a:lnTo>
                  <a:pt x="27432" y="223837"/>
                </a:lnTo>
                <a:lnTo>
                  <a:pt x="27432" y="251269"/>
                </a:lnTo>
                <a:lnTo>
                  <a:pt x="0" y="251269"/>
                </a:lnTo>
                <a:close/>
                <a:moveTo>
                  <a:pt x="1851331" y="113507"/>
                </a:moveTo>
                <a:lnTo>
                  <a:pt x="1878763" y="113507"/>
                </a:lnTo>
                <a:lnTo>
                  <a:pt x="1878763" y="140939"/>
                </a:lnTo>
                <a:lnTo>
                  <a:pt x="1851331" y="140939"/>
                </a:lnTo>
                <a:close/>
                <a:moveTo>
                  <a:pt x="1737031" y="113507"/>
                </a:moveTo>
                <a:lnTo>
                  <a:pt x="1764463" y="113507"/>
                </a:lnTo>
                <a:lnTo>
                  <a:pt x="1764463" y="140939"/>
                </a:lnTo>
                <a:lnTo>
                  <a:pt x="1737031" y="140939"/>
                </a:lnTo>
                <a:close/>
                <a:moveTo>
                  <a:pt x="1625112" y="113507"/>
                </a:moveTo>
                <a:lnTo>
                  <a:pt x="1652544" y="113507"/>
                </a:lnTo>
                <a:lnTo>
                  <a:pt x="1652544" y="140939"/>
                </a:lnTo>
                <a:lnTo>
                  <a:pt x="1625112" y="140939"/>
                </a:lnTo>
                <a:close/>
                <a:moveTo>
                  <a:pt x="1510812" y="113507"/>
                </a:moveTo>
                <a:lnTo>
                  <a:pt x="1538244" y="113507"/>
                </a:lnTo>
                <a:lnTo>
                  <a:pt x="1538244" y="140939"/>
                </a:lnTo>
                <a:lnTo>
                  <a:pt x="1510812" y="140939"/>
                </a:lnTo>
                <a:close/>
                <a:moveTo>
                  <a:pt x="1394702" y="113507"/>
                </a:moveTo>
                <a:lnTo>
                  <a:pt x="1422134" y="113507"/>
                </a:lnTo>
                <a:lnTo>
                  <a:pt x="1422134" y="140939"/>
                </a:lnTo>
                <a:lnTo>
                  <a:pt x="1394702" y="140939"/>
                </a:lnTo>
                <a:close/>
                <a:moveTo>
                  <a:pt x="1278592" y="113507"/>
                </a:moveTo>
                <a:lnTo>
                  <a:pt x="1306024" y="113507"/>
                </a:lnTo>
                <a:lnTo>
                  <a:pt x="1306024" y="140939"/>
                </a:lnTo>
                <a:lnTo>
                  <a:pt x="1278592" y="140939"/>
                </a:lnTo>
                <a:close/>
                <a:moveTo>
                  <a:pt x="1162482" y="113507"/>
                </a:moveTo>
                <a:lnTo>
                  <a:pt x="1189914" y="113507"/>
                </a:lnTo>
                <a:lnTo>
                  <a:pt x="1189914" y="140939"/>
                </a:lnTo>
                <a:lnTo>
                  <a:pt x="1162482" y="140939"/>
                </a:lnTo>
                <a:close/>
                <a:moveTo>
                  <a:pt x="1042307" y="113507"/>
                </a:moveTo>
                <a:lnTo>
                  <a:pt x="1069739" y="113507"/>
                </a:lnTo>
                <a:lnTo>
                  <a:pt x="1069739" y="140939"/>
                </a:lnTo>
                <a:lnTo>
                  <a:pt x="1042307" y="140939"/>
                </a:lnTo>
                <a:close/>
                <a:moveTo>
                  <a:pt x="926798" y="113507"/>
                </a:moveTo>
                <a:lnTo>
                  <a:pt x="954230" y="113507"/>
                </a:lnTo>
                <a:lnTo>
                  <a:pt x="954230" y="140939"/>
                </a:lnTo>
                <a:lnTo>
                  <a:pt x="926798" y="140939"/>
                </a:lnTo>
                <a:close/>
                <a:moveTo>
                  <a:pt x="812625" y="113507"/>
                </a:moveTo>
                <a:lnTo>
                  <a:pt x="840057" y="113507"/>
                </a:lnTo>
                <a:lnTo>
                  <a:pt x="840057" y="140939"/>
                </a:lnTo>
                <a:lnTo>
                  <a:pt x="812625" y="140939"/>
                </a:lnTo>
                <a:close/>
                <a:moveTo>
                  <a:pt x="692450" y="113507"/>
                </a:moveTo>
                <a:lnTo>
                  <a:pt x="719882" y="113507"/>
                </a:lnTo>
                <a:lnTo>
                  <a:pt x="719882" y="140939"/>
                </a:lnTo>
                <a:lnTo>
                  <a:pt x="692450" y="140939"/>
                </a:lnTo>
                <a:close/>
                <a:moveTo>
                  <a:pt x="576340" y="113507"/>
                </a:moveTo>
                <a:lnTo>
                  <a:pt x="603772" y="113507"/>
                </a:lnTo>
                <a:lnTo>
                  <a:pt x="603772" y="140939"/>
                </a:lnTo>
                <a:lnTo>
                  <a:pt x="576340" y="140939"/>
                </a:lnTo>
                <a:close/>
                <a:moveTo>
                  <a:pt x="456165" y="113507"/>
                </a:moveTo>
                <a:lnTo>
                  <a:pt x="483597" y="113507"/>
                </a:lnTo>
                <a:lnTo>
                  <a:pt x="483597" y="140939"/>
                </a:lnTo>
                <a:lnTo>
                  <a:pt x="456165" y="140939"/>
                </a:lnTo>
                <a:close/>
                <a:moveTo>
                  <a:pt x="340656" y="113507"/>
                </a:moveTo>
                <a:lnTo>
                  <a:pt x="368088" y="113507"/>
                </a:lnTo>
                <a:lnTo>
                  <a:pt x="368088" y="140939"/>
                </a:lnTo>
                <a:lnTo>
                  <a:pt x="340656" y="140939"/>
                </a:lnTo>
                <a:close/>
                <a:moveTo>
                  <a:pt x="226483" y="113507"/>
                </a:moveTo>
                <a:lnTo>
                  <a:pt x="253915" y="113507"/>
                </a:lnTo>
                <a:lnTo>
                  <a:pt x="253915" y="140939"/>
                </a:lnTo>
                <a:lnTo>
                  <a:pt x="226483" y="140939"/>
                </a:lnTo>
                <a:close/>
                <a:moveTo>
                  <a:pt x="114173" y="113507"/>
                </a:moveTo>
                <a:lnTo>
                  <a:pt x="141605" y="113507"/>
                </a:lnTo>
                <a:lnTo>
                  <a:pt x="141605" y="140939"/>
                </a:lnTo>
                <a:lnTo>
                  <a:pt x="114173" y="140939"/>
                </a:lnTo>
                <a:close/>
                <a:moveTo>
                  <a:pt x="0" y="113507"/>
                </a:moveTo>
                <a:lnTo>
                  <a:pt x="27432" y="113507"/>
                </a:lnTo>
                <a:lnTo>
                  <a:pt x="27432" y="140939"/>
                </a:lnTo>
                <a:lnTo>
                  <a:pt x="0" y="140939"/>
                </a:lnTo>
                <a:close/>
                <a:moveTo>
                  <a:pt x="1851331" y="0"/>
                </a:moveTo>
                <a:lnTo>
                  <a:pt x="1878763" y="0"/>
                </a:lnTo>
                <a:lnTo>
                  <a:pt x="1878763" y="27432"/>
                </a:lnTo>
                <a:lnTo>
                  <a:pt x="1851331" y="27432"/>
                </a:lnTo>
                <a:close/>
                <a:moveTo>
                  <a:pt x="1737031" y="0"/>
                </a:moveTo>
                <a:lnTo>
                  <a:pt x="1764463" y="0"/>
                </a:lnTo>
                <a:lnTo>
                  <a:pt x="1764463" y="27432"/>
                </a:lnTo>
                <a:lnTo>
                  <a:pt x="1737031" y="27432"/>
                </a:lnTo>
                <a:close/>
                <a:moveTo>
                  <a:pt x="1625112" y="0"/>
                </a:moveTo>
                <a:lnTo>
                  <a:pt x="1652544" y="0"/>
                </a:lnTo>
                <a:lnTo>
                  <a:pt x="1652544" y="27432"/>
                </a:lnTo>
                <a:lnTo>
                  <a:pt x="1625112" y="27432"/>
                </a:lnTo>
                <a:close/>
                <a:moveTo>
                  <a:pt x="1510812" y="0"/>
                </a:moveTo>
                <a:lnTo>
                  <a:pt x="1538244" y="0"/>
                </a:lnTo>
                <a:lnTo>
                  <a:pt x="1538244" y="27432"/>
                </a:lnTo>
                <a:lnTo>
                  <a:pt x="1510812" y="27432"/>
                </a:lnTo>
                <a:close/>
                <a:moveTo>
                  <a:pt x="1394702" y="0"/>
                </a:moveTo>
                <a:lnTo>
                  <a:pt x="1422134" y="0"/>
                </a:lnTo>
                <a:lnTo>
                  <a:pt x="1422134" y="27432"/>
                </a:lnTo>
                <a:lnTo>
                  <a:pt x="1394702" y="27432"/>
                </a:lnTo>
                <a:close/>
                <a:moveTo>
                  <a:pt x="1278592" y="0"/>
                </a:moveTo>
                <a:lnTo>
                  <a:pt x="1306024" y="0"/>
                </a:lnTo>
                <a:lnTo>
                  <a:pt x="1306024" y="27432"/>
                </a:lnTo>
                <a:lnTo>
                  <a:pt x="1278592" y="27432"/>
                </a:lnTo>
                <a:close/>
                <a:moveTo>
                  <a:pt x="1162482" y="0"/>
                </a:moveTo>
                <a:lnTo>
                  <a:pt x="1189914" y="0"/>
                </a:lnTo>
                <a:lnTo>
                  <a:pt x="1189914" y="27432"/>
                </a:lnTo>
                <a:lnTo>
                  <a:pt x="1162482" y="27432"/>
                </a:lnTo>
                <a:close/>
                <a:moveTo>
                  <a:pt x="1042307" y="0"/>
                </a:moveTo>
                <a:lnTo>
                  <a:pt x="1069739" y="0"/>
                </a:lnTo>
                <a:lnTo>
                  <a:pt x="1069739" y="27432"/>
                </a:lnTo>
                <a:lnTo>
                  <a:pt x="1042307" y="27432"/>
                </a:lnTo>
                <a:close/>
                <a:moveTo>
                  <a:pt x="926798" y="0"/>
                </a:moveTo>
                <a:lnTo>
                  <a:pt x="954230" y="0"/>
                </a:lnTo>
                <a:lnTo>
                  <a:pt x="954230" y="27432"/>
                </a:lnTo>
                <a:lnTo>
                  <a:pt x="926798" y="27432"/>
                </a:lnTo>
                <a:close/>
                <a:moveTo>
                  <a:pt x="812625" y="0"/>
                </a:moveTo>
                <a:lnTo>
                  <a:pt x="840057" y="0"/>
                </a:lnTo>
                <a:lnTo>
                  <a:pt x="840057" y="27432"/>
                </a:lnTo>
                <a:lnTo>
                  <a:pt x="812625" y="27432"/>
                </a:lnTo>
                <a:close/>
                <a:moveTo>
                  <a:pt x="692450" y="0"/>
                </a:moveTo>
                <a:lnTo>
                  <a:pt x="719882" y="0"/>
                </a:lnTo>
                <a:lnTo>
                  <a:pt x="719882" y="27432"/>
                </a:lnTo>
                <a:lnTo>
                  <a:pt x="692450" y="27432"/>
                </a:lnTo>
                <a:close/>
                <a:moveTo>
                  <a:pt x="576340" y="0"/>
                </a:moveTo>
                <a:lnTo>
                  <a:pt x="603772" y="0"/>
                </a:lnTo>
                <a:lnTo>
                  <a:pt x="603772" y="27432"/>
                </a:lnTo>
                <a:lnTo>
                  <a:pt x="576340" y="27432"/>
                </a:lnTo>
                <a:close/>
                <a:moveTo>
                  <a:pt x="456165" y="0"/>
                </a:moveTo>
                <a:lnTo>
                  <a:pt x="483597" y="0"/>
                </a:lnTo>
                <a:lnTo>
                  <a:pt x="483597" y="27432"/>
                </a:lnTo>
                <a:lnTo>
                  <a:pt x="456165" y="27432"/>
                </a:lnTo>
                <a:close/>
                <a:moveTo>
                  <a:pt x="340656" y="0"/>
                </a:moveTo>
                <a:lnTo>
                  <a:pt x="368088" y="0"/>
                </a:lnTo>
                <a:lnTo>
                  <a:pt x="368088" y="27432"/>
                </a:lnTo>
                <a:lnTo>
                  <a:pt x="340656" y="27432"/>
                </a:lnTo>
                <a:close/>
                <a:moveTo>
                  <a:pt x="226483" y="0"/>
                </a:moveTo>
                <a:lnTo>
                  <a:pt x="253915" y="0"/>
                </a:lnTo>
                <a:lnTo>
                  <a:pt x="253915" y="27432"/>
                </a:lnTo>
                <a:lnTo>
                  <a:pt x="226483" y="27432"/>
                </a:lnTo>
                <a:close/>
                <a:moveTo>
                  <a:pt x="114173" y="0"/>
                </a:moveTo>
                <a:lnTo>
                  <a:pt x="141605" y="0"/>
                </a:lnTo>
                <a:lnTo>
                  <a:pt x="141605" y="27432"/>
                </a:lnTo>
                <a:lnTo>
                  <a:pt x="114173" y="27432"/>
                </a:lnTo>
                <a:close/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9" name="Título 18">
            <a:extLst>
              <a:ext uri="{FF2B5EF4-FFF2-40B4-BE49-F238E27FC236}">
                <a16:creationId xmlns:a16="http://schemas.microsoft.com/office/drawing/2014/main" id="{01E0D7A0-6F94-0A0A-64BB-0595B62B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3916" y="3429000"/>
            <a:ext cx="6128085" cy="24765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762000" dist="127000" dir="2700000" algn="t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60000" tIns="0" rIns="360000" bIns="0" rtlCol="0" anchor="ctr">
            <a:noAutofit/>
          </a:bodyPr>
          <a:lstStyle>
            <a:lvl1pPr algn="ctr">
              <a:defRPr lang="pt-BR" sz="30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ctr" defTabSz="685709" fontAlgn="auto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A0DFFDD-1978-D26D-06FF-44FFD849F611}"/>
              </a:ext>
            </a:extLst>
          </p:cNvPr>
          <p:cNvSpPr/>
          <p:nvPr userDrawn="1"/>
        </p:nvSpPr>
        <p:spPr>
          <a:xfrm>
            <a:off x="-8021" y="1"/>
            <a:ext cx="462047" cy="601177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F3A0634D-85F5-EEBB-5CFA-DF6DA26B410B}"/>
              </a:ext>
            </a:extLst>
          </p:cNvPr>
          <p:cNvSpPr/>
          <p:nvPr userDrawn="1"/>
        </p:nvSpPr>
        <p:spPr>
          <a:xfrm>
            <a:off x="-8021" y="6011778"/>
            <a:ext cx="462047" cy="15630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9F0DC5AA-74B2-FB35-8AC4-4F7C382DF74D}"/>
              </a:ext>
            </a:extLst>
          </p:cNvPr>
          <p:cNvSpPr/>
          <p:nvPr userDrawn="1"/>
        </p:nvSpPr>
        <p:spPr>
          <a:xfrm>
            <a:off x="-8021" y="6167935"/>
            <a:ext cx="462047" cy="15630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rgbClr val="008BC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56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1 linha - conteúdo + imagem maior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76AF2ED2-995B-1A03-7648-3FDFDADAC44E}"/>
              </a:ext>
            </a:extLst>
          </p:cNvPr>
          <p:cNvSpPr/>
          <p:nvPr userDrawn="1"/>
        </p:nvSpPr>
        <p:spPr>
          <a:xfrm>
            <a:off x="-8021" y="6324238"/>
            <a:ext cx="462047" cy="543857"/>
          </a:xfrm>
          <a:prstGeom prst="rect">
            <a:avLst/>
          </a:prstGeom>
          <a:solidFill>
            <a:srgbClr val="73BFE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rgbClr val="003A79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5028657-915C-3ADE-2174-CC9E6773EB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29501" y="0"/>
            <a:ext cx="4762500" cy="6858000"/>
          </a:xfrm>
          <a:prstGeom prst="rect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>
            <a:lvl1pPr>
              <a:defRPr lang="en-US" b="1" dirty="0">
                <a:solidFill>
                  <a:schemeClr val="bg1"/>
                </a:solidFill>
                <a:latin typeface=""/>
              </a:defRPr>
            </a:lvl1pPr>
          </a:lstStyle>
          <a:p>
            <a:pPr marR="0" lvl="0" algn="ctr" defTabSz="685709" fontAlgn="auto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307E1709-844E-7361-4AD2-A9A5454D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1" y="495302"/>
            <a:ext cx="5508004" cy="667475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3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714D3E2-9CED-352E-EA36-E350334FC341}"/>
              </a:ext>
            </a:extLst>
          </p:cNvPr>
          <p:cNvSpPr/>
          <p:nvPr userDrawn="1"/>
        </p:nvSpPr>
        <p:spPr>
          <a:xfrm>
            <a:off x="-8021" y="1"/>
            <a:ext cx="462047" cy="601177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18229FDD-461B-D924-8CFE-35961CF30A88}"/>
              </a:ext>
            </a:extLst>
          </p:cNvPr>
          <p:cNvSpPr/>
          <p:nvPr userDrawn="1"/>
        </p:nvSpPr>
        <p:spPr>
          <a:xfrm>
            <a:off x="-8021" y="6011778"/>
            <a:ext cx="462047" cy="15630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7420760-2A52-635C-3731-D3D2F85E0E81}"/>
              </a:ext>
            </a:extLst>
          </p:cNvPr>
          <p:cNvSpPr/>
          <p:nvPr userDrawn="1"/>
        </p:nvSpPr>
        <p:spPr>
          <a:xfrm>
            <a:off x="-8021" y="6167935"/>
            <a:ext cx="462047" cy="15630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rgbClr val="008BC9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9E0BE42-D627-6555-46E4-CB0654A2571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3893" r="50903"/>
          <a:stretch/>
        </p:blipFill>
        <p:spPr>
          <a:xfrm>
            <a:off x="6492051" y="-1"/>
            <a:ext cx="937449" cy="448332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A66BA6E-6600-6B3C-5168-0F1EA05709D8}"/>
              </a:ext>
            </a:extLst>
          </p:cNvPr>
          <p:cNvSpPr/>
          <p:nvPr userDrawn="1"/>
        </p:nvSpPr>
        <p:spPr>
          <a:xfrm>
            <a:off x="960000" y="427589"/>
            <a:ext cx="997200" cy="6771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B4A9508E-2BD0-7507-FADE-3D199E0C6F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0001" y="1556810"/>
            <a:ext cx="5508004" cy="4843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270000" indent="-27000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540000" indent="-27000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2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810000" indent="-27000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70000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080000" indent="-27000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60000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1725"/>
              </a:lnSpc>
              <a:spcBef>
                <a:spcPts val="0"/>
              </a:spcBef>
              <a:defRPr sz="135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52440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0E0BC1A-E00B-4D01-3F38-F72DBC6DFA34}"/>
              </a:ext>
            </a:extLst>
          </p:cNvPr>
          <p:cNvSpPr/>
          <p:nvPr userDrawn="1"/>
        </p:nvSpPr>
        <p:spPr>
          <a:xfrm>
            <a:off x="960000" y="427589"/>
            <a:ext cx="997275" cy="6771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685709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srgbClr val="202427"/>
              </a:solidFill>
              <a:effectLst/>
              <a:uLnTx/>
              <a:uFillTx/>
              <a:latin typeface="Lato regular"/>
              <a:ea typeface="+mn-ea"/>
              <a:cs typeface="+mn-cs"/>
            </a:endParaRPr>
          </a:p>
        </p:txBody>
      </p:sp>
      <p:sp>
        <p:nvSpPr>
          <p:cNvPr id="5" name="Título 17">
            <a:extLst>
              <a:ext uri="{FF2B5EF4-FFF2-40B4-BE49-F238E27FC236}">
                <a16:creationId xmlns:a16="http://schemas.microsoft.com/office/drawing/2014/main" id="{00393038-7007-2F0B-0034-1959A9E1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1" y="495302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>
              <a:lnSpc>
                <a:spcPct val="100000"/>
              </a:lnSpc>
              <a:defRPr sz="3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2B0916D-8F6B-6DB7-782D-B25BE9F54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9380" y="1556810"/>
            <a:ext cx="10273243" cy="4843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270000" indent="-27000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540000" indent="-27000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2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810000" indent="-27000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70000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080000" indent="-27000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60000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1725"/>
              </a:lnSpc>
              <a:spcBef>
                <a:spcPts val="0"/>
              </a:spcBef>
              <a:defRPr sz="135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357338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5CCC20E-C903-49BA-A94E-7CAB417C0501}"/>
              </a:ext>
            </a:extLst>
          </p:cNvPr>
          <p:cNvSpPr/>
          <p:nvPr userDrawn="1"/>
        </p:nvSpPr>
        <p:spPr>
          <a:xfrm>
            <a:off x="454025" y="3435572"/>
            <a:ext cx="11735204" cy="34224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667"/>
              </a:spcBef>
            </a:pPr>
            <a:endParaRPr lang="pt-BR" sz="933" b="1" dirty="0">
              <a:solidFill>
                <a:schemeClr val="tx1"/>
              </a:solidFill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DEE287C-96A8-9E28-F1D7-E0B16CA0CC37}"/>
              </a:ext>
            </a:extLst>
          </p:cNvPr>
          <p:cNvSpPr/>
          <p:nvPr userDrawn="1"/>
        </p:nvSpPr>
        <p:spPr>
          <a:xfrm>
            <a:off x="1" y="0"/>
            <a:ext cx="12189229" cy="34355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CF1F13-9A36-98D4-A4D7-F18E44A8AD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53" r="41409"/>
          <a:stretch/>
        </p:blipFill>
        <p:spPr>
          <a:xfrm>
            <a:off x="4744472" y="1556809"/>
            <a:ext cx="2703057" cy="53445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11BC538-53D3-490F-841D-9A96D5694256}"/>
              </a:ext>
            </a:extLst>
          </p:cNvPr>
          <p:cNvSpPr txBox="1"/>
          <p:nvPr userDrawn="1"/>
        </p:nvSpPr>
        <p:spPr>
          <a:xfrm>
            <a:off x="1415522" y="4406127"/>
            <a:ext cx="4680479" cy="1532605"/>
          </a:xfrm>
          <a:prstGeom prst="rect">
            <a:avLst/>
          </a:prstGeom>
          <a:noFill/>
        </p:spPr>
        <p:txBody>
          <a:bodyPr wrap="square" lIns="0" tIns="12000" rIns="72000" bIns="12000" rtlCol="0">
            <a:noAutofit/>
          </a:bodyPr>
          <a:lstStyle/>
          <a:p>
            <a: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67" b="0" i="0" spc="0" baseline="0" noProof="0" dirty="0">
                <a:latin typeface="Calibri" panose="020F0502020204030204" pitchFamily="34" charset="0"/>
                <a:cs typeface="Calibri" panose="020F0502020204030204" pitchFamily="34" charset="0"/>
              </a:rPr>
              <a:t>Todos os direitos reservados. Textos, vídeos, sons, imagens, gráficos e demais componentes deste material são protegidos por direitos autorais e outros direitos de propriedade intelectual, de forma que é proibida a reprodução no todo ou em parte, sem a devida autorização.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4732979-A8E4-202A-56C6-E9337EFE0B1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8343" r="50903"/>
          <a:stretch/>
        </p:blipFill>
        <p:spPr>
          <a:xfrm>
            <a:off x="11251781" y="6400800"/>
            <a:ext cx="937449" cy="371906"/>
          </a:xfrm>
          <a:prstGeom prst="rect">
            <a:avLst/>
          </a:prstGeom>
        </p:spPr>
      </p:pic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31AFEC46-72E3-D784-5CCD-03C20AA416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1455" y="4406126"/>
            <a:ext cx="4471167" cy="153260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67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4013" indent="-264013">
              <a:spcBef>
                <a:spcPts val="0"/>
              </a:spcBef>
              <a:spcAft>
                <a:spcPts val="900"/>
              </a:spcAft>
              <a:defRPr/>
            </a:lvl2pPr>
            <a:lvl3pPr marL="528026" indent="-264013">
              <a:spcBef>
                <a:spcPts val="0"/>
              </a:spcBef>
              <a:spcAft>
                <a:spcPts val="900"/>
              </a:spcAft>
              <a:buSzPct val="85000"/>
              <a:defRPr/>
            </a:lvl3pPr>
            <a:lvl4pPr marL="792040" indent="-264013">
              <a:spcBef>
                <a:spcPts val="0"/>
              </a:spcBef>
              <a:spcAft>
                <a:spcPts val="900"/>
              </a:spcAft>
              <a:buSzPct val="70000"/>
              <a:defRPr/>
            </a:lvl4pPr>
            <a:lvl5pPr marL="1056053" indent="-26401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55000"/>
              <a:defRPr sz="1467" b="0"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r>
              <a:rPr lang="pt-BR" dirty="0"/>
              <a:t>Como citar este material: </a:t>
            </a:r>
          </a:p>
          <a:p>
            <a:r>
              <a:rPr lang="pt-BR" dirty="0"/>
              <a:t>SOBRENOME, Nome. </a:t>
            </a:r>
            <a:r>
              <a:rPr lang="pt-BR" b="1" dirty="0"/>
              <a:t>XXXX</a:t>
            </a:r>
            <a:r>
              <a:rPr lang="pt-BR" dirty="0"/>
              <a:t>. Rio de Janeiro: FGV, 20xx.</a:t>
            </a:r>
          </a:p>
        </p:txBody>
      </p:sp>
    </p:spTree>
    <p:extLst>
      <p:ext uri="{BB962C8B-B14F-4D97-AF65-F5344CB8AC3E}">
        <p14:creationId xmlns:p14="http://schemas.microsoft.com/office/powerpoint/2010/main" val="6943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D07583A-2D48-A3AF-D990-A19E3BAECC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78343" r="50903"/>
          <a:stretch/>
        </p:blipFill>
        <p:spPr>
          <a:xfrm>
            <a:off x="11251782" y="6400800"/>
            <a:ext cx="937449" cy="371906"/>
          </a:xfrm>
          <a:prstGeom prst="rect">
            <a:avLst/>
          </a:prstGeom>
        </p:spPr>
      </p:pic>
      <p:sp>
        <p:nvSpPr>
          <p:cNvPr id="6" name="Rectangle 14">
            <a:extLst>
              <a:ext uri="{FF2B5EF4-FFF2-40B4-BE49-F238E27FC236}">
                <a16:creationId xmlns:a16="http://schemas.microsoft.com/office/drawing/2014/main" id="{F143268E-7A91-BD1E-5E70-071FBFE67B18}"/>
              </a:ext>
            </a:extLst>
          </p:cNvPr>
          <p:cNvSpPr/>
          <p:nvPr userDrawn="1"/>
        </p:nvSpPr>
        <p:spPr>
          <a:xfrm>
            <a:off x="-8021" y="6324238"/>
            <a:ext cx="462047" cy="533763"/>
          </a:xfrm>
          <a:prstGeom prst="rect">
            <a:avLst/>
          </a:prstGeom>
          <a:solidFill>
            <a:srgbClr val="73BFE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rgbClr val="003A79"/>
              </a:solidFill>
            </a:endParaRP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E52E3EF0-C8CB-4C81-41DE-1DA36E5B9C37}"/>
              </a:ext>
            </a:extLst>
          </p:cNvPr>
          <p:cNvSpPr/>
          <p:nvPr userDrawn="1"/>
        </p:nvSpPr>
        <p:spPr>
          <a:xfrm>
            <a:off x="-8021" y="1"/>
            <a:ext cx="462047" cy="601177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F29437F-06C8-D6D5-670D-ADFA8065A45F}"/>
              </a:ext>
            </a:extLst>
          </p:cNvPr>
          <p:cNvSpPr/>
          <p:nvPr userDrawn="1"/>
        </p:nvSpPr>
        <p:spPr>
          <a:xfrm>
            <a:off x="-8021" y="6011778"/>
            <a:ext cx="462047" cy="15630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C5242CD4-6D0B-F47E-297B-DFC2171AD17E}"/>
              </a:ext>
            </a:extLst>
          </p:cNvPr>
          <p:cNvSpPr/>
          <p:nvPr userDrawn="1"/>
        </p:nvSpPr>
        <p:spPr>
          <a:xfrm>
            <a:off x="-8021" y="6167935"/>
            <a:ext cx="462047" cy="15630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750"/>
              </a:spcBef>
            </a:pPr>
            <a:endParaRPr lang="en-US" sz="1050" b="1" dirty="0">
              <a:solidFill>
                <a:srgbClr val="008BC9"/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FDBAD02-FA1F-4D44-AEAD-07261CFEB07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74" y="6519118"/>
            <a:ext cx="798359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9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81" r:id="rId1"/>
    <p:sldLayoutId id="2147485583" r:id="rId2"/>
    <p:sldLayoutId id="2147485584" r:id="rId3"/>
    <p:sldLayoutId id="2147485585" r:id="rId4"/>
    <p:sldLayoutId id="2147485587" r:id="rId5"/>
    <p:sldLayoutId id="2147485586" r:id="rId6"/>
  </p:sldLayoutIdLst>
  <p:hf hdr="0" ftr="0" dt="0"/>
  <p:txStyles>
    <p:titleStyle>
      <a:lvl1pPr algn="l" defTabSz="685739" rtl="0" eaLnBrk="1" latinLnBrk="0" hangingPunct="1">
        <a:lnSpc>
          <a:spcPct val="90000"/>
        </a:lnSpc>
        <a:spcBef>
          <a:spcPct val="0"/>
        </a:spcBef>
        <a:buNone/>
        <a:defRPr sz="2750" b="1" i="0" kern="1200" spc="-75" baseline="0">
          <a:solidFill>
            <a:schemeClr val="accent2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1pPr>
    </p:titleStyle>
    <p:bodyStyle>
      <a:lvl1pPr marL="0" indent="0" algn="l" defTabSz="685739" rtl="0" eaLnBrk="1" latinLnBrk="0" hangingPunct="1">
        <a:lnSpc>
          <a:spcPct val="110000"/>
        </a:lnSpc>
        <a:spcBef>
          <a:spcPts val="750"/>
        </a:spcBef>
        <a:spcAft>
          <a:spcPts val="75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Lato" panose="020F0502020204030203" pitchFamily="34" charset="0"/>
          <a:cs typeface="Arial" panose="020B0604020202020204" pitchFamily="34" charset="0"/>
        </a:defRPr>
      </a:lvl1pPr>
      <a:lvl2pPr marL="181372" indent="-175816" algn="l" defTabSz="685739" rtl="0" eaLnBrk="1" latinLnBrk="0" hangingPunct="1">
        <a:lnSpc>
          <a:spcPct val="110000"/>
        </a:lnSpc>
        <a:spcBef>
          <a:spcPts val="375"/>
        </a:spcBef>
        <a:spcAft>
          <a:spcPts val="750"/>
        </a:spcAft>
        <a:buClr>
          <a:schemeClr val="accent3"/>
        </a:buClr>
        <a:buFont typeface="Wingdings" pitchFamily="2" charset="2"/>
        <a:buChar char="§"/>
        <a:tabLst/>
        <a:defRPr sz="2000" b="1" kern="1200">
          <a:solidFill>
            <a:schemeClr val="tx1"/>
          </a:solidFill>
          <a:latin typeface="Arial" panose="020B0604020202020204" pitchFamily="34" charset="0"/>
          <a:ea typeface="Lato" panose="020F0502020204030203" pitchFamily="34" charset="0"/>
          <a:cs typeface="Arial" panose="020B0604020202020204" pitchFamily="34" charset="0"/>
        </a:defRPr>
      </a:lvl2pPr>
      <a:lvl3pPr marL="356791" indent="-175419" algn="l" defTabSz="685739" rtl="0" eaLnBrk="1" latinLnBrk="0" hangingPunct="1">
        <a:lnSpc>
          <a:spcPct val="110000"/>
        </a:lnSpc>
        <a:spcBef>
          <a:spcPts val="375"/>
        </a:spcBef>
        <a:spcAft>
          <a:spcPts val="750"/>
        </a:spcAft>
        <a:buClr>
          <a:schemeClr val="accent3"/>
        </a:buClr>
        <a:buFont typeface="Wingdings" pitchFamily="2" charset="2"/>
        <a:buChar char="§"/>
        <a:tabLst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38560" indent="-170260" algn="l" defTabSz="685739" rtl="0" eaLnBrk="1" latinLnBrk="0" hangingPunct="1">
        <a:lnSpc>
          <a:spcPct val="110000"/>
        </a:lnSpc>
        <a:spcBef>
          <a:spcPts val="375"/>
        </a:spcBef>
        <a:spcAft>
          <a:spcPts val="750"/>
        </a:spcAft>
        <a:buClr>
          <a:schemeClr val="accent3"/>
        </a:buClr>
        <a:buFont typeface="Wingdings" pitchFamily="2" charset="2"/>
        <a:buChar char="§"/>
        <a:tabLst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13979" indent="-169863" algn="l" defTabSz="685739" rtl="0" eaLnBrk="1" latinLnBrk="0" hangingPunct="1">
        <a:lnSpc>
          <a:spcPct val="110000"/>
        </a:lnSpc>
        <a:spcBef>
          <a:spcPts val="375"/>
        </a:spcBef>
        <a:spcAft>
          <a:spcPts val="750"/>
        </a:spcAft>
        <a:buClr>
          <a:schemeClr val="accent3"/>
        </a:buClr>
        <a:buFont typeface="Wingdings" pitchFamily="2" charset="2"/>
        <a:buChar char="§"/>
        <a:tabLst/>
        <a:defRPr sz="2000" b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781" indent="-171435" algn="l" defTabSz="68573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51" indent="-171435" algn="l" defTabSz="68573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19" indent="-171435" algn="l" defTabSz="68573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388" indent="-171435" algn="l" defTabSz="68573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0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39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09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77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46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15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84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54" algn="l" defTabSz="68573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760" userDrawn="1">
          <p15:clr>
            <a:srgbClr val="F26B43"/>
          </p15:clr>
        </p15:guide>
        <p15:guide id="28" pos="845" userDrawn="1">
          <p15:clr>
            <a:srgbClr val="F26B43"/>
          </p15:clr>
        </p15:guide>
        <p15:guide id="29" pos="14152" userDrawn="1">
          <p15:clr>
            <a:srgbClr val="F26B43"/>
          </p15:clr>
        </p15:guide>
        <p15:guide id="48" pos="1844" userDrawn="1">
          <p15:clr>
            <a:srgbClr val="F26B43"/>
          </p15:clr>
        </p15:guide>
        <p15:guide id="52" pos="3360" userDrawn="1">
          <p15:clr>
            <a:srgbClr val="F26B43"/>
          </p15:clr>
        </p15:guide>
        <p15:guide id="54" orient="horz" pos="1976" userDrawn="1">
          <p15:clr>
            <a:srgbClr val="F26B43"/>
          </p15:clr>
        </p15:guide>
        <p15:guide id="55" orient="horz" pos="4860" userDrawn="1">
          <p15:clr>
            <a:srgbClr val="F26B43"/>
          </p15:clr>
        </p15:guide>
        <p15:guide id="56" orient="horz" pos="5580" userDrawn="1">
          <p15:clr>
            <a:srgbClr val="F26B43"/>
          </p15:clr>
        </p15:guide>
        <p15:guide id="57" orient="horz" pos="6143" userDrawn="1">
          <p15:clr>
            <a:srgbClr val="F26B43"/>
          </p15:clr>
        </p15:guide>
        <p15:guide id="58" pos="8149" userDrawn="1">
          <p15:clr>
            <a:srgbClr val="F26B43"/>
          </p15:clr>
        </p15:guide>
        <p15:guide id="60" pos="10560" userDrawn="1">
          <p15:clr>
            <a:srgbClr val="F26B43"/>
          </p15:clr>
        </p15:guide>
        <p15:guide id="61" pos="12960" userDrawn="1">
          <p15:clr>
            <a:srgbClr val="F26B43"/>
          </p15:clr>
        </p15:guide>
        <p15:guide id="62" orient="horz" pos="468" userDrawn="1">
          <p15:clr>
            <a:srgbClr val="F26B43"/>
          </p15:clr>
        </p15:guide>
        <p15:guide id="64" orient="horz" pos="2480" userDrawn="1">
          <p15:clr>
            <a:srgbClr val="F26B43"/>
          </p15:clr>
        </p15:guide>
        <p15:guide id="66" orient="horz" pos="1471" userDrawn="1">
          <p15:clr>
            <a:srgbClr val="F26B43"/>
          </p15:clr>
        </p15:guide>
        <p15:guide id="67" orient="horz" pos="3240" userDrawn="1">
          <p15:clr>
            <a:srgbClr val="F26B43"/>
          </p15:clr>
        </p15:guide>
        <p15:guide id="69" pos="77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1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1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1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1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1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1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1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1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1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1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1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1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1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1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1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1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13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1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1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13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13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13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13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13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13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13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13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1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13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png"/><Relationship Id="rId4" Type="http://schemas.openxmlformats.org/officeDocument/2006/relationships/image" Target="../media/image13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13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13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13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13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emf"/><Relationship Id="rId4" Type="http://schemas.openxmlformats.org/officeDocument/2006/relationships/image" Target="../media/image13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7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7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13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13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13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13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13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4.png"/><Relationship Id="rId4" Type="http://schemas.openxmlformats.org/officeDocument/2006/relationships/image" Target="../media/image13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13.png"/></Relationships>
</file>

<file path=ppt/slides/_rels/slide2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2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13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13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3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6.png"/><Relationship Id="rId4" Type="http://schemas.openxmlformats.org/officeDocument/2006/relationships/image" Target="../media/image13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7.png"/><Relationship Id="rId4" Type="http://schemas.openxmlformats.org/officeDocument/2006/relationships/image" Target="../media/image13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8.png"/><Relationship Id="rId4" Type="http://schemas.openxmlformats.org/officeDocument/2006/relationships/image" Target="../media/image13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9.png"/><Relationship Id="rId4" Type="http://schemas.openxmlformats.org/officeDocument/2006/relationships/image" Target="../media/image13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0.png"/><Relationship Id="rId4" Type="http://schemas.openxmlformats.org/officeDocument/2006/relationships/image" Target="../media/image13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1.png"/><Relationship Id="rId4" Type="http://schemas.openxmlformats.org/officeDocument/2006/relationships/image" Target="../media/image13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2.png"/><Relationship Id="rId4" Type="http://schemas.openxmlformats.org/officeDocument/2006/relationships/image" Target="../media/image13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2.png"/><Relationship Id="rId4" Type="http://schemas.openxmlformats.org/officeDocument/2006/relationships/image" Target="../media/image13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3.png"/><Relationship Id="rId4" Type="http://schemas.openxmlformats.org/officeDocument/2006/relationships/image" Target="../media/image13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4.png"/><Relationship Id="rId4" Type="http://schemas.openxmlformats.org/officeDocument/2006/relationships/image" Target="../media/image13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5.png"/><Relationship Id="rId4" Type="http://schemas.openxmlformats.org/officeDocument/2006/relationships/image" Target="../media/image13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3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3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0.png"/><Relationship Id="rId4" Type="http://schemas.openxmlformats.org/officeDocument/2006/relationships/image" Target="../media/image13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3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3.png"/><Relationship Id="rId4" Type="http://schemas.openxmlformats.org/officeDocument/2006/relationships/image" Target="../media/image13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3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7.png"/><Relationship Id="rId4" Type="http://schemas.openxmlformats.org/officeDocument/2006/relationships/image" Target="../media/image13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.png"/><Relationship Id="rId5" Type="http://schemas.openxmlformats.org/officeDocument/2006/relationships/image" Target="../media/image119.png"/><Relationship Id="rId4" Type="http://schemas.openxmlformats.org/officeDocument/2006/relationships/image" Target="../media/image13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5" Type="http://schemas.openxmlformats.org/officeDocument/2006/relationships/image" Target="../media/image126.png"/><Relationship Id="rId4" Type="http://schemas.openxmlformats.org/officeDocument/2006/relationships/image" Target="../media/image13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0.png"/><Relationship Id="rId4" Type="http://schemas.openxmlformats.org/officeDocument/2006/relationships/image" Target="../media/image13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1.png"/><Relationship Id="rId4" Type="http://schemas.openxmlformats.org/officeDocument/2006/relationships/image" Target="../media/image13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2.png"/><Relationship Id="rId4" Type="http://schemas.openxmlformats.org/officeDocument/2006/relationships/image" Target="../media/image13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5.png"/><Relationship Id="rId4" Type="http://schemas.openxmlformats.org/officeDocument/2006/relationships/image" Target="../media/image13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6.png"/><Relationship Id="rId4" Type="http://schemas.openxmlformats.org/officeDocument/2006/relationships/image" Target="../media/image13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3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4.png"/><Relationship Id="rId4" Type="http://schemas.openxmlformats.org/officeDocument/2006/relationships/image" Target="../media/image13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3.png"/></Relationships>
</file>

<file path=ppt/slides/_rels/slide2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2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3.png"/><Relationship Id="rId9" Type="http://schemas.openxmlformats.org/officeDocument/2006/relationships/image" Target="../media/image15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3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3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7.png"/><Relationship Id="rId4" Type="http://schemas.openxmlformats.org/officeDocument/2006/relationships/image" Target="../media/image13.png"/></Relationships>
</file>

<file path=ppt/slides/_rels/slide2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3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3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3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3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8.png"/><Relationship Id="rId4" Type="http://schemas.openxmlformats.org/officeDocument/2006/relationships/image" Target="../media/image13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283B26-E0C3-152E-1502-1BC2B6859D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85641" y="3429000"/>
            <a:ext cx="7362826" cy="1848790"/>
          </a:xfrm>
        </p:spPr>
        <p:txBody>
          <a:bodyPr/>
          <a:lstStyle/>
          <a:p>
            <a:r>
              <a:rPr lang="pt-BR" dirty="0"/>
              <a:t>Roberto Pina Rizzo, MSC, PMP, PMI-ACP, SAFe 6 Agilist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86C93C8-6138-5311-13F5-F08E59B2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18" y="2240527"/>
            <a:ext cx="9771966" cy="500607"/>
          </a:xfrm>
        </p:spPr>
        <p:txBody>
          <a:bodyPr/>
          <a:lstStyle/>
          <a:p>
            <a:r>
              <a:rPr lang="pt-BR" sz="4000" dirty="0"/>
              <a:t>Modelagem Preditiva</a:t>
            </a:r>
            <a:endParaRPr 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292230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E8A144F6-5D2E-F885-B3AA-B74850F6AD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55" r="12955"/>
          <a:stretch/>
        </p:blipFill>
        <p:spPr/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C07BFA4-F92D-4CFA-6E2C-CE6629E8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Abertura</a:t>
            </a:r>
          </a:p>
        </p:txBody>
      </p:sp>
    </p:spTree>
    <p:extLst>
      <p:ext uri="{BB962C8B-B14F-4D97-AF65-F5344CB8AC3E}">
        <p14:creationId xmlns:p14="http://schemas.microsoft.com/office/powerpoint/2010/main" val="250910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Imagem 5">
            <a:extLst>
              <a:ext uri="{FF2B5EF4-FFF2-40B4-BE49-F238E27FC236}">
                <a16:creationId xmlns:a16="http://schemas.microsoft.com/office/drawing/2014/main" id="{4E6CFB9B-FA3C-07C0-D6D9-8DCC6816D3B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00" b="2000"/>
          <a:stretch/>
        </p:blipFill>
        <p:spPr>
          <a:xfrm>
            <a:off x="7518400" y="0"/>
            <a:ext cx="4673600" cy="6858000"/>
          </a:xfr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2385DD9C-58E6-C06A-1A63-D9EEE122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15" y="791998"/>
            <a:ext cx="4131003" cy="500607"/>
          </a:xfrm>
        </p:spPr>
        <p:txBody>
          <a:bodyPr/>
          <a:lstStyle/>
          <a:p>
            <a:r>
              <a:rPr lang="pt-BR" sz="4000" dirty="0"/>
              <a:t>Objetivos do curso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C8FD6395-5BBC-240C-7C14-C851EA4D79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3814" y="1299654"/>
            <a:ext cx="6584585" cy="5041052"/>
          </a:xfrm>
        </p:spPr>
        <p:txBody>
          <a:bodyPr>
            <a:noAutofit/>
          </a:bodyPr>
          <a:lstStyle/>
          <a:p>
            <a:r>
              <a:rPr lang="pt-BR" sz="2350" dirty="0"/>
              <a:t>Rever / aprofundar o ciclo de execução dos projetos analíticos.</a:t>
            </a:r>
          </a:p>
          <a:p>
            <a:r>
              <a:rPr lang="pt-BR" sz="2350" dirty="0"/>
              <a:t>Recapitular as principais modelagens preditivas de Ciência de Dados.</a:t>
            </a:r>
          </a:p>
          <a:p>
            <a:r>
              <a:rPr lang="pt-BR" sz="2350" dirty="0"/>
              <a:t>Conhecer os princípios da Engenharia de Variáveis </a:t>
            </a:r>
            <a:r>
              <a:rPr lang="pt-BR" sz="2350" i="1" dirty="0"/>
              <a:t>(Feature Engineering).</a:t>
            </a:r>
          </a:p>
          <a:p>
            <a:r>
              <a:rPr lang="pt-BR" sz="2350" dirty="0"/>
              <a:t>Recapitular / aprofundar os processos de construção e validação de modelagens preditivas.</a:t>
            </a:r>
          </a:p>
          <a:p>
            <a:r>
              <a:rPr lang="pt-BR" sz="2350" dirty="0"/>
              <a:t>Entender como ocorre a consolidação das modelagens </a:t>
            </a:r>
            <a:r>
              <a:rPr lang="pt-BR" sz="2350" i="1" dirty="0"/>
              <a:t>(ensemble) </a:t>
            </a:r>
            <a:r>
              <a:rPr lang="pt-BR" sz="2350" dirty="0"/>
              <a:t>para uma predição mais confiável.</a:t>
            </a:r>
          </a:p>
          <a:p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135644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246FA-6D81-1E76-B998-0F6F7F00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1" y="495301"/>
            <a:ext cx="10272000" cy="667475"/>
          </a:xfrm>
        </p:spPr>
        <p:txBody>
          <a:bodyPr anchor="b" anchorCtr="0"/>
          <a:lstStyle/>
          <a:p>
            <a:r>
              <a:rPr lang="pt-BR" sz="4000" dirty="0"/>
              <a:t>Orientações gerais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3DD838A-97D9-FA25-D769-88E80FF6CC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9380" y="1208469"/>
            <a:ext cx="10273242" cy="4843991"/>
          </a:xfrm>
        </p:spPr>
        <p:txBody>
          <a:bodyPr>
            <a:normAutofit/>
          </a:bodyPr>
          <a:lstStyle/>
          <a:p>
            <a:r>
              <a:rPr lang="pt-BR" sz="2500" dirty="0"/>
              <a:t>Havendo dúvidas ou curiosidades, levante a mão. Faremos pausas estratégicas para responder perguntas e realizar discussões.</a:t>
            </a:r>
          </a:p>
          <a:p>
            <a:r>
              <a:rPr lang="pt-BR" sz="2500" dirty="0"/>
              <a:t>Evite se distrair com o celular / computador.</a:t>
            </a:r>
          </a:p>
          <a:p>
            <a:r>
              <a:rPr lang="pt-BR" sz="2500" dirty="0"/>
              <a:t>Procure participar ativamente das reflexões e atividades.</a:t>
            </a:r>
          </a:p>
          <a:p>
            <a:r>
              <a:rPr lang="pt-BR" sz="2500" dirty="0"/>
              <a:t>Nas sessões online, mantenha o microfone desligado quando não for falar, para evitar quer sons do ambiente interfiram na aula.</a:t>
            </a:r>
          </a:p>
        </p:txBody>
      </p:sp>
    </p:spTree>
    <p:extLst>
      <p:ext uri="{BB962C8B-B14F-4D97-AF65-F5344CB8AC3E}">
        <p14:creationId xmlns:p14="http://schemas.microsoft.com/office/powerpoint/2010/main" val="97452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246FA-6D81-1E76-B998-0F6F7F00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1" y="495301"/>
            <a:ext cx="10272000" cy="667475"/>
          </a:xfrm>
        </p:spPr>
        <p:txBody>
          <a:bodyPr anchor="b" anchorCtr="0"/>
          <a:lstStyle/>
          <a:p>
            <a:r>
              <a:rPr lang="pt-BR" sz="4000" dirty="0"/>
              <a:t>Conteúdo do curso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3DD838A-97D9-FA25-D769-88E80FF6CC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9380" y="1208469"/>
            <a:ext cx="10650114" cy="4843991"/>
          </a:xfrm>
        </p:spPr>
        <p:txBody>
          <a:bodyPr>
            <a:normAutofit/>
          </a:bodyPr>
          <a:lstStyle/>
          <a:p>
            <a:r>
              <a:rPr lang="pt-BR" sz="2500" dirty="0">
                <a:solidFill>
                  <a:srgbClr val="008BC9"/>
                </a:solidFill>
              </a:rPr>
              <a:t>Módulo 1</a:t>
            </a:r>
            <a:r>
              <a:rPr lang="pt-BR" sz="2500" dirty="0"/>
              <a:t> – Ciclo de execução dos projetos analíticos</a:t>
            </a:r>
            <a:endParaRPr lang="pt-BR" sz="2500" i="1" dirty="0"/>
          </a:p>
          <a:p>
            <a:r>
              <a:rPr lang="pt-BR" sz="2500" dirty="0">
                <a:solidFill>
                  <a:srgbClr val="008BC9"/>
                </a:solidFill>
              </a:rPr>
              <a:t>Módulo 2</a:t>
            </a:r>
            <a:r>
              <a:rPr lang="pt-BR" sz="2500" dirty="0"/>
              <a:t> – Recapitulação – modelagens preditivas de Ciência de Dados</a:t>
            </a:r>
          </a:p>
          <a:p>
            <a:r>
              <a:rPr lang="pt-BR" sz="2500" dirty="0">
                <a:solidFill>
                  <a:srgbClr val="008BC9"/>
                </a:solidFill>
              </a:rPr>
              <a:t>Módulo 3 </a:t>
            </a:r>
            <a:r>
              <a:rPr lang="pt-BR" sz="2500" dirty="0"/>
              <a:t>– Engenharia de Variáveis </a:t>
            </a:r>
            <a:r>
              <a:rPr lang="pt-BR" sz="2500" i="1" dirty="0"/>
              <a:t>(Feature Engineering)</a:t>
            </a:r>
          </a:p>
          <a:p>
            <a:r>
              <a:rPr lang="pt-BR" sz="2500" dirty="0">
                <a:solidFill>
                  <a:srgbClr val="008BC9"/>
                </a:solidFill>
              </a:rPr>
              <a:t>Módulo 4 </a:t>
            </a:r>
            <a:r>
              <a:rPr lang="pt-BR" sz="2500" dirty="0"/>
              <a:t>– Construção e validação de modelagens</a:t>
            </a:r>
          </a:p>
          <a:p>
            <a:r>
              <a:rPr lang="pt-BR" sz="2500" dirty="0">
                <a:solidFill>
                  <a:srgbClr val="008BC9"/>
                </a:solidFill>
              </a:rPr>
              <a:t>Módulo 5 </a:t>
            </a:r>
            <a:r>
              <a:rPr lang="pt-BR" sz="2500" dirty="0"/>
              <a:t>– Consolidação de modelagens preditivas </a:t>
            </a:r>
            <a:r>
              <a:rPr lang="pt-BR" sz="2500" i="1" dirty="0"/>
              <a:t>(Ensemble)</a:t>
            </a:r>
          </a:p>
        </p:txBody>
      </p:sp>
    </p:spTree>
    <p:extLst>
      <p:ext uri="{BB962C8B-B14F-4D97-AF65-F5344CB8AC3E}">
        <p14:creationId xmlns:p14="http://schemas.microsoft.com/office/powerpoint/2010/main" val="178949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E8A144F6-5D2E-F885-B3AA-B74850F6AD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55" r="12955"/>
          <a:stretch/>
        </p:blipFill>
        <p:spPr/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C07BFA4-F92D-4CFA-6E2C-CE6629E8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Módulo 1 – Ciclo de execução dos projetos analíticos</a:t>
            </a:r>
            <a:endParaRPr 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836730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/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6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O processo de mineração de dados, para encontrar padrões e construir modelos, envolve repetições.</a:t>
            </a:r>
          </a:p>
          <a:p>
            <a:pPr eaLnBrk="1" hangingPunct="1"/>
            <a:endParaRPr lang="pt-BR" altLang="pt-BR" sz="2500" dirty="0"/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7527045" y="3559703"/>
            <a:ext cx="3070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</a:rPr>
              <a:t>Trata-se de algo bem mais investigativo e experimental do que um desenvolvimento de software.</a:t>
            </a:r>
          </a:p>
        </p:txBody>
      </p:sp>
      <p:grpSp>
        <p:nvGrpSpPr>
          <p:cNvPr id="40" name="Grupo 39"/>
          <p:cNvGrpSpPr/>
          <p:nvPr/>
        </p:nvGrpSpPr>
        <p:grpSpPr>
          <a:xfrm>
            <a:off x="2194858" y="2243733"/>
            <a:ext cx="5263941" cy="4413027"/>
            <a:chOff x="-95533" y="1831060"/>
            <a:chExt cx="5691120" cy="4861143"/>
          </a:xfrm>
        </p:grpSpPr>
        <p:sp>
          <p:nvSpPr>
            <p:cNvPr id="3" name="Retângulo 2"/>
            <p:cNvSpPr/>
            <p:nvPr/>
          </p:nvSpPr>
          <p:spPr>
            <a:xfrm>
              <a:off x="1105469" y="2634018"/>
              <a:ext cx="1310185" cy="518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Compreensão do negócio</a:t>
              </a:r>
            </a:p>
          </p:txBody>
        </p:sp>
        <p:sp>
          <p:nvSpPr>
            <p:cNvPr id="8" name="Retângulo 7"/>
            <p:cNvSpPr/>
            <p:nvPr/>
          </p:nvSpPr>
          <p:spPr>
            <a:xfrm>
              <a:off x="3018437" y="2636290"/>
              <a:ext cx="1310185" cy="518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Compreensão dos dados</a:t>
              </a:r>
            </a:p>
          </p:txBody>
        </p:sp>
        <p:sp>
          <p:nvSpPr>
            <p:cNvPr id="9" name="Retângulo 8"/>
            <p:cNvSpPr/>
            <p:nvPr/>
          </p:nvSpPr>
          <p:spPr>
            <a:xfrm>
              <a:off x="3646232" y="3577993"/>
              <a:ext cx="1310185" cy="518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Preparação dos dados</a:t>
              </a: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3648505" y="4523033"/>
              <a:ext cx="1310185" cy="518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Modelagem</a:t>
              </a:r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2336047" y="5426299"/>
              <a:ext cx="1310185" cy="518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Avaliação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400330" y="4003352"/>
              <a:ext cx="1310185" cy="518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Implantação</a:t>
              </a:r>
            </a:p>
          </p:txBody>
        </p:sp>
        <p:sp>
          <p:nvSpPr>
            <p:cNvPr id="4" name="Fluxograma: Disco magnético 3"/>
            <p:cNvSpPr/>
            <p:nvPr/>
          </p:nvSpPr>
          <p:spPr>
            <a:xfrm>
              <a:off x="2142721" y="3625699"/>
              <a:ext cx="830234" cy="1253314"/>
            </a:xfrm>
            <a:prstGeom prst="flowChartMagneticDisk">
              <a:avLst/>
            </a:prstGeom>
            <a:solidFill>
              <a:srgbClr val="0070C0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3" name="CaixaDeTexto 12"/>
            <p:cNvSpPr txBox="1"/>
            <p:nvPr/>
          </p:nvSpPr>
          <p:spPr>
            <a:xfrm>
              <a:off x="1905189" y="4879689"/>
              <a:ext cx="1351129" cy="372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0070C0"/>
                  </a:solidFill>
                  <a:latin typeface="+mn-lt"/>
                </a:rPr>
                <a:t>Dados</a:t>
              </a:r>
            </a:p>
          </p:txBody>
        </p:sp>
        <p:cxnSp>
          <p:nvCxnSpPr>
            <p:cNvPr id="15" name="Conector de seta reta 14"/>
            <p:cNvCxnSpPr/>
            <p:nvPr/>
          </p:nvCxnSpPr>
          <p:spPr>
            <a:xfrm flipV="1">
              <a:off x="2415654" y="2723544"/>
              <a:ext cx="602783" cy="6008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/>
            <p:nvPr/>
          </p:nvCxnSpPr>
          <p:spPr>
            <a:xfrm flipV="1">
              <a:off x="2409027" y="2987260"/>
              <a:ext cx="602783" cy="6008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/>
            <p:nvPr/>
          </p:nvCxnSpPr>
          <p:spPr>
            <a:xfrm>
              <a:off x="3919993" y="3161259"/>
              <a:ext cx="15903" cy="404639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/>
            <p:nvPr/>
          </p:nvCxnSpPr>
          <p:spPr>
            <a:xfrm>
              <a:off x="4430203" y="4092886"/>
              <a:ext cx="15903" cy="404639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/>
            <p:nvPr/>
          </p:nvCxnSpPr>
          <p:spPr>
            <a:xfrm flipV="1">
              <a:off x="4075027" y="4086797"/>
              <a:ext cx="750" cy="424948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angulado 24"/>
            <p:cNvCxnSpPr>
              <a:stCxn id="10" idx="2"/>
              <a:endCxn id="11" idx="3"/>
            </p:cNvCxnSpPr>
            <p:nvPr/>
          </p:nvCxnSpPr>
          <p:spPr>
            <a:xfrm rot="5400000">
              <a:off x="3652936" y="5034944"/>
              <a:ext cx="643959" cy="657366"/>
            </a:xfrm>
            <a:prstGeom prst="bentConnector2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angulado 27"/>
            <p:cNvCxnSpPr>
              <a:stCxn id="11" idx="1"/>
              <a:endCxn id="12" idx="2"/>
            </p:cNvCxnSpPr>
            <p:nvPr/>
          </p:nvCxnSpPr>
          <p:spPr>
            <a:xfrm rot="10800000">
              <a:off x="1055423" y="4521967"/>
              <a:ext cx="1280624" cy="1163640"/>
            </a:xfrm>
            <a:prstGeom prst="bentConnector2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angulado 29"/>
            <p:cNvCxnSpPr>
              <a:endCxn id="3" idx="2"/>
            </p:cNvCxnSpPr>
            <p:nvPr/>
          </p:nvCxnSpPr>
          <p:spPr>
            <a:xfrm rot="16200000" flipV="1">
              <a:off x="1425874" y="3487321"/>
              <a:ext cx="2273666" cy="1604290"/>
            </a:xfrm>
            <a:prstGeom prst="bentConnector3">
              <a:avLst>
                <a:gd name="adj1" fmla="val 87070"/>
              </a:avLst>
            </a:prstGeom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Elipse 34"/>
            <p:cNvSpPr/>
            <p:nvPr/>
          </p:nvSpPr>
          <p:spPr>
            <a:xfrm>
              <a:off x="54593" y="1992575"/>
              <a:ext cx="5390866" cy="454982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6" name="Triângulo isósceles 35"/>
            <p:cNvSpPr/>
            <p:nvPr/>
          </p:nvSpPr>
          <p:spPr>
            <a:xfrm>
              <a:off x="-95533" y="4096608"/>
              <a:ext cx="313898" cy="22973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8" name="Triângulo isósceles 37"/>
            <p:cNvSpPr/>
            <p:nvPr/>
          </p:nvSpPr>
          <p:spPr>
            <a:xfrm flipV="1">
              <a:off x="5283975" y="4126184"/>
              <a:ext cx="311612" cy="245656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7" name="Triângulo isósceles 36"/>
            <p:cNvSpPr/>
            <p:nvPr/>
          </p:nvSpPr>
          <p:spPr>
            <a:xfrm rot="16200000">
              <a:off x="2662058" y="6381306"/>
              <a:ext cx="322539" cy="299255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Triângulo isósceles 40"/>
            <p:cNvSpPr/>
            <p:nvPr/>
          </p:nvSpPr>
          <p:spPr>
            <a:xfrm rot="16200000" flipV="1">
              <a:off x="2614906" y="1863836"/>
              <a:ext cx="305049" cy="23949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717841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/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6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Compreensão do negócio</a:t>
            </a:r>
          </a:p>
          <a:p>
            <a:pPr lvl="1" eaLnBrk="1" hangingPunct="1"/>
            <a:r>
              <a:rPr lang="pt-BR" altLang="pt-BR" sz="2500" dirty="0"/>
              <a:t>O problema a ser resolvido deve ser formulado, muitas vezes de forma iterativa (processo de exploração e descoberta).</a:t>
            </a:r>
          </a:p>
          <a:p>
            <a:pPr lvl="1" eaLnBrk="1" hangingPunct="1"/>
            <a:r>
              <a:rPr lang="pt-BR" altLang="pt-BR" sz="2500" dirty="0"/>
              <a:t>Aqui, doses de arte e criatividade são necessárias.</a:t>
            </a:r>
          </a:p>
          <a:p>
            <a:pPr lvl="1"/>
            <a:r>
              <a:rPr lang="pt-BR" altLang="pt-BR" sz="2500" dirty="0"/>
              <a:t>Precisamos chegar na tradução do problema de negócio para um problema analítico.</a:t>
            </a:r>
          </a:p>
          <a:p>
            <a:pPr lvl="1"/>
            <a:endParaRPr lang="pt-BR" altLang="pt-BR" sz="2500" dirty="0"/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</p:spTree>
    <p:extLst>
      <p:ext uri="{BB962C8B-B14F-4D97-AF65-F5344CB8AC3E}">
        <p14:creationId xmlns:p14="http://schemas.microsoft.com/office/powerpoint/2010/main" val="353336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AD4A-A2E6-E4F6-A6D0-AFDF3F75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9B507BE-BFFA-039D-BA5C-08D03DAB8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17FC145F-308D-0175-CDDE-BA7230F7095F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6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Compreensão do negócio </a:t>
            </a:r>
            <a:r>
              <a:rPr lang="pt-BR" altLang="pt-BR" sz="2500" i="1" dirty="0"/>
              <a:t>– cont.</a:t>
            </a:r>
          </a:p>
          <a:p>
            <a:pPr lvl="1"/>
            <a:r>
              <a:rPr lang="pt-BR" altLang="pt-BR" sz="2500" dirty="0"/>
              <a:t>Exemplo:</a:t>
            </a:r>
          </a:p>
          <a:p>
            <a:pPr lvl="2"/>
            <a:r>
              <a:rPr lang="pt-BR" altLang="pt-BR" sz="2400" dirty="0"/>
              <a:t>Pergunta de negócio: "Como reduzir a perda de clientes?“</a:t>
            </a:r>
          </a:p>
          <a:p>
            <a:pPr lvl="2"/>
            <a:r>
              <a:rPr lang="pt-BR" altLang="pt-BR" sz="2400" dirty="0"/>
              <a:t>Pergunta analítica: "Quais clientes apresentam maior probabilidade de cancelar nos próximos 90 dias?“</a:t>
            </a:r>
          </a:p>
          <a:p>
            <a:pPr lvl="2"/>
            <a:r>
              <a:rPr lang="pt-BR" altLang="pt-BR" sz="2400" dirty="0"/>
              <a:t>Variável-alvo: churn = 1 se cancelar nos próximos 90 dias; 0 caso contrário.</a:t>
            </a:r>
          </a:p>
          <a:p>
            <a:pPr lvl="2"/>
            <a:r>
              <a:rPr lang="pt-BR" altLang="pt-BR" sz="2400" dirty="0"/>
              <a:t>Ação de negócio: priorizar ações de retenção para clientes de alto risco de cancelamento.</a:t>
            </a:r>
          </a:p>
          <a:p>
            <a:pPr lvl="1"/>
            <a:endParaRPr lang="pt-BR" altLang="pt-BR" sz="24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</p:spTree>
    <p:extLst>
      <p:ext uri="{BB962C8B-B14F-4D97-AF65-F5344CB8AC3E}">
        <p14:creationId xmlns:p14="http://schemas.microsoft.com/office/powerpoint/2010/main" val="146758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/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4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Compreensão dos dados</a:t>
            </a:r>
          </a:p>
          <a:p>
            <a:pPr lvl="1" eaLnBrk="1" hangingPunct="1"/>
            <a:r>
              <a:rPr lang="pt-BR" altLang="pt-BR" sz="2500" dirty="0"/>
              <a:t>Raramente os dados têm uma correspondência exata com o problema.</a:t>
            </a:r>
          </a:p>
          <a:p>
            <a:pPr lvl="1" eaLnBrk="1" hangingPunct="1"/>
            <a:r>
              <a:rPr lang="pt-BR" altLang="pt-BR" sz="2500" dirty="0"/>
              <a:t>Alguns dados podem vir de graça, outros precisam ser obtidos e até comprados.</a:t>
            </a:r>
          </a:p>
          <a:p>
            <a:pPr lvl="1" eaLnBrk="1" hangingPunct="1"/>
            <a:r>
              <a:rPr lang="pt-BR" altLang="pt-BR" sz="2500" dirty="0"/>
              <a:t>Poderá haver necessidade de realizar diferentes tipos de tarefas de mineração de dados, combinando suas soluções.</a:t>
            </a:r>
          </a:p>
          <a:p>
            <a:pPr lvl="1" eaLnBrk="1" hangingPunct="1"/>
            <a:endParaRPr lang="pt-BR" altLang="pt-BR" sz="2500" dirty="0"/>
          </a:p>
        </p:txBody>
      </p:sp>
    </p:spTree>
    <p:extLst>
      <p:ext uri="{BB962C8B-B14F-4D97-AF65-F5344CB8AC3E}">
        <p14:creationId xmlns:p14="http://schemas.microsoft.com/office/powerpoint/2010/main" val="178126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/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38442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Preparação dos dados</a:t>
            </a:r>
          </a:p>
          <a:p>
            <a:pPr lvl="1" eaLnBrk="1" hangingPunct="1"/>
            <a:r>
              <a:rPr lang="pt-BR" altLang="pt-BR" sz="2500" dirty="0"/>
              <a:t>Exemplos: </a:t>
            </a:r>
          </a:p>
          <a:p>
            <a:pPr lvl="2"/>
            <a:r>
              <a:rPr lang="pt-BR" altLang="pt-BR" sz="2500" dirty="0"/>
              <a:t>Organização em forma tabular, com remoção de valores ou inferência de valores ausentes.</a:t>
            </a:r>
          </a:p>
          <a:p>
            <a:pPr lvl="2"/>
            <a:r>
              <a:rPr lang="pt-BR" altLang="pt-BR" sz="2500" dirty="0"/>
              <a:t>Conversões de dados para diferentes tipos.</a:t>
            </a:r>
          </a:p>
          <a:p>
            <a:pPr lvl="2"/>
            <a:r>
              <a:rPr lang="pt-BR" altLang="pt-BR" sz="2500" dirty="0"/>
              <a:t>Normalização, para nivelar as escalas dos valores.</a:t>
            </a:r>
          </a:p>
          <a:p>
            <a:pPr lvl="2"/>
            <a:r>
              <a:rPr lang="pt-BR" altLang="pt-BR" sz="2500" dirty="0"/>
              <a:t>Outras técnicas de preparação.</a:t>
            </a:r>
          </a:p>
          <a:p>
            <a:pPr lvl="2"/>
            <a:r>
              <a:rPr lang="pt-BR" altLang="pt-BR" sz="2500" dirty="0">
                <a:solidFill>
                  <a:srgbClr val="0070C0"/>
                </a:solidFill>
              </a:rPr>
              <a:t>Aqui entra a Engenharia de Variáveis </a:t>
            </a:r>
            <a:r>
              <a:rPr lang="pt-BR" altLang="pt-BR" sz="2500" i="1" dirty="0">
                <a:solidFill>
                  <a:srgbClr val="0070C0"/>
                </a:solidFill>
              </a:rPr>
              <a:t>(Feature Engineering) </a:t>
            </a:r>
            <a:r>
              <a:rPr lang="pt-BR" altLang="pt-BR" sz="2500" dirty="0">
                <a:solidFill>
                  <a:srgbClr val="0070C0"/>
                </a:solidFill>
              </a:rPr>
              <a:t>que veremos na disciplina.</a:t>
            </a:r>
          </a:p>
        </p:txBody>
      </p:sp>
    </p:spTree>
    <p:extLst>
      <p:ext uri="{BB962C8B-B14F-4D97-AF65-F5344CB8AC3E}">
        <p14:creationId xmlns:p14="http://schemas.microsoft.com/office/powerpoint/2010/main" val="104857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DDF2-CC84-492A-888C-4639AC1B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0AF9F3E8-A130-D6DD-F6F7-6BEADB9D4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65CD4202-39E2-1969-9F2E-AC3E7E4DAACE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38442"/>
            <a:ext cx="10273243" cy="4843991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pt-BR" altLang="pt-BR" sz="2700" dirty="0"/>
              <a:t>Preparação dos dados</a:t>
            </a:r>
            <a:r>
              <a:rPr lang="pt-BR" altLang="pt-BR" sz="2700" i="1" dirty="0"/>
              <a:t> – cont.</a:t>
            </a:r>
          </a:p>
          <a:p>
            <a:pPr lvl="1"/>
            <a:r>
              <a:rPr lang="pt-BR" altLang="pt-BR" sz="2600" dirty="0"/>
              <a:t>Preparação Inclui:</a:t>
            </a:r>
          </a:p>
          <a:p>
            <a:pPr lvl="2"/>
            <a:r>
              <a:rPr lang="pt-BR" altLang="pt-BR" sz="2500" dirty="0"/>
              <a:t>Tratamento de ausências</a:t>
            </a:r>
          </a:p>
          <a:p>
            <a:pPr lvl="2"/>
            <a:r>
              <a:rPr lang="pt-BR" altLang="pt-BR" sz="2500" dirty="0"/>
              <a:t>Codificação de variáveis categóricas</a:t>
            </a:r>
          </a:p>
          <a:p>
            <a:pPr lvl="2"/>
            <a:r>
              <a:rPr lang="pt-BR" altLang="pt-BR" sz="2500" dirty="0"/>
              <a:t>Transformação de variáveis</a:t>
            </a:r>
          </a:p>
          <a:p>
            <a:pPr lvl="2"/>
            <a:r>
              <a:rPr lang="pt-BR" altLang="pt-BR" sz="2500" dirty="0"/>
              <a:t>Normalização/padronização quando necessária</a:t>
            </a:r>
          </a:p>
          <a:p>
            <a:pPr lvl="2"/>
            <a:r>
              <a:rPr lang="pt-BR" altLang="pt-BR" sz="2500" dirty="0"/>
              <a:t>Criação de novas variáveis</a:t>
            </a:r>
          </a:p>
          <a:p>
            <a:pPr lvl="2"/>
            <a:r>
              <a:rPr lang="pt-BR" altLang="pt-BR" sz="2500" dirty="0"/>
              <a:t>Seleção de variáveis</a:t>
            </a:r>
          </a:p>
          <a:p>
            <a:pPr lvl="2"/>
            <a:r>
              <a:rPr lang="pt-BR" altLang="pt-BR" sz="2500" dirty="0"/>
              <a:t>Redução de dimensionalidade (veremos o PCA em </a:t>
            </a:r>
            <a:r>
              <a:rPr lang="pt-BR" altLang="pt-BR" sz="2500" i="1" dirty="0"/>
              <a:t>Feature Engineering</a:t>
            </a:r>
            <a:r>
              <a:rPr lang="pt-BR" altLang="pt-BR" sz="2500" dirty="0"/>
              <a:t>)</a:t>
            </a:r>
          </a:p>
          <a:p>
            <a:pPr lvl="2"/>
            <a:r>
              <a:rPr lang="pt-BR" altLang="pt-BR" sz="2500" dirty="0"/>
              <a:t>Balanceamento de classes, quando aplicável</a:t>
            </a:r>
            <a:endParaRPr lang="pt-BR" altLang="pt-BR" sz="2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30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/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5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Modelagem</a:t>
            </a:r>
          </a:p>
          <a:p>
            <a:pPr lvl="1" eaLnBrk="1" hangingPunct="1"/>
            <a:r>
              <a:rPr lang="pt-BR" altLang="pt-BR" sz="2500" dirty="0"/>
              <a:t>É a fase onde as técnicas de mineração são aplicadas aos dados.</a:t>
            </a:r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marL="270000" lvl="1" indent="0" eaLnBrk="1" hangingPunct="1">
              <a:buNone/>
            </a:pPr>
            <a:endParaRPr lang="pt-BR" altLang="pt-BR" sz="2500" dirty="0"/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  <p:sp>
        <p:nvSpPr>
          <p:cNvPr id="2" name="Fluxograma: Disco magnético 1"/>
          <p:cNvSpPr/>
          <p:nvPr/>
        </p:nvSpPr>
        <p:spPr>
          <a:xfrm>
            <a:off x="3380541" y="3111347"/>
            <a:ext cx="1446663" cy="1869743"/>
          </a:xfrm>
          <a:prstGeom prst="flowChartMagneticDisk">
            <a:avLst/>
          </a:prstGeom>
          <a:solidFill>
            <a:schemeClr val="bg2">
              <a:lumMod val="9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5631980" y="2753558"/>
            <a:ext cx="291618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</a:rPr>
              <a:t>Classificação</a:t>
            </a:r>
          </a:p>
          <a:p>
            <a:r>
              <a:rPr lang="pt-BR" sz="1800" dirty="0">
                <a:solidFill>
                  <a:srgbClr val="FF0000"/>
                </a:solidFill>
              </a:rPr>
              <a:t>Regressão</a:t>
            </a:r>
          </a:p>
          <a:p>
            <a:r>
              <a:rPr lang="pt-BR" sz="1800" dirty="0">
                <a:solidFill>
                  <a:srgbClr val="FF0000"/>
                </a:solidFill>
              </a:rPr>
              <a:t>Combinação por similaridade</a:t>
            </a:r>
          </a:p>
          <a:p>
            <a:r>
              <a:rPr lang="pt-BR" sz="1800" dirty="0">
                <a:solidFill>
                  <a:srgbClr val="FF0000"/>
                </a:solidFill>
              </a:rPr>
              <a:t>Agrupamento</a:t>
            </a:r>
          </a:p>
          <a:p>
            <a:r>
              <a:rPr lang="pt-BR" sz="1800" dirty="0">
                <a:solidFill>
                  <a:srgbClr val="FF0000"/>
                </a:solidFill>
              </a:rPr>
              <a:t>Agrupamento de ocorrência</a:t>
            </a:r>
          </a:p>
          <a:p>
            <a:r>
              <a:rPr lang="pt-BR" sz="1800" dirty="0">
                <a:solidFill>
                  <a:srgbClr val="FF0000"/>
                </a:solidFill>
              </a:rPr>
              <a:t>Perfilamento</a:t>
            </a:r>
          </a:p>
          <a:p>
            <a:r>
              <a:rPr lang="pt-BR" sz="1800" dirty="0">
                <a:solidFill>
                  <a:srgbClr val="FF0000"/>
                </a:solidFill>
              </a:rPr>
              <a:t>Previsão de vínculo</a:t>
            </a:r>
          </a:p>
          <a:p>
            <a:r>
              <a:rPr lang="pt-BR" sz="1800" dirty="0">
                <a:solidFill>
                  <a:srgbClr val="FF0000"/>
                </a:solidFill>
              </a:rPr>
              <a:t>Redução de dados</a:t>
            </a:r>
          </a:p>
          <a:p>
            <a:r>
              <a:rPr lang="pt-BR" sz="1800" dirty="0">
                <a:solidFill>
                  <a:srgbClr val="FF0000"/>
                </a:solidFill>
              </a:rPr>
              <a:t>Modelagem causal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5014453" y="3836946"/>
            <a:ext cx="603880" cy="491604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117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BFA5-944E-219E-28A5-30866D2D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05D1BDD-0BE9-498D-B3A6-5B4EA8EDC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FF0BA777-7351-5166-088C-8C9AF7F53EF2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5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Modelagem </a:t>
            </a:r>
            <a:r>
              <a:rPr lang="pt-BR" altLang="pt-BR" sz="2500" i="1" dirty="0"/>
              <a:t>– cont.</a:t>
            </a:r>
          </a:p>
          <a:p>
            <a:pPr eaLnBrk="1" hangingPunct="1"/>
            <a:endParaRPr lang="pt-BR" altLang="pt-BR" sz="2500" i="1" dirty="0"/>
          </a:p>
          <a:p>
            <a:pPr eaLnBrk="1" hangingPunct="1"/>
            <a:endParaRPr lang="pt-BR" altLang="pt-BR" sz="2500" i="1" dirty="0"/>
          </a:p>
          <a:p>
            <a:pPr eaLnBrk="1" hangingPunct="1"/>
            <a:endParaRPr lang="pt-BR" altLang="pt-BR" sz="2500" i="1" dirty="0"/>
          </a:p>
          <a:p>
            <a:pPr eaLnBrk="1" hangingPunct="1"/>
            <a:endParaRPr lang="pt-BR" altLang="pt-BR" sz="2500" i="1" dirty="0"/>
          </a:p>
          <a:p>
            <a:pPr eaLnBrk="1" hangingPunct="1"/>
            <a:endParaRPr lang="pt-BR" altLang="pt-BR" sz="2500" i="1" dirty="0"/>
          </a:p>
          <a:p>
            <a:pPr eaLnBrk="1" hangingPunct="1"/>
            <a:endParaRPr lang="pt-BR" altLang="pt-BR" sz="2500" i="1" dirty="0"/>
          </a:p>
          <a:p>
            <a:pPr eaLnBrk="1" hangingPunct="1"/>
            <a:r>
              <a:rPr lang="pt-BR" altLang="pt-BR" sz="2500" dirty="0"/>
              <a:t>Lembre-se: não se começa escolhendo o algoritmo - começa-se definindo o problema.</a:t>
            </a:r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B2905F-83BD-0151-0A43-9562FAD30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00" y="1959148"/>
            <a:ext cx="8877462" cy="242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98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3C9F-6D53-66BB-8B94-1F693A9F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68A296E-5D43-6BD5-26D1-888AA0FAD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5E3640D7-5A7A-81CE-0B0F-E0E353A09731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5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Modelagem </a:t>
            </a:r>
            <a:r>
              <a:rPr lang="pt-BR" altLang="pt-BR" sz="2500" i="1" dirty="0"/>
              <a:t>– cont.</a:t>
            </a:r>
          </a:p>
          <a:p>
            <a:pPr lvl="1"/>
            <a:r>
              <a:rPr lang="pt-BR" altLang="pt-BR" sz="2500" dirty="0">
                <a:solidFill>
                  <a:srgbClr val="0070C0"/>
                </a:solidFill>
              </a:rPr>
              <a:t>Aqui podemos aplicar diferentes modelagens, incluindo modalidades </a:t>
            </a:r>
            <a:r>
              <a:rPr lang="pt-BR" altLang="pt-BR" sz="2500" i="1" dirty="0">
                <a:solidFill>
                  <a:srgbClr val="0070C0"/>
                </a:solidFill>
              </a:rPr>
              <a:t>ensemble</a:t>
            </a:r>
            <a:r>
              <a:rPr lang="pt-BR" altLang="pt-BR" sz="2500" dirty="0">
                <a:solidFill>
                  <a:srgbClr val="0070C0"/>
                </a:solidFill>
              </a:rPr>
              <a:t> (combinadas), que veremos na disciplina.</a:t>
            </a:r>
          </a:p>
          <a:p>
            <a:pPr lvl="1" eaLnBrk="1" hangingPunct="1"/>
            <a:r>
              <a:rPr lang="pt-BR" altLang="pt-BR" sz="2500" dirty="0"/>
              <a:t>Por exemplo, para uma </a:t>
            </a:r>
            <a:r>
              <a:rPr lang="pt-BR" altLang="pt-BR" sz="2500" u="sng" dirty="0"/>
              <a:t>classificação</a:t>
            </a:r>
            <a:r>
              <a:rPr lang="pt-BR" altLang="pt-BR" sz="2500" dirty="0"/>
              <a:t>, podemos:</a:t>
            </a:r>
          </a:p>
          <a:p>
            <a:pPr lvl="2"/>
            <a:r>
              <a:rPr lang="pt-BR" altLang="pt-BR" sz="2400" dirty="0"/>
              <a:t>Aplicar árvore de segmentação por entropia / Gini.</a:t>
            </a:r>
          </a:p>
          <a:p>
            <a:pPr lvl="2"/>
            <a:r>
              <a:rPr lang="pt-BR" altLang="pt-BR" sz="2400" dirty="0"/>
              <a:t>Testar diferentes dados de treinamento / retenção e podas.</a:t>
            </a:r>
          </a:p>
          <a:p>
            <a:pPr lvl="2"/>
            <a:r>
              <a:rPr lang="pt-BR" altLang="pt-BR" sz="2400" dirty="0"/>
              <a:t>Aplicar também Regressão Logística, Random Forest e Gradient Boosting para comparar as predições.</a:t>
            </a:r>
          </a:p>
          <a:p>
            <a:pPr lvl="1" eaLnBrk="1" hangingPunct="1"/>
            <a:endParaRPr lang="pt-BR" altLang="pt-BR" sz="2500" dirty="0"/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</p:spTree>
    <p:extLst>
      <p:ext uri="{BB962C8B-B14F-4D97-AF65-F5344CB8AC3E}">
        <p14:creationId xmlns:p14="http://schemas.microsoft.com/office/powerpoint/2010/main" val="377193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/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5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Avaliação</a:t>
            </a:r>
          </a:p>
          <a:p>
            <a:pPr lvl="1" eaLnBrk="1" hangingPunct="1"/>
            <a:r>
              <a:rPr lang="pt-BR" altLang="pt-BR" sz="2500" dirty="0"/>
              <a:t>É uma fase para averiguar se os resultados da mineração de dados são válidos e confiáveis (averiguação do desempenho do modelo).</a:t>
            </a:r>
          </a:p>
          <a:p>
            <a:pPr lvl="1" eaLnBrk="1" hangingPunct="1"/>
            <a:r>
              <a:rPr lang="pt-BR" altLang="pt-BR" sz="2500" dirty="0"/>
              <a:t>Por exemplo, um modelo de detecção de fraudes pode estar produzindo muitos alarmes falsos.</a:t>
            </a:r>
          </a:p>
          <a:p>
            <a:pPr lvl="1" eaLnBrk="1" hangingPunct="1"/>
            <a:r>
              <a:rPr lang="pt-BR" altLang="pt-BR" sz="2500" dirty="0"/>
              <a:t>Aqui também temos apuração e atenuação de </a:t>
            </a:r>
            <a:r>
              <a:rPr lang="pt-BR" altLang="pt-BR" sz="2500" u="sng" dirty="0"/>
              <a:t>sobreajustes</a:t>
            </a:r>
            <a:r>
              <a:rPr lang="pt-BR" altLang="pt-BR" sz="2500" dirty="0"/>
              <a:t>.</a:t>
            </a:r>
          </a:p>
          <a:p>
            <a:pPr lvl="1" eaLnBrk="1" hangingPunct="1"/>
            <a:endParaRPr lang="pt-BR" altLang="pt-BR" sz="2500" dirty="0"/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</p:spTree>
    <p:extLst>
      <p:ext uri="{BB962C8B-B14F-4D97-AF65-F5344CB8AC3E}">
        <p14:creationId xmlns:p14="http://schemas.microsoft.com/office/powerpoint/2010/main" val="314302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6D74-B225-2C89-4C59-B72E0E9E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120CBF4-6847-74E8-196C-88A368C73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C81DD151-1D3E-78E9-D08F-95CD22CE7611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5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Avaliação</a:t>
            </a:r>
            <a:r>
              <a:rPr lang="pt-BR" altLang="pt-BR" sz="2500" i="1" dirty="0"/>
              <a:t> – cont.</a:t>
            </a:r>
          </a:p>
          <a:p>
            <a:pPr lvl="1" eaLnBrk="1" hangingPunct="1"/>
            <a:r>
              <a:rPr lang="pt-BR" altLang="pt-BR" sz="2500" dirty="0"/>
              <a:t>Há indicadores de desempenho dos modelos, baseados na </a:t>
            </a:r>
            <a:r>
              <a:rPr lang="pt-BR" altLang="pt-BR" sz="2500" i="1" dirty="0"/>
              <a:t>matriz de confusão</a:t>
            </a:r>
            <a:r>
              <a:rPr lang="pt-BR" altLang="pt-BR" sz="2500" dirty="0"/>
              <a:t>.</a:t>
            </a:r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r>
              <a:rPr lang="pt-BR" altLang="pt-BR" sz="2500" dirty="0"/>
              <a:t>Quais indicadores considerar na avaliação dependem do cenário de negócio, como recapitularemos nesta disciplina.</a:t>
            </a:r>
          </a:p>
          <a:p>
            <a:pPr lvl="1" eaLnBrk="1" hangingPunct="1"/>
            <a:endParaRPr lang="pt-BR" altLang="pt-BR" sz="2500" dirty="0"/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4D0400E-92D9-6754-7936-4FBEF44C6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86" y="2811564"/>
            <a:ext cx="7002607" cy="207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43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/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8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Implantação</a:t>
            </a:r>
          </a:p>
          <a:p>
            <a:pPr lvl="1" eaLnBrk="1" hangingPunct="1"/>
            <a:r>
              <a:rPr lang="pt-BR" altLang="pt-BR" sz="2500" dirty="0"/>
              <a:t>É a colocação no mundo real dos modelos produzidos por uma mineração de dados ou da própria mineração de dados em si.</a:t>
            </a:r>
          </a:p>
          <a:p>
            <a:pPr lvl="1" eaLnBrk="1" hangingPunct="1"/>
            <a:r>
              <a:rPr lang="pt-BR" altLang="pt-BR" sz="2500" dirty="0"/>
              <a:t>Motivos para colocar a própria mineração em produção:</a:t>
            </a:r>
          </a:p>
          <a:p>
            <a:pPr lvl="2" eaLnBrk="1" hangingPunct="1"/>
            <a:r>
              <a:rPr lang="pt-BR" altLang="pt-BR" sz="2400" dirty="0"/>
              <a:t>Adaptação às mudanças rápidas da realidade</a:t>
            </a:r>
          </a:p>
          <a:p>
            <a:pPr lvl="2" eaLnBrk="1" hangingPunct="1"/>
            <a:r>
              <a:rPr lang="pt-BR" altLang="pt-BR" sz="2400" dirty="0"/>
              <a:t>Dificuldade em depuração manual de um modelo em um negócio</a:t>
            </a:r>
          </a:p>
          <a:p>
            <a:pPr lvl="1"/>
            <a:r>
              <a:rPr lang="pt-BR" altLang="pt-BR" sz="2500" dirty="0"/>
              <a:t>A implantação não encerra o projeto analítico.</a:t>
            </a:r>
          </a:p>
          <a:p>
            <a:pPr lvl="1" eaLnBrk="1" hangingPunct="1"/>
            <a:endParaRPr lang="pt-BR" altLang="pt-BR" sz="2500" dirty="0"/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</p:spTree>
    <p:extLst>
      <p:ext uri="{BB962C8B-B14F-4D97-AF65-F5344CB8AC3E}">
        <p14:creationId xmlns:p14="http://schemas.microsoft.com/office/powerpoint/2010/main" val="95344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FD425-152C-B526-EABB-644730A8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ECBAC63-DB48-7567-4C75-7CCF8776EA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Ciclo de execução de projetos analíticos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8AECB4A4-7884-3AAE-BDF6-347308B8103A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8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/>
              <a:t>Quem faz o quê</a:t>
            </a:r>
          </a:p>
          <a:p>
            <a:pPr eaLnBrk="1" hangingPunct="1"/>
            <a:endParaRPr lang="pt-BR" altLang="pt-BR" sz="2500" dirty="0"/>
          </a:p>
          <a:p>
            <a:pPr marL="1371600" lvl="3" indent="0">
              <a:buNone/>
            </a:pPr>
            <a:endParaRPr lang="pt-BR" altLang="pt-BR" sz="2500" dirty="0"/>
          </a:p>
          <a:p>
            <a:pPr lvl="1" eaLnBrk="1" hangingPunct="1"/>
            <a:endParaRPr lang="pt-BR" altLang="pt-BR" sz="25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E1675D-340B-8142-673D-6B1E1EB7F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761" y="1903335"/>
            <a:ext cx="9164003" cy="433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57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8B76-D213-09D6-BFC6-360876C4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15AC2A55-15BC-C532-CAAE-5771C79ECA7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55" r="12955"/>
          <a:stretch/>
        </p:blipFill>
        <p:spPr/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F880C284-473E-70E8-09BC-CB22DB2B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Módulo 2 – Recapitulação – modelagens preditivas de Ciência de Dados</a:t>
            </a:r>
          </a:p>
        </p:txBody>
      </p:sp>
    </p:spTree>
    <p:extLst>
      <p:ext uri="{BB962C8B-B14F-4D97-AF65-F5344CB8AC3E}">
        <p14:creationId xmlns:p14="http://schemas.microsoft.com/office/powerpoint/2010/main" val="1344153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9D33E-C69D-C3C9-BF7D-E49DEC8F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3F17E0-D23B-9F92-57DC-85BD5DBCD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Modelagens preditivas - conceito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A041383B-0A25-5BE6-5461-18CFB9DBDF2C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265803"/>
            <a:ext cx="10273243" cy="4843991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pt-BR" altLang="pt-BR" sz="2600" dirty="0"/>
              <a:t>Modelagem preditiva</a:t>
            </a:r>
          </a:p>
          <a:p>
            <a:pPr lvl="1"/>
            <a:r>
              <a:rPr lang="pt-BR" altLang="pt-BR" sz="2500" dirty="0"/>
              <a:t>É um conjunto de técnicas de </a:t>
            </a:r>
            <a:r>
              <a:rPr lang="pt-BR" altLang="pt-BR" sz="2500" dirty="0">
                <a:solidFill>
                  <a:srgbClr val="0070C0"/>
                </a:solidFill>
              </a:rPr>
              <a:t>aprendizado supervisionado</a:t>
            </a:r>
            <a:r>
              <a:rPr lang="pt-BR" altLang="pt-BR" sz="2500" dirty="0"/>
              <a:t> que utiliza dados históricos </a:t>
            </a:r>
            <a:r>
              <a:rPr lang="pt-BR" altLang="pt-BR" sz="2500" dirty="0">
                <a:solidFill>
                  <a:srgbClr val="0070C0"/>
                </a:solidFill>
              </a:rPr>
              <a:t>rotulados</a:t>
            </a:r>
            <a:r>
              <a:rPr lang="pt-BR" altLang="pt-BR" sz="2500" dirty="0"/>
              <a:t> para construir modelos capazes de prever, para novos indivíduos ou observações, uma </a:t>
            </a:r>
            <a:r>
              <a:rPr lang="pt-BR" altLang="pt-BR" sz="2500" dirty="0">
                <a:solidFill>
                  <a:srgbClr val="0070C0"/>
                </a:solidFill>
              </a:rPr>
              <a:t>classe</a:t>
            </a:r>
            <a:r>
              <a:rPr lang="pt-BR" altLang="pt-BR" sz="2500" dirty="0"/>
              <a:t>, uma </a:t>
            </a:r>
            <a:r>
              <a:rPr lang="pt-BR" altLang="pt-BR" sz="2500" dirty="0">
                <a:solidFill>
                  <a:srgbClr val="0070C0"/>
                </a:solidFill>
              </a:rPr>
              <a:t>probabilidade</a:t>
            </a:r>
            <a:r>
              <a:rPr lang="pt-BR" altLang="pt-BR" sz="2500" dirty="0"/>
              <a:t> de pertencimento a uma classe ou um valor numérico, com base nos padrões aprendidos durante o </a:t>
            </a:r>
            <a:r>
              <a:rPr lang="pt-BR" altLang="pt-BR" sz="2500" dirty="0">
                <a:solidFill>
                  <a:srgbClr val="0070C0"/>
                </a:solidFill>
              </a:rPr>
              <a:t>treinamento</a:t>
            </a:r>
            <a:r>
              <a:rPr lang="pt-BR" altLang="pt-BR" sz="2500" dirty="0"/>
              <a:t>.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Aprendizado supervisionado?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Dados rotulados?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Classes?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Probabilidades de classes?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Treinamento?</a:t>
            </a:r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>
              <a:buFontTx/>
              <a:buNone/>
            </a:pPr>
            <a:endParaRPr lang="pt-BR" altLang="pt-BR" sz="2500" dirty="0"/>
          </a:p>
          <a:p>
            <a:pPr lvl="2" eaLnBrk="1" hangingPunct="1"/>
            <a:endParaRPr lang="pt-BR" altLang="pt-BR" sz="2500" dirty="0"/>
          </a:p>
          <a:p>
            <a:pPr lvl="1" eaLnBrk="1" hangingPunct="1">
              <a:buFontTx/>
              <a:buNone/>
            </a:pPr>
            <a:endParaRPr lang="pt-BR" altLang="pt-BR" sz="2500" dirty="0"/>
          </a:p>
        </p:txBody>
      </p:sp>
    </p:spTree>
    <p:extLst>
      <p:ext uri="{BB962C8B-B14F-4D97-AF65-F5344CB8AC3E}">
        <p14:creationId xmlns:p14="http://schemas.microsoft.com/office/powerpoint/2010/main" val="37800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316F-315A-6635-3B63-F806A2EA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A9A60E-4AD3-D9D9-00E8-35DD7EAB4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Modelagens preditivas - conceito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FD0E4EBD-BA3C-E99D-BDAC-8F7F995B920C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265803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600" dirty="0"/>
              <a:t>Vamos rever os principais modelos preditivos: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Classificação por árvore de decisão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Classificação por discriminante linear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Regressão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Regressão logística</a:t>
            </a:r>
          </a:p>
          <a:p>
            <a:pPr lvl="3"/>
            <a:r>
              <a:rPr lang="pt-BR" altLang="pt-BR" sz="2400" dirty="0">
                <a:solidFill>
                  <a:srgbClr val="FF0000"/>
                </a:solidFill>
              </a:rPr>
              <a:t>Máquina vetorial de suporte</a:t>
            </a:r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>
              <a:buFontTx/>
              <a:buNone/>
            </a:pPr>
            <a:endParaRPr lang="pt-BR" altLang="pt-BR" sz="2500" dirty="0"/>
          </a:p>
          <a:p>
            <a:pPr lvl="2" eaLnBrk="1" hangingPunct="1"/>
            <a:endParaRPr lang="pt-BR" altLang="pt-BR" sz="2500" dirty="0"/>
          </a:p>
          <a:p>
            <a:pPr lvl="1" eaLnBrk="1" hangingPunct="1">
              <a:buFontTx/>
              <a:buNone/>
            </a:pPr>
            <a:endParaRPr lang="pt-BR" altLang="pt-BR" sz="2500" dirty="0"/>
          </a:p>
        </p:txBody>
      </p:sp>
    </p:spTree>
    <p:extLst>
      <p:ext uri="{BB962C8B-B14F-4D97-AF65-F5344CB8AC3E}">
        <p14:creationId xmlns:p14="http://schemas.microsoft.com/office/powerpoint/2010/main" val="418028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Modelagens preditivas - recapitulação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3982241-A7AD-76DF-7A20-A3207B36602F}"/>
              </a:ext>
            </a:extLst>
          </p:cNvPr>
          <p:cNvSpPr txBox="1"/>
          <p:nvPr/>
        </p:nvSpPr>
        <p:spPr>
          <a:xfrm>
            <a:off x="1889201" y="2573593"/>
            <a:ext cx="8529166" cy="2232269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pt-BR" sz="6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Classificação por árvore</a:t>
            </a:r>
          </a:p>
          <a:p>
            <a:pPr algn="ctr">
              <a:spcBef>
                <a:spcPts val="1000"/>
              </a:spcBef>
            </a:pPr>
            <a:r>
              <a:rPr lang="pt-BR" sz="6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decisão</a:t>
            </a:r>
          </a:p>
        </p:txBody>
      </p:sp>
    </p:spTree>
    <p:extLst>
      <p:ext uri="{BB962C8B-B14F-4D97-AF65-F5344CB8AC3E}">
        <p14:creationId xmlns:p14="http://schemas.microsoft.com/office/powerpoint/2010/main" val="251489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F2D55-FB6E-C726-3AD1-2802A178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401F3B-4BB7-EE8B-BAE5-0EA312E6B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Classificação - conceito</a:t>
            </a:r>
          </a:p>
        </p:txBody>
      </p:sp>
      <p:sp>
        <p:nvSpPr>
          <p:cNvPr id="17410" name="Rectangle 7">
            <a:extLst>
              <a:ext uri="{FF2B5EF4-FFF2-40B4-BE49-F238E27FC236}">
                <a16:creationId xmlns:a16="http://schemas.microsoft.com/office/drawing/2014/main" id="{45B0FCBD-FDA5-6024-7794-C0ED396F0AA4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236307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>
                <a:solidFill>
                  <a:srgbClr val="FF0000"/>
                </a:solidFill>
              </a:rPr>
              <a:t>Classificação</a:t>
            </a:r>
          </a:p>
          <a:p>
            <a:pPr lvl="1" eaLnBrk="1" hangingPunct="1"/>
            <a:r>
              <a:rPr lang="pt-BR" altLang="pt-BR" sz="2500" dirty="0"/>
              <a:t>Tentativa de prever a que </a:t>
            </a:r>
            <a:r>
              <a:rPr lang="pt-BR" altLang="pt-BR" sz="2500" u="sng" dirty="0"/>
              <a:t>classe</a:t>
            </a:r>
            <a:r>
              <a:rPr lang="pt-BR" altLang="pt-BR" sz="2500" dirty="0"/>
              <a:t> ou categoria cada indivíduo de uma população pertence.</a:t>
            </a:r>
          </a:p>
          <a:p>
            <a:pPr lvl="2" eaLnBrk="1" hangingPunct="1"/>
            <a:r>
              <a:rPr lang="pt-BR" altLang="pt-BR" sz="2500" dirty="0"/>
              <a:t>Tarefa intimamente relacionada: pontuação ou estimativa da </a:t>
            </a:r>
            <a:r>
              <a:rPr lang="pt-BR" altLang="pt-BR" sz="2500" u="sng" dirty="0"/>
              <a:t>probabilidade da classe</a:t>
            </a:r>
            <a:r>
              <a:rPr lang="pt-BR" altLang="pt-BR" sz="2500" dirty="0"/>
              <a:t>.</a:t>
            </a:r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/>
            <a:endParaRPr lang="pt-BR" altLang="pt-BR" sz="2500" dirty="0"/>
          </a:p>
          <a:p>
            <a:pPr lvl="1" eaLnBrk="1" hangingPunct="1">
              <a:buFontTx/>
              <a:buNone/>
            </a:pPr>
            <a:endParaRPr lang="pt-BR" altLang="pt-BR" sz="2500" dirty="0"/>
          </a:p>
          <a:p>
            <a:pPr lvl="2" eaLnBrk="1" hangingPunct="1"/>
            <a:endParaRPr lang="pt-BR" altLang="pt-BR" sz="2500" dirty="0"/>
          </a:p>
          <a:p>
            <a:pPr lvl="1" eaLnBrk="1" hangingPunct="1">
              <a:buFontTx/>
              <a:buNone/>
            </a:pPr>
            <a:endParaRPr lang="pt-BR" altLang="pt-BR" sz="25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E21E11F-5DB3-A914-B7D0-015DCFC45989}"/>
              </a:ext>
            </a:extLst>
          </p:cNvPr>
          <p:cNvSpPr txBox="1"/>
          <p:nvPr/>
        </p:nvSpPr>
        <p:spPr>
          <a:xfrm>
            <a:off x="4006310" y="6232107"/>
            <a:ext cx="3910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2060"/>
                </a:solidFill>
              </a:rPr>
              <a:t>Indivíduo: entidade sobre a qual temos dados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FD316C9-192D-64B4-87A9-B6E2B002EAF1}"/>
              </a:ext>
            </a:extLst>
          </p:cNvPr>
          <p:cNvSpPr txBox="1"/>
          <p:nvPr/>
        </p:nvSpPr>
        <p:spPr>
          <a:xfrm>
            <a:off x="7576122" y="3775360"/>
            <a:ext cx="297970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eaLnBrk="1" hangingPunct="1"/>
            <a:r>
              <a:rPr lang="pt-BR" altLang="pt-BR" sz="2000" dirty="0">
                <a:solidFill>
                  <a:srgbClr val="FF0000"/>
                </a:solidFill>
              </a:rPr>
              <a:t>Exemplo: </a:t>
            </a:r>
            <a:r>
              <a:rPr lang="pt-BR" altLang="pt-BR" sz="2000" b="1" dirty="0">
                <a:solidFill>
                  <a:srgbClr val="FF0000"/>
                </a:solidFill>
              </a:rPr>
              <a:t>“Entre os clientes, quem dará atenção e quem não dará atenção a uma determinada oferta?”</a:t>
            </a:r>
          </a:p>
          <a:p>
            <a:pPr marL="0" lvl="1" eaLnBrk="1" hangingPunct="1"/>
            <a:endParaRPr lang="pt-BR" altLang="pt-BR" sz="500" dirty="0">
              <a:solidFill>
                <a:srgbClr val="FF0000"/>
              </a:solidFill>
            </a:endParaRPr>
          </a:p>
        </p:txBody>
      </p:sp>
      <p:sp>
        <p:nvSpPr>
          <p:cNvPr id="3" name="Retângulo de cantos arredondados 2">
            <a:extLst>
              <a:ext uri="{FF2B5EF4-FFF2-40B4-BE49-F238E27FC236}">
                <a16:creationId xmlns:a16="http://schemas.microsoft.com/office/drawing/2014/main" id="{966EA69E-C2EC-CA57-39FA-115DA90D36EF}"/>
              </a:ext>
            </a:extLst>
          </p:cNvPr>
          <p:cNvSpPr/>
          <p:nvPr/>
        </p:nvSpPr>
        <p:spPr>
          <a:xfrm>
            <a:off x="2870286" y="3729225"/>
            <a:ext cx="1460311" cy="448743"/>
          </a:xfrm>
          <a:prstGeom prst="roundRect">
            <a:avLst>
              <a:gd name="adj" fmla="val 644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$$$ </a:t>
            </a:r>
            <a:r>
              <a:rPr lang="pt-BR" sz="1200" b="1" dirty="0">
                <a:solidFill>
                  <a:schemeClr val="bg1"/>
                </a:solidFill>
              </a:rPr>
              <a:t>OFERTA</a:t>
            </a:r>
            <a:r>
              <a:rPr lang="pt-BR" sz="1200" dirty="0">
                <a:solidFill>
                  <a:schemeClr val="bg1"/>
                </a:solidFill>
              </a:rPr>
              <a:t> $$$</a:t>
            </a:r>
          </a:p>
        </p:txBody>
      </p:sp>
      <p:pic>
        <p:nvPicPr>
          <p:cNvPr id="2050" name="Picture 2" descr="Associação, Comunidade, Grupo, Encontro">
            <a:extLst>
              <a:ext uri="{FF2B5EF4-FFF2-40B4-BE49-F238E27FC236}">
                <a16:creationId xmlns:a16="http://schemas.microsoft.com/office/drawing/2014/main" id="{B2CF91E3-62EF-A0DB-00B1-56F7CB8FB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775" y="4609794"/>
            <a:ext cx="1160420" cy="116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ermelho, Coração, Saúde, Amor, Forma">
            <a:extLst>
              <a:ext uri="{FF2B5EF4-FFF2-40B4-BE49-F238E27FC236}">
                <a16:creationId xmlns:a16="http://schemas.microsoft.com/office/drawing/2014/main" id="{C939EB99-46E0-2483-31FF-F4CDD41C2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955" y="4494585"/>
            <a:ext cx="215072" cy="19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Vermelho, Coração, Saúde, Amor, Forma">
            <a:extLst>
              <a:ext uri="{FF2B5EF4-FFF2-40B4-BE49-F238E27FC236}">
                <a16:creationId xmlns:a16="http://schemas.microsoft.com/office/drawing/2014/main" id="{E2EAE9A6-EC56-89C9-E639-B43BB3E53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928" y="4322328"/>
            <a:ext cx="215072" cy="19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Vermelho, Coração, Saúde, Amor, Forma">
            <a:extLst>
              <a:ext uri="{FF2B5EF4-FFF2-40B4-BE49-F238E27FC236}">
                <a16:creationId xmlns:a16="http://schemas.microsoft.com/office/drawing/2014/main" id="{8B65DA58-6F47-06F9-9429-E79141734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535" y="4388613"/>
            <a:ext cx="215072" cy="19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Associação, Comunidade, Grupo, Encontro">
            <a:extLst>
              <a:ext uri="{FF2B5EF4-FFF2-40B4-BE49-F238E27FC236}">
                <a16:creationId xmlns:a16="http://schemas.microsoft.com/office/drawing/2014/main" id="{11874429-D426-68F7-CBF6-20B6A2F81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779" y="4609794"/>
            <a:ext cx="1160420" cy="116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 explicativo retangular com cantos arredondados 4">
            <a:extLst>
              <a:ext uri="{FF2B5EF4-FFF2-40B4-BE49-F238E27FC236}">
                <a16:creationId xmlns:a16="http://schemas.microsoft.com/office/drawing/2014/main" id="{9403E203-2332-7FC1-6543-0010A95F6AC1}"/>
              </a:ext>
            </a:extLst>
          </p:cNvPr>
          <p:cNvSpPr/>
          <p:nvPr/>
        </p:nvSpPr>
        <p:spPr>
          <a:xfrm>
            <a:off x="6213991" y="3742873"/>
            <a:ext cx="750627" cy="448743"/>
          </a:xfrm>
          <a:prstGeom prst="wedgeRoundRectCallout">
            <a:avLst>
              <a:gd name="adj1" fmla="val -41967"/>
              <a:gd name="adj2" fmla="val 111162"/>
              <a:gd name="adj3" fmla="val 1666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883AC3-1945-A584-C7D8-B1CE18BDD6CC}"/>
              </a:ext>
            </a:extLst>
          </p:cNvPr>
          <p:cNvSpPr txBox="1"/>
          <p:nvPr/>
        </p:nvSpPr>
        <p:spPr>
          <a:xfrm>
            <a:off x="6372857" y="3641517"/>
            <a:ext cx="453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...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0ACD8A-8AA0-F7AD-F6A8-5E18EB45F833}"/>
              </a:ext>
            </a:extLst>
          </p:cNvPr>
          <p:cNvSpPr txBox="1"/>
          <p:nvPr/>
        </p:nvSpPr>
        <p:spPr>
          <a:xfrm>
            <a:off x="2491869" y="5742168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</a:rPr>
              <a:t>Classe “darão atenção”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CA35C5D-4D6D-0662-0204-3D3A2434C121}"/>
              </a:ext>
            </a:extLst>
          </p:cNvPr>
          <p:cNvSpPr txBox="1"/>
          <p:nvPr/>
        </p:nvSpPr>
        <p:spPr>
          <a:xfrm>
            <a:off x="5059929" y="5742168"/>
            <a:ext cx="27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</a:rPr>
              <a:t>Classe “não darão atenção”</a:t>
            </a:r>
          </a:p>
        </p:txBody>
      </p:sp>
    </p:spTree>
    <p:extLst>
      <p:ext uri="{BB962C8B-B14F-4D97-AF65-F5344CB8AC3E}">
        <p14:creationId xmlns:p14="http://schemas.microsoft.com/office/powerpoint/2010/main" val="53700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 animBg="1"/>
      <p:bldP spid="5" grpId="0" animBg="1"/>
      <p:bldP spid="7" grpId="0"/>
      <p:bldP spid="8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049597" y="1295400"/>
            <a:ext cx="970924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Medida de impureza de segmento –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entropia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 segmento misto com muitos valores de variável alvo = “sim” e muitos com valor = “não” (ou vice-versa) possui muita desordem ou entropia alta.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Fórmula de entropia de Shannon: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4" name="CaixaDeTexto 3"/>
          <p:cNvSpPr txBox="1"/>
          <p:nvPr/>
        </p:nvSpPr>
        <p:spPr>
          <a:xfrm>
            <a:off x="2668762" y="3941354"/>
            <a:ext cx="6851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Entropia = - p</a:t>
            </a:r>
            <a:r>
              <a:rPr lang="pt-BR" baseline="-25000" dirty="0"/>
              <a:t>1</a:t>
            </a:r>
            <a:r>
              <a:rPr lang="pt-BR" dirty="0"/>
              <a:t> log</a:t>
            </a:r>
            <a:r>
              <a:rPr lang="pt-BR" baseline="-25000" dirty="0"/>
              <a:t>2</a:t>
            </a:r>
            <a:r>
              <a:rPr lang="pt-BR" dirty="0"/>
              <a:t>(p</a:t>
            </a:r>
            <a:r>
              <a:rPr lang="pt-BR" baseline="-25000" dirty="0"/>
              <a:t>1</a:t>
            </a:r>
            <a:r>
              <a:rPr lang="pt-BR" dirty="0"/>
              <a:t>) - p</a:t>
            </a:r>
            <a:r>
              <a:rPr lang="pt-BR" baseline="-25000" dirty="0"/>
              <a:t>2</a:t>
            </a:r>
            <a:r>
              <a:rPr lang="pt-BR" dirty="0"/>
              <a:t> log</a:t>
            </a:r>
            <a:r>
              <a:rPr lang="pt-BR" baseline="-25000" dirty="0"/>
              <a:t>2</a:t>
            </a:r>
            <a:r>
              <a:rPr lang="pt-BR" dirty="0"/>
              <a:t>(p</a:t>
            </a:r>
            <a:r>
              <a:rPr lang="pt-BR" baseline="-25000" dirty="0"/>
              <a:t>2</a:t>
            </a:r>
            <a:r>
              <a:rPr lang="pt-BR" dirty="0"/>
              <a:t>) - ... - p</a:t>
            </a:r>
            <a:r>
              <a:rPr lang="pt-BR" baseline="-25000" dirty="0"/>
              <a:t>n</a:t>
            </a:r>
            <a:r>
              <a:rPr lang="pt-BR" dirty="0"/>
              <a:t> log</a:t>
            </a:r>
            <a:r>
              <a:rPr lang="pt-BR" baseline="-25000" dirty="0"/>
              <a:t>2</a:t>
            </a:r>
            <a:r>
              <a:rPr lang="pt-BR" dirty="0"/>
              <a:t>(p</a:t>
            </a:r>
            <a:r>
              <a:rPr lang="pt-BR" baseline="-25000" dirty="0"/>
              <a:t>n</a:t>
            </a:r>
            <a:r>
              <a:rPr lang="pt-BR" dirty="0"/>
              <a:t>) </a:t>
            </a:r>
          </a:p>
        </p:txBody>
      </p:sp>
      <p:sp>
        <p:nvSpPr>
          <p:cNvPr id="7" name="Retângulo de cantos arredondados 6"/>
          <p:cNvSpPr/>
          <p:nvPr/>
        </p:nvSpPr>
        <p:spPr>
          <a:xfrm>
            <a:off x="2574874" y="3790337"/>
            <a:ext cx="6941324" cy="764274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2861481" y="4788166"/>
            <a:ext cx="68611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p</a:t>
            </a:r>
            <a:r>
              <a:rPr lang="pt-BR" sz="2000" baseline="-25000" dirty="0"/>
              <a:t>i</a:t>
            </a:r>
            <a:r>
              <a:rPr lang="pt-BR" sz="2000" dirty="0"/>
              <a:t> = porcentagem relativa da propriedade i dentro do conjunto</a:t>
            </a:r>
          </a:p>
          <a:p>
            <a:endParaRPr lang="pt-BR" sz="500" dirty="0"/>
          </a:p>
          <a:p>
            <a:pPr algn="ctr"/>
            <a:r>
              <a:rPr lang="pt-BR" sz="2000" dirty="0"/>
              <a:t>0 &lt;= p</a:t>
            </a:r>
            <a:r>
              <a:rPr lang="pt-BR" sz="2000" baseline="-25000" dirty="0"/>
              <a:t>i</a:t>
            </a:r>
            <a:r>
              <a:rPr lang="pt-BR" sz="2000" dirty="0"/>
              <a:t> &lt;= 1</a:t>
            </a:r>
          </a:p>
          <a:p>
            <a:pPr algn="ctr"/>
            <a:endParaRPr lang="pt-BR" sz="500" dirty="0"/>
          </a:p>
          <a:p>
            <a:r>
              <a:rPr lang="pt-BR" sz="2000" dirty="0"/>
              <a:t>p</a:t>
            </a:r>
            <a:r>
              <a:rPr lang="pt-BR" sz="2000" baseline="-25000" dirty="0"/>
              <a:t>i</a:t>
            </a:r>
            <a:r>
              <a:rPr lang="pt-BR" sz="2000" dirty="0"/>
              <a:t> = 0 =&gt; nenhum membro do conjunto tem a propriedade i</a:t>
            </a:r>
          </a:p>
          <a:p>
            <a:r>
              <a:rPr lang="pt-BR" sz="2000" dirty="0"/>
              <a:t>p</a:t>
            </a:r>
            <a:r>
              <a:rPr lang="pt-BR" sz="2000" baseline="-25000" dirty="0"/>
              <a:t>i </a:t>
            </a:r>
            <a:r>
              <a:rPr lang="pt-BR" sz="2000" dirty="0"/>
              <a:t>= 1 =&gt; todos os membros do conjunto possuem a propriedade i</a:t>
            </a:r>
          </a:p>
        </p:txBody>
      </p:sp>
    </p:spTree>
    <p:extLst>
      <p:ext uri="{BB962C8B-B14F-4D97-AF65-F5344CB8AC3E}">
        <p14:creationId xmlns:p14="http://schemas.microsoft.com/office/powerpoint/2010/main" val="418069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034844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Medida de impureza de segmento – entropia</a:t>
            </a:r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650" y="1869438"/>
            <a:ext cx="6214975" cy="4500941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7909521" y="2674661"/>
            <a:ext cx="258802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>
                <a:latin typeface="+mn-lt"/>
              </a:rPr>
              <a:t>Entropia mínima (0):</a:t>
            </a:r>
          </a:p>
          <a:p>
            <a:endParaRPr lang="pt-BR" sz="400" dirty="0">
              <a:latin typeface="+mn-lt"/>
            </a:endParaRPr>
          </a:p>
          <a:p>
            <a:r>
              <a:rPr lang="pt-BR" sz="1800" dirty="0">
                <a:latin typeface="+mn-lt"/>
              </a:rPr>
              <a:t>Propriedades todas “–” ou todas “+”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909521" y="3932537"/>
            <a:ext cx="257210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>
                <a:latin typeface="+mn-lt"/>
              </a:rPr>
              <a:t>Entropia máxima (1):</a:t>
            </a:r>
          </a:p>
          <a:p>
            <a:endParaRPr lang="pt-BR" sz="400" dirty="0">
              <a:latin typeface="+mn-lt"/>
            </a:endParaRPr>
          </a:p>
          <a:p>
            <a:r>
              <a:rPr lang="pt-BR" sz="1800" dirty="0">
                <a:latin typeface="+mn-lt"/>
              </a:rPr>
              <a:t>50% das propriedades “–” e 50% “+”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7255637-AA78-E480-3CB7-290487353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244496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049599" y="1295400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de cálculo de entropia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Conjunto C de 10 pessoas, sendo 7 da classe “aprovadas” e 3 da classe “reprovadas”.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p(“aprovadas”) = 7/10 = 0,7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p(“reprovadas”) = 3/10 = 0,3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4" name="CaixaDeTexto 3"/>
          <p:cNvSpPr txBox="1"/>
          <p:nvPr/>
        </p:nvSpPr>
        <p:spPr>
          <a:xfrm>
            <a:off x="2941511" y="3998804"/>
            <a:ext cx="60837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+mn-lt"/>
              </a:rPr>
              <a:t>Entropia(C)  = - 0,7 log</a:t>
            </a:r>
            <a:r>
              <a:rPr lang="pt-BR" baseline="-25000" dirty="0">
                <a:latin typeface="+mn-lt"/>
              </a:rPr>
              <a:t>2</a:t>
            </a:r>
            <a:r>
              <a:rPr lang="pt-BR" dirty="0">
                <a:latin typeface="+mn-lt"/>
              </a:rPr>
              <a:t>(0,7) - 0,3 log</a:t>
            </a:r>
            <a:r>
              <a:rPr lang="pt-BR" baseline="-25000" dirty="0">
                <a:latin typeface="+mn-lt"/>
              </a:rPr>
              <a:t>2</a:t>
            </a:r>
            <a:r>
              <a:rPr lang="pt-BR" dirty="0">
                <a:latin typeface="+mn-lt"/>
              </a:rPr>
              <a:t>(0,3)</a:t>
            </a:r>
          </a:p>
          <a:p>
            <a:r>
              <a:rPr lang="pt-BR" dirty="0">
                <a:latin typeface="+mn-lt"/>
              </a:rPr>
              <a:t>                       = - [0,7(-0,51) + 0,3(-1,74)]</a:t>
            </a:r>
          </a:p>
          <a:p>
            <a:r>
              <a:rPr lang="pt-BR" dirty="0">
                <a:latin typeface="+mn-lt"/>
              </a:rPr>
              <a:t>                       = 0,88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6611F04-EF5D-1F6E-1AD3-08257B314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225598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928305" y="1295400"/>
            <a:ext cx="10303696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Ganho de informação (GI)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uma medida que nos diz quanto um atributo melhora (diminui) a entropia ao longo de toda a segmentação que ele cria.</a:t>
            </a:r>
          </a:p>
          <a:p>
            <a:pPr lvl="1"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7" name="CaixaDeTexto 6"/>
          <p:cNvSpPr txBox="1"/>
          <p:nvPr/>
        </p:nvSpPr>
        <p:spPr>
          <a:xfrm>
            <a:off x="1966584" y="3089471"/>
            <a:ext cx="8392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GI (pai, filhos) = entropia(pai) – </a:t>
            </a:r>
          </a:p>
          <a:p>
            <a:r>
              <a:rPr lang="pt-BR" dirty="0"/>
              <a:t>p(f</a:t>
            </a:r>
            <a:r>
              <a:rPr lang="pt-BR" baseline="-25000" dirty="0"/>
              <a:t>1</a:t>
            </a:r>
            <a:r>
              <a:rPr lang="pt-BR" dirty="0"/>
              <a:t>) * entropia(f</a:t>
            </a:r>
            <a:r>
              <a:rPr lang="pt-BR" baseline="-25000" dirty="0"/>
              <a:t>1</a:t>
            </a:r>
            <a:r>
              <a:rPr lang="pt-BR" dirty="0"/>
              <a:t>) – p(f</a:t>
            </a:r>
            <a:r>
              <a:rPr lang="pt-BR" baseline="-25000" dirty="0"/>
              <a:t>2</a:t>
            </a:r>
            <a:r>
              <a:rPr lang="pt-BR" dirty="0"/>
              <a:t>) * entropia(f</a:t>
            </a:r>
            <a:r>
              <a:rPr lang="pt-BR" baseline="-25000" dirty="0"/>
              <a:t>2</a:t>
            </a:r>
            <a:r>
              <a:rPr lang="pt-BR" dirty="0"/>
              <a:t>) – ... – p(f</a:t>
            </a:r>
            <a:r>
              <a:rPr lang="pt-BR" baseline="-25000" dirty="0"/>
              <a:t>n</a:t>
            </a:r>
            <a:r>
              <a:rPr lang="pt-BR" dirty="0"/>
              <a:t>) * entropia(f</a:t>
            </a:r>
            <a:r>
              <a:rPr lang="pt-BR" baseline="-25000" dirty="0"/>
              <a:t>n</a:t>
            </a:r>
            <a:r>
              <a:rPr lang="pt-BR" dirty="0"/>
              <a:t>)  </a:t>
            </a:r>
          </a:p>
          <a:p>
            <a:r>
              <a:rPr lang="pt-BR" dirty="0"/>
              <a:t> </a:t>
            </a:r>
          </a:p>
        </p:txBody>
      </p:sp>
      <p:sp>
        <p:nvSpPr>
          <p:cNvPr id="8" name="Retângulo de cantos arredondados 7"/>
          <p:cNvSpPr/>
          <p:nvPr/>
        </p:nvSpPr>
        <p:spPr>
          <a:xfrm>
            <a:off x="1824245" y="3020344"/>
            <a:ext cx="8425914" cy="1078172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2492990" y="4412416"/>
            <a:ext cx="7396577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Conjunto pai = conjunto original de exemplos.</a:t>
            </a:r>
          </a:p>
          <a:p>
            <a:endParaRPr lang="pt-BR" sz="500" dirty="0"/>
          </a:p>
          <a:p>
            <a:r>
              <a:rPr lang="pt-BR" sz="2000" dirty="0"/>
              <a:t>Conjuntos filhos = conjuntos resultados da divisão do conjunto pai em</a:t>
            </a:r>
          </a:p>
          <a:p>
            <a:r>
              <a:rPr lang="pt-BR" sz="2000" dirty="0"/>
              <a:t>n subconjuntos após uma classificação com base em um atributo.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5464CE-7A99-1553-A430-3B3953536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2070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064348" y="1295400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ganho de informação de um atributo refere-se a quanto ele contribui para inferirmos uma previsão para novos exemplos.</a:t>
            </a:r>
          </a:p>
        </p:txBody>
      </p:sp>
      <p:sp>
        <p:nvSpPr>
          <p:cNvPr id="23" name="Elipse 22"/>
          <p:cNvSpPr/>
          <p:nvPr/>
        </p:nvSpPr>
        <p:spPr>
          <a:xfrm>
            <a:off x="4290686" y="2701152"/>
            <a:ext cx="1255594" cy="12419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Elipse 23"/>
          <p:cNvSpPr/>
          <p:nvPr/>
        </p:nvSpPr>
        <p:spPr>
          <a:xfrm>
            <a:off x="3267104" y="4916639"/>
            <a:ext cx="1255594" cy="12419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Elipse 24"/>
          <p:cNvSpPr/>
          <p:nvPr/>
        </p:nvSpPr>
        <p:spPr>
          <a:xfrm>
            <a:off x="5509886" y="4916639"/>
            <a:ext cx="1255594" cy="12419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6" name="Conector de seta reta 25"/>
          <p:cNvCxnSpPr>
            <a:stCxn id="23" idx="3"/>
          </p:cNvCxnSpPr>
          <p:nvPr/>
        </p:nvCxnSpPr>
        <p:spPr>
          <a:xfrm flipH="1">
            <a:off x="3894901" y="3761219"/>
            <a:ext cx="579662" cy="1153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3" idx="5"/>
            <a:endCxn id="25" idx="0"/>
          </p:cNvCxnSpPr>
          <p:nvPr/>
        </p:nvCxnSpPr>
        <p:spPr>
          <a:xfrm>
            <a:off x="5362403" y="3761219"/>
            <a:ext cx="775280" cy="1155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4549985" y="2823980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620497" y="3290280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043582" y="2962732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702385" y="3535940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152763" y="319474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388485" y="2976380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756977" y="3058268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4977617" y="3353968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4868433" y="2705695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349817" y="3197020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4486294" y="3442680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4963967" y="3176546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3708369" y="5121355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380823" y="5394312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4104155" y="5257834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3722016" y="5407958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3544595" y="5708212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3967676" y="5708211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935237" y="5041741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6224116" y="5235085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5637259" y="5357915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6005749" y="5726406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5910214" y="5398859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265059" y="5494394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4193115" y="4164665"/>
            <a:ext cx="125707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>
                <a:latin typeface="+mj-lt"/>
              </a:rPr>
              <a:t>Aplicação de soro</a:t>
            </a:r>
          </a:p>
          <a:p>
            <a:r>
              <a:rPr lang="pt-BR" sz="900" dirty="0">
                <a:latin typeface="+mj-lt"/>
              </a:rPr>
              <a:t>antiofídico após a</a:t>
            </a:r>
          </a:p>
          <a:p>
            <a:r>
              <a:rPr lang="pt-BR" sz="900" dirty="0">
                <a:latin typeface="+mj-lt"/>
              </a:rPr>
              <a:t>picada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4784273" y="2880845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446787" y="5050844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230102" y="2985476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3933562" y="4998529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027657" y="3506368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4092782" y="5451180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925131" y="4109045"/>
            <a:ext cx="150874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dirty="0">
                <a:latin typeface="+mj-lt"/>
              </a:rPr>
              <a:t>Não</a:t>
            </a:r>
            <a:r>
              <a:rPr lang="pt-BR" sz="900" dirty="0">
                <a:latin typeface="+mj-lt"/>
              </a:rPr>
              <a:t> aplicação de soro</a:t>
            </a:r>
          </a:p>
          <a:p>
            <a:r>
              <a:rPr lang="pt-BR" sz="900" dirty="0">
                <a:latin typeface="+mj-lt"/>
              </a:rPr>
              <a:t>antiofídico após a</a:t>
            </a:r>
          </a:p>
          <a:p>
            <a:r>
              <a:rPr lang="pt-BR" sz="900" dirty="0">
                <a:latin typeface="+mj-lt"/>
              </a:rPr>
              <a:t>picada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775936" y="2674167"/>
            <a:ext cx="2696572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+mj-lt"/>
              </a:rPr>
              <a:t>População picada por</a:t>
            </a:r>
          </a:p>
          <a:p>
            <a:r>
              <a:rPr lang="pt-BR" sz="1400" dirty="0">
                <a:latin typeface="+mj-lt"/>
              </a:rPr>
              <a:t>cobra altamente venenosa</a:t>
            </a:r>
          </a:p>
          <a:p>
            <a:endParaRPr lang="pt-BR" sz="500" dirty="0">
              <a:latin typeface="+mj-lt"/>
            </a:endParaRPr>
          </a:p>
          <a:p>
            <a:r>
              <a:rPr lang="pt-BR" sz="1400" b="1" dirty="0">
                <a:solidFill>
                  <a:srgbClr val="00B050"/>
                </a:solidFill>
                <a:latin typeface="+mj-lt"/>
              </a:rPr>
              <a:t>+</a:t>
            </a:r>
            <a:r>
              <a:rPr lang="pt-BR" sz="1400" dirty="0">
                <a:latin typeface="+mj-lt"/>
              </a:rPr>
              <a:t> = sobrevivente</a:t>
            </a:r>
          </a:p>
          <a:p>
            <a:r>
              <a:rPr lang="pt-BR" sz="1400" b="1" dirty="0">
                <a:solidFill>
                  <a:srgbClr val="FF0000"/>
                </a:solidFill>
                <a:latin typeface="+mj-lt"/>
              </a:rPr>
              <a:t>-</a:t>
            </a:r>
            <a:r>
              <a:rPr lang="pt-BR" sz="1400" dirty="0">
                <a:latin typeface="+mj-lt"/>
              </a:rPr>
              <a:t> = não sobrevivente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H="1">
            <a:off x="5586994" y="2963891"/>
            <a:ext cx="1165712" cy="113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/>
          <p:cNvSpPr txBox="1"/>
          <p:nvPr/>
        </p:nvSpPr>
        <p:spPr>
          <a:xfrm>
            <a:off x="7634478" y="3953660"/>
            <a:ext cx="360226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+mj-lt"/>
              </a:rPr>
              <a:t>Vemos que o atributo “aplicação de </a:t>
            </a:r>
          </a:p>
          <a:p>
            <a:r>
              <a:rPr lang="pt-BR" sz="1400" b="1" dirty="0">
                <a:latin typeface="+mj-lt"/>
              </a:rPr>
              <a:t>soro antiofídico após a picada” traz</a:t>
            </a:r>
          </a:p>
          <a:p>
            <a:r>
              <a:rPr lang="pt-BR" sz="1400" b="1" dirty="0">
                <a:solidFill>
                  <a:srgbClr val="FF0000"/>
                </a:solidFill>
                <a:latin typeface="+mj-lt"/>
              </a:rPr>
              <a:t>alto ganho de informação</a:t>
            </a:r>
            <a:r>
              <a:rPr lang="pt-BR" sz="1400" b="1" dirty="0">
                <a:latin typeface="+mj-lt"/>
              </a:rPr>
              <a:t> para </a:t>
            </a:r>
          </a:p>
          <a:p>
            <a:r>
              <a:rPr lang="pt-BR" sz="1400" b="1" dirty="0">
                <a:latin typeface="+mj-lt"/>
              </a:rPr>
              <a:t>formularmos a seguinte inferência:</a:t>
            </a:r>
          </a:p>
          <a:p>
            <a:endParaRPr lang="pt-BR" sz="600" b="1" dirty="0">
              <a:latin typeface="+mj-lt"/>
            </a:endParaRPr>
          </a:p>
          <a:p>
            <a:r>
              <a:rPr lang="pt-BR" sz="1400" b="1" dirty="0">
                <a:solidFill>
                  <a:srgbClr val="0070C0"/>
                </a:solidFill>
                <a:latin typeface="+mj-lt"/>
              </a:rPr>
              <a:t>“Para uma pessoa nova picada por</a:t>
            </a:r>
          </a:p>
          <a:p>
            <a:r>
              <a:rPr lang="pt-BR" sz="1400" b="1" dirty="0">
                <a:solidFill>
                  <a:srgbClr val="0070C0"/>
                </a:solidFill>
                <a:latin typeface="+mj-lt"/>
              </a:rPr>
              <a:t>cobra altamente venenosa, ela vai</a:t>
            </a:r>
          </a:p>
          <a:p>
            <a:r>
              <a:rPr lang="pt-BR" sz="1400" b="1" dirty="0">
                <a:solidFill>
                  <a:srgbClr val="0070C0"/>
                </a:solidFill>
                <a:latin typeface="+mj-lt"/>
              </a:rPr>
              <a:t>sobreviver com aplicação de soro</a:t>
            </a:r>
          </a:p>
          <a:p>
            <a:r>
              <a:rPr lang="pt-BR" sz="1400" b="1" dirty="0">
                <a:solidFill>
                  <a:srgbClr val="0070C0"/>
                </a:solidFill>
                <a:latin typeface="+mj-lt"/>
              </a:rPr>
              <a:t>antiofídico e não vai sobreviver caso</a:t>
            </a:r>
          </a:p>
          <a:p>
            <a:r>
              <a:rPr lang="pt-BR" sz="1400" b="1" dirty="0">
                <a:solidFill>
                  <a:srgbClr val="0070C0"/>
                </a:solidFill>
                <a:latin typeface="+mj-lt"/>
              </a:rPr>
              <a:t>contrário”.</a:t>
            </a:r>
            <a:endParaRPr lang="pt-BR" sz="1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1672843" y="3260494"/>
            <a:ext cx="219643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+mj-lt"/>
              </a:rPr>
              <a:t>Divisão da população</a:t>
            </a:r>
          </a:p>
          <a:p>
            <a:r>
              <a:rPr lang="pt-BR" sz="1400" dirty="0">
                <a:latin typeface="+mj-lt"/>
              </a:rPr>
              <a:t>com base no atributo</a:t>
            </a:r>
          </a:p>
          <a:p>
            <a:r>
              <a:rPr lang="pt-BR" sz="1400" dirty="0">
                <a:latin typeface="+mj-lt"/>
              </a:rPr>
              <a:t>“aplicação de soro</a:t>
            </a:r>
          </a:p>
          <a:p>
            <a:r>
              <a:rPr lang="pt-BR" sz="1400" dirty="0">
                <a:latin typeface="+mj-lt"/>
              </a:rPr>
              <a:t>antiofídico após a</a:t>
            </a:r>
          </a:p>
          <a:p>
            <a:r>
              <a:rPr lang="pt-BR" sz="1400" dirty="0">
                <a:latin typeface="+mj-lt"/>
              </a:rPr>
              <a:t>picada”</a:t>
            </a:r>
          </a:p>
        </p:txBody>
      </p:sp>
      <p:cxnSp>
        <p:nvCxnSpPr>
          <p:cNvPr id="63" name="Conector de seta reta 62"/>
          <p:cNvCxnSpPr/>
          <p:nvPr/>
        </p:nvCxnSpPr>
        <p:spPr>
          <a:xfrm>
            <a:off x="3560308" y="3959425"/>
            <a:ext cx="504563" cy="3783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5">
            <a:extLst>
              <a:ext uri="{FF2B5EF4-FFF2-40B4-BE49-F238E27FC236}">
                <a16:creationId xmlns:a16="http://schemas.microsoft.com/office/drawing/2014/main" id="{D16337CE-73E9-2F65-252D-51243F528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174383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0" grpId="0"/>
      <p:bldP spid="2" grpId="0"/>
      <p:bldP spid="61" grpId="0"/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1D332B93-C30D-5C04-C4D4-E29123BE4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348" y="1295400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ganho de informação de um atributo refere-se a quanto ele contribui para inferirmos uma previsão para novos exemplos.</a:t>
            </a:r>
          </a:p>
        </p:txBody>
      </p:sp>
      <p:sp>
        <p:nvSpPr>
          <p:cNvPr id="23" name="Elipse 22"/>
          <p:cNvSpPr/>
          <p:nvPr/>
        </p:nvSpPr>
        <p:spPr>
          <a:xfrm>
            <a:off x="4290686" y="2714800"/>
            <a:ext cx="1255594" cy="12419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Elipse 23"/>
          <p:cNvSpPr/>
          <p:nvPr/>
        </p:nvSpPr>
        <p:spPr>
          <a:xfrm>
            <a:off x="3267104" y="4930287"/>
            <a:ext cx="1255594" cy="12419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Elipse 24"/>
          <p:cNvSpPr/>
          <p:nvPr/>
        </p:nvSpPr>
        <p:spPr>
          <a:xfrm>
            <a:off x="5509886" y="4930287"/>
            <a:ext cx="1255594" cy="124194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6" name="Conector de seta reta 25"/>
          <p:cNvCxnSpPr>
            <a:stCxn id="23" idx="3"/>
          </p:cNvCxnSpPr>
          <p:nvPr/>
        </p:nvCxnSpPr>
        <p:spPr>
          <a:xfrm flipH="1">
            <a:off x="3894901" y="3774867"/>
            <a:ext cx="579662" cy="1153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3" idx="5"/>
            <a:endCxn id="25" idx="0"/>
          </p:cNvCxnSpPr>
          <p:nvPr/>
        </p:nvCxnSpPr>
        <p:spPr>
          <a:xfrm>
            <a:off x="5362403" y="3774867"/>
            <a:ext cx="775280" cy="1155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4549985" y="2837628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620497" y="3303928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043582" y="2976380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702385" y="3549588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152763" y="3208395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388485" y="2990028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4756977" y="3071916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4977617" y="3367616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4868433" y="2719343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349817" y="3210668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4486294" y="3456328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4963967" y="3190194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3708369" y="5135003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380823" y="5407960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063647" y="5235086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4252107" y="4178312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>
                <a:latin typeface="+mj-lt"/>
              </a:rPr>
              <a:t>Sexo</a:t>
            </a:r>
          </a:p>
          <a:p>
            <a:r>
              <a:rPr lang="pt-BR" sz="900" dirty="0">
                <a:latin typeface="+mj-lt"/>
              </a:rPr>
              <a:t>masculino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4784273" y="2894493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446787" y="5064492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230102" y="2999124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027657" y="3520016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4092782" y="5464828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25136" y="416693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>
                <a:latin typeface="+mj-lt"/>
              </a:rPr>
              <a:t>Sexo</a:t>
            </a:r>
          </a:p>
          <a:p>
            <a:r>
              <a:rPr lang="pt-BR" sz="900" dirty="0">
                <a:latin typeface="+mj-lt"/>
              </a:rPr>
              <a:t>feminino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775936" y="2687815"/>
            <a:ext cx="2696572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+mj-lt"/>
              </a:rPr>
              <a:t>População picada por</a:t>
            </a:r>
          </a:p>
          <a:p>
            <a:r>
              <a:rPr lang="pt-BR" sz="1400" dirty="0">
                <a:latin typeface="+mj-lt"/>
              </a:rPr>
              <a:t>cobra altamente venenosa</a:t>
            </a:r>
          </a:p>
          <a:p>
            <a:endParaRPr lang="pt-BR" sz="500" dirty="0">
              <a:latin typeface="+mj-lt"/>
            </a:endParaRPr>
          </a:p>
          <a:p>
            <a:r>
              <a:rPr lang="pt-BR" sz="1400" b="1" dirty="0">
                <a:solidFill>
                  <a:srgbClr val="00B050"/>
                </a:solidFill>
                <a:latin typeface="+mj-lt"/>
              </a:rPr>
              <a:t>+</a:t>
            </a:r>
            <a:r>
              <a:rPr lang="pt-BR" sz="1400" dirty="0">
                <a:latin typeface="+mj-lt"/>
              </a:rPr>
              <a:t> = sobrevivente</a:t>
            </a:r>
          </a:p>
          <a:p>
            <a:r>
              <a:rPr lang="pt-BR" sz="1400" b="1" dirty="0">
                <a:solidFill>
                  <a:srgbClr val="FF0000"/>
                </a:solidFill>
                <a:latin typeface="+mj-lt"/>
              </a:rPr>
              <a:t>-</a:t>
            </a:r>
            <a:r>
              <a:rPr lang="pt-BR" sz="1400" dirty="0">
                <a:latin typeface="+mj-lt"/>
              </a:rPr>
              <a:t> = não sobrevivente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H="1">
            <a:off x="5586994" y="2977539"/>
            <a:ext cx="1165712" cy="113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/>
          <p:cNvSpPr txBox="1"/>
          <p:nvPr/>
        </p:nvSpPr>
        <p:spPr>
          <a:xfrm>
            <a:off x="7374078" y="3927286"/>
            <a:ext cx="34109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+mj-lt"/>
              </a:rPr>
              <a:t>Vemos que o atributo “sexo” traz</a:t>
            </a:r>
          </a:p>
          <a:p>
            <a:r>
              <a:rPr lang="pt-BR" sz="1400" b="1" dirty="0">
                <a:solidFill>
                  <a:srgbClr val="FF0000"/>
                </a:solidFill>
                <a:latin typeface="+mj-lt"/>
              </a:rPr>
              <a:t>baixíssimo (nulo, praticamente)</a:t>
            </a:r>
          </a:p>
          <a:p>
            <a:r>
              <a:rPr lang="pt-BR" sz="1400" b="1" dirty="0">
                <a:solidFill>
                  <a:srgbClr val="FF0000"/>
                </a:solidFill>
                <a:latin typeface="+mj-lt"/>
              </a:rPr>
              <a:t>ganho de informação</a:t>
            </a:r>
            <a:r>
              <a:rPr lang="pt-BR" sz="1400" b="1" dirty="0">
                <a:latin typeface="+mj-lt"/>
              </a:rPr>
              <a:t> para </a:t>
            </a:r>
          </a:p>
          <a:p>
            <a:r>
              <a:rPr lang="pt-BR" sz="1400" b="1" dirty="0">
                <a:latin typeface="+mj-lt"/>
              </a:rPr>
              <a:t>a variável alvo de sobrevivência após picada de cobra altamente venenosa.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1923564" y="3274141"/>
            <a:ext cx="21964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+mj-lt"/>
              </a:rPr>
              <a:t>Divisão da população</a:t>
            </a:r>
          </a:p>
          <a:p>
            <a:r>
              <a:rPr lang="pt-BR" sz="1400" dirty="0">
                <a:latin typeface="+mj-lt"/>
              </a:rPr>
              <a:t>com base no atributo</a:t>
            </a:r>
          </a:p>
          <a:p>
            <a:r>
              <a:rPr lang="pt-BR" sz="1400" dirty="0">
                <a:latin typeface="+mj-lt"/>
              </a:rPr>
              <a:t>“sexo”</a:t>
            </a:r>
          </a:p>
        </p:txBody>
      </p:sp>
      <p:cxnSp>
        <p:nvCxnSpPr>
          <p:cNvPr id="63" name="Conector de seta reta 62"/>
          <p:cNvCxnSpPr>
            <a:cxnSpLocks/>
          </p:cNvCxnSpPr>
          <p:nvPr/>
        </p:nvCxnSpPr>
        <p:spPr>
          <a:xfrm>
            <a:off x="3380823" y="3858570"/>
            <a:ext cx="684048" cy="4928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3745450" y="5383311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64" name="CaixaDeTexto 63"/>
          <p:cNvSpPr txBox="1"/>
          <p:nvPr/>
        </p:nvSpPr>
        <p:spPr>
          <a:xfrm>
            <a:off x="3607226" y="5691659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3915571" y="5702290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6029817" y="5170444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5702271" y="5443401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6043464" y="545704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69" name="CaixaDeTexto 68"/>
          <p:cNvSpPr txBox="1"/>
          <p:nvPr/>
        </p:nvSpPr>
        <p:spPr>
          <a:xfrm>
            <a:off x="5768235" y="5099933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  <a:latin typeface="+mj-lt"/>
              </a:rPr>
              <a:t>+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6276005" y="5681029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6311447" y="5269893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72" name="CaixaDeTexto 71"/>
          <p:cNvSpPr txBox="1"/>
          <p:nvPr/>
        </p:nvSpPr>
        <p:spPr>
          <a:xfrm>
            <a:off x="5928674" y="5695201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+mj-lt"/>
              </a:rPr>
              <a:t>-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5D47B58-B30C-2380-E6C7-D86FF800B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44597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0" grpId="0"/>
      <p:bldP spid="2" grpId="0"/>
      <p:bldP spid="61" grpId="0"/>
      <p:bldP spid="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411" y="1295401"/>
            <a:ext cx="5210490" cy="5037161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7463517" y="1980104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+mj-lt"/>
              </a:rPr>
              <a:t>Conjunto pai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6177889" y="2210938"/>
            <a:ext cx="1214649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7258014" y="2769464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Entropia do conjunto pai: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891792" y="3140229"/>
            <a:ext cx="3721616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+mn-lt"/>
              </a:rPr>
              <a:t>Entropia(pai)</a:t>
            </a:r>
          </a:p>
          <a:p>
            <a:r>
              <a:rPr lang="pt-BR" sz="300" dirty="0">
                <a:solidFill>
                  <a:srgbClr val="FF0000"/>
                </a:solidFill>
                <a:latin typeface="+mn-lt"/>
              </a:rPr>
              <a:t> </a:t>
            </a:r>
          </a:p>
          <a:p>
            <a:r>
              <a:rPr lang="pt-BR" sz="1600" dirty="0">
                <a:solidFill>
                  <a:srgbClr val="FF0000"/>
                </a:solidFill>
                <a:latin typeface="+mn-lt"/>
              </a:rPr>
              <a:t>= - [0,53 log</a:t>
            </a:r>
            <a:r>
              <a:rPr lang="pt-BR" sz="1600" baseline="-25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pt-BR" sz="1600" dirty="0">
                <a:solidFill>
                  <a:srgbClr val="FF0000"/>
                </a:solidFill>
                <a:latin typeface="+mn-lt"/>
              </a:rPr>
              <a:t>(0,53) + 0,47 log</a:t>
            </a:r>
            <a:r>
              <a:rPr lang="pt-BR" sz="1600" baseline="-25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pt-BR" sz="1600" dirty="0">
                <a:solidFill>
                  <a:srgbClr val="FF0000"/>
                </a:solidFill>
                <a:latin typeface="+mn-lt"/>
              </a:rPr>
              <a:t>(0,47)]</a:t>
            </a:r>
          </a:p>
          <a:p>
            <a:r>
              <a:rPr lang="pt-BR" sz="1600" dirty="0">
                <a:solidFill>
                  <a:srgbClr val="FF0000"/>
                </a:solidFill>
                <a:latin typeface="+mn-lt"/>
              </a:rPr>
              <a:t>= - [0,53 (-0,9) + 0,47 (-1,1)]</a:t>
            </a:r>
          </a:p>
          <a:p>
            <a:r>
              <a:rPr lang="pt-BR" sz="1600" dirty="0">
                <a:solidFill>
                  <a:srgbClr val="FF0000"/>
                </a:solidFill>
                <a:latin typeface="+mn-lt"/>
              </a:rPr>
              <a:t>= 0,99 (muito impuro)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8F3FD38-9C41-112D-7598-4C3EE6E0C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84914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411" y="1295401"/>
            <a:ext cx="5210490" cy="5037161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7463517" y="1829976"/>
            <a:ext cx="22621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+mj-lt"/>
              </a:rPr>
              <a:t>Conjunto pai</a:t>
            </a:r>
          </a:p>
          <a:p>
            <a:r>
              <a:rPr lang="pt-BR" sz="2000" dirty="0">
                <a:solidFill>
                  <a:srgbClr val="FF0000"/>
                </a:solidFill>
                <a:latin typeface="+mj-lt"/>
              </a:rPr>
              <a:t>Entropia = 0,99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6177889" y="2210938"/>
            <a:ext cx="1214649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917014" y="2876920"/>
            <a:ext cx="35719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+mj-lt"/>
              </a:rPr>
              <a:t>Conjuntos filhos</a:t>
            </a:r>
          </a:p>
          <a:p>
            <a:r>
              <a:rPr lang="pt-BR" sz="2000" dirty="0">
                <a:solidFill>
                  <a:srgbClr val="FF0000"/>
                </a:solidFill>
                <a:latin typeface="+mj-lt"/>
              </a:rPr>
              <a:t>(divisão feita com base no atributo “Saldo”)</a:t>
            </a:r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6510577" y="3569417"/>
            <a:ext cx="1406439" cy="8524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479281" y="4410865"/>
            <a:ext cx="3706464" cy="1651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Este atributo “Saldo”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traz ganho de informação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sobre o valor alvo (   ou </a:t>
            </a:r>
            <a:r>
              <a:rPr lang="pt-BR" sz="3200" b="1" baseline="-20000" dirty="0">
                <a:solidFill>
                  <a:srgbClr val="0070C0"/>
                </a:solidFill>
                <a:latin typeface="+mj-lt"/>
              </a:rPr>
              <a:t>*</a:t>
            </a:r>
            <a:r>
              <a:rPr lang="pt-BR" sz="2000" dirty="0">
                <a:solidFill>
                  <a:srgbClr val="0070C0"/>
                </a:solidFill>
                <a:latin typeface="+mj-lt"/>
              </a:rPr>
              <a:t>)?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Ou seja, traz redução na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entropia?</a:t>
            </a:r>
          </a:p>
        </p:txBody>
      </p:sp>
      <p:sp>
        <p:nvSpPr>
          <p:cNvPr id="4" name="Elipse 3"/>
          <p:cNvSpPr/>
          <p:nvPr/>
        </p:nvSpPr>
        <p:spPr>
          <a:xfrm>
            <a:off x="10149472" y="5186249"/>
            <a:ext cx="86358" cy="10329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DC0E7A89-771F-5C7D-68F9-81A492842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57279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411" y="1295401"/>
            <a:ext cx="5210490" cy="5037161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7275654" y="2402000"/>
            <a:ext cx="32816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Visualmente, podemos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perceber que os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conjuntos filhos são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bem menos impuros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169819" y="4110246"/>
            <a:ext cx="36070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rgbClr val="FF0000"/>
                </a:solidFill>
                <a:latin typeface="+mj-lt"/>
              </a:rPr>
              <a:t>Calculemos o</a:t>
            </a:r>
          </a:p>
          <a:p>
            <a:pPr algn="ctr"/>
            <a:r>
              <a:rPr lang="pt-BR" sz="2000" dirty="0">
                <a:solidFill>
                  <a:srgbClr val="FF0000"/>
                </a:solidFill>
                <a:latin typeface="+mj-lt"/>
              </a:rPr>
              <a:t>ganho de informação (GI)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AD76324-F594-84D4-9EEF-ADC541DAC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233894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411" y="1295401"/>
            <a:ext cx="5210490" cy="5037161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7064450" y="1947880"/>
            <a:ext cx="4186877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Entropia (Saldo &lt; 50 mil)</a:t>
            </a: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= - [p(o) log</a:t>
            </a:r>
            <a:r>
              <a:rPr lang="pt-BR" sz="2000" baseline="-25000" dirty="0">
                <a:solidFill>
                  <a:srgbClr val="0070C0"/>
                </a:solidFill>
                <a:latin typeface="+mj-lt"/>
              </a:rPr>
              <a:t>2</a:t>
            </a:r>
            <a:r>
              <a:rPr lang="pt-BR" sz="2000" dirty="0">
                <a:solidFill>
                  <a:srgbClr val="0070C0"/>
                </a:solidFill>
                <a:latin typeface="+mj-lt"/>
              </a:rPr>
              <a:t>(o) + p(</a:t>
            </a:r>
            <a:r>
              <a:rPr lang="pt-BR" sz="3200" baseline="-20000" dirty="0">
                <a:solidFill>
                  <a:srgbClr val="0070C0"/>
                </a:solidFill>
                <a:latin typeface="+mj-lt"/>
              </a:rPr>
              <a:t>*</a:t>
            </a:r>
            <a:r>
              <a:rPr lang="pt-BR" sz="2000" dirty="0">
                <a:solidFill>
                  <a:srgbClr val="0070C0"/>
                </a:solidFill>
                <a:latin typeface="+mj-lt"/>
              </a:rPr>
              <a:t>) log</a:t>
            </a:r>
            <a:r>
              <a:rPr lang="pt-BR" sz="2000" baseline="-25000" dirty="0">
                <a:solidFill>
                  <a:srgbClr val="0070C0"/>
                </a:solidFill>
                <a:latin typeface="+mj-lt"/>
              </a:rPr>
              <a:t>2</a:t>
            </a:r>
            <a:r>
              <a:rPr lang="pt-BR" sz="2000" dirty="0">
                <a:solidFill>
                  <a:srgbClr val="0070C0"/>
                </a:solidFill>
                <a:latin typeface="+mj-lt"/>
              </a:rPr>
              <a:t>(</a:t>
            </a:r>
            <a:r>
              <a:rPr lang="pt-BR" sz="3200" baseline="-20000" dirty="0">
                <a:solidFill>
                  <a:srgbClr val="0070C0"/>
                </a:solidFill>
                <a:latin typeface="+mj-lt"/>
              </a:rPr>
              <a:t>*</a:t>
            </a:r>
            <a:r>
              <a:rPr lang="pt-BR" sz="2000" dirty="0">
                <a:solidFill>
                  <a:srgbClr val="0070C0"/>
                </a:solidFill>
                <a:latin typeface="+mj-lt"/>
              </a:rPr>
              <a:t>)]</a:t>
            </a: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= - [0,92 (-0,12) + 0,08 (-3,7)]</a:t>
            </a: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= 0,39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066724" y="3424116"/>
            <a:ext cx="4186877" cy="134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B050"/>
                </a:solidFill>
                <a:latin typeface="+mj-lt"/>
              </a:rPr>
              <a:t>Entropia (Saldo &gt;= 50 mil)</a:t>
            </a:r>
          </a:p>
          <a:p>
            <a:r>
              <a:rPr lang="pt-BR" sz="2000" dirty="0">
                <a:solidFill>
                  <a:srgbClr val="00B050"/>
                </a:solidFill>
                <a:latin typeface="+mj-lt"/>
              </a:rPr>
              <a:t>= - [p(o) log</a:t>
            </a:r>
            <a:r>
              <a:rPr lang="pt-BR" sz="2000" baseline="-25000" dirty="0">
                <a:solidFill>
                  <a:srgbClr val="00B050"/>
                </a:solidFill>
                <a:latin typeface="+mj-lt"/>
              </a:rPr>
              <a:t>2</a:t>
            </a:r>
            <a:r>
              <a:rPr lang="pt-BR" sz="2000" dirty="0">
                <a:solidFill>
                  <a:srgbClr val="00B050"/>
                </a:solidFill>
                <a:latin typeface="+mj-lt"/>
              </a:rPr>
              <a:t>(o) + p(</a:t>
            </a:r>
            <a:r>
              <a:rPr lang="pt-BR" sz="3200" baseline="-20000" dirty="0">
                <a:solidFill>
                  <a:srgbClr val="00B050"/>
                </a:solidFill>
                <a:latin typeface="+mj-lt"/>
              </a:rPr>
              <a:t>*</a:t>
            </a:r>
            <a:r>
              <a:rPr lang="pt-BR" sz="2000" dirty="0">
                <a:solidFill>
                  <a:srgbClr val="00B050"/>
                </a:solidFill>
                <a:latin typeface="+mj-lt"/>
              </a:rPr>
              <a:t>) log</a:t>
            </a:r>
            <a:r>
              <a:rPr lang="pt-BR" sz="2000" baseline="-25000" dirty="0">
                <a:solidFill>
                  <a:srgbClr val="00B050"/>
                </a:solidFill>
                <a:latin typeface="+mj-lt"/>
              </a:rPr>
              <a:t>2</a:t>
            </a:r>
            <a:r>
              <a:rPr lang="pt-BR" sz="2000" dirty="0">
                <a:solidFill>
                  <a:srgbClr val="00B050"/>
                </a:solidFill>
                <a:latin typeface="+mj-lt"/>
              </a:rPr>
              <a:t>(</a:t>
            </a:r>
            <a:r>
              <a:rPr lang="pt-BR" sz="3200" baseline="-20000" dirty="0">
                <a:solidFill>
                  <a:srgbClr val="00B050"/>
                </a:solidFill>
                <a:latin typeface="+mj-lt"/>
              </a:rPr>
              <a:t>*</a:t>
            </a:r>
            <a:r>
              <a:rPr lang="pt-BR" sz="2000" dirty="0">
                <a:solidFill>
                  <a:srgbClr val="00B050"/>
                </a:solidFill>
                <a:latin typeface="+mj-lt"/>
              </a:rPr>
              <a:t>)]</a:t>
            </a:r>
          </a:p>
          <a:p>
            <a:r>
              <a:rPr lang="pt-BR" sz="2000" dirty="0">
                <a:solidFill>
                  <a:srgbClr val="00B050"/>
                </a:solidFill>
                <a:latin typeface="+mj-lt"/>
              </a:rPr>
              <a:t>= - [0,24 (-2,1) + 0,76(-0,39)]</a:t>
            </a:r>
          </a:p>
          <a:p>
            <a:r>
              <a:rPr lang="pt-BR" sz="2000" dirty="0">
                <a:solidFill>
                  <a:srgbClr val="00B050"/>
                </a:solidFill>
                <a:latin typeface="+mj-lt"/>
              </a:rPr>
              <a:t>= 0,79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49B4EA9-4AA1-2C86-AE73-FB03BA499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287727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411" y="1295401"/>
            <a:ext cx="5210490" cy="5037161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7151396" y="1903634"/>
            <a:ext cx="4104993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Ganho de informação da divisão:</a:t>
            </a:r>
          </a:p>
          <a:p>
            <a:endParaRPr lang="pt-BR" sz="600" dirty="0">
              <a:solidFill>
                <a:srgbClr val="0070C0"/>
              </a:solidFill>
              <a:latin typeface="+mj-lt"/>
            </a:endParaRP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GI = Entropia(pai) –</a:t>
            </a:r>
          </a:p>
          <a:p>
            <a:endParaRPr lang="pt-BR" sz="400" dirty="0">
              <a:solidFill>
                <a:srgbClr val="0070C0"/>
              </a:solidFill>
              <a:latin typeface="+mj-lt"/>
            </a:endParaRP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   p(Saldo &lt; 50 mil) * </a:t>
            </a: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   Entropia(Saldo &lt; 50 mil)      </a:t>
            </a: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– p(Saldo &gt;= 50 mil) * </a:t>
            </a: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   Entropia(Saldo &gt;= 50 mil)</a:t>
            </a:r>
          </a:p>
          <a:p>
            <a:endParaRPr lang="pt-BR" sz="400" dirty="0">
              <a:solidFill>
                <a:srgbClr val="0070C0"/>
              </a:solidFill>
              <a:latin typeface="+mj-lt"/>
            </a:endParaRP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= 0,99 – (13/30)*0,39</a:t>
            </a: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            – (17/30)*0,79</a:t>
            </a:r>
          </a:p>
          <a:p>
            <a:endParaRPr lang="pt-BR" sz="500" dirty="0">
              <a:solidFill>
                <a:srgbClr val="0070C0"/>
              </a:solidFill>
              <a:latin typeface="+mj-lt"/>
            </a:endParaRP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= </a:t>
            </a:r>
            <a:r>
              <a:rPr lang="pt-BR" sz="2000" b="1" dirty="0">
                <a:solidFill>
                  <a:srgbClr val="FF0000"/>
                </a:solidFill>
                <a:latin typeface="+mj-lt"/>
              </a:rPr>
              <a:t>0,37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598460" y="4174860"/>
            <a:ext cx="49244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</a:rPr>
              <a:t>13</a:t>
            </a:r>
          </a:p>
        </p:txBody>
      </p:sp>
      <p:cxnSp>
        <p:nvCxnSpPr>
          <p:cNvPr id="9" name="Conector reto 8"/>
          <p:cNvCxnSpPr>
            <a:stCxn id="3" idx="1"/>
          </p:cNvCxnSpPr>
          <p:nvPr/>
        </p:nvCxnSpPr>
        <p:spPr>
          <a:xfrm flipH="1">
            <a:off x="3066197" y="4405692"/>
            <a:ext cx="532262" cy="33008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4162125" y="457073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</a:rPr>
              <a:t>17</a:t>
            </a:r>
          </a:p>
        </p:txBody>
      </p:sp>
      <p:cxnSp>
        <p:nvCxnSpPr>
          <p:cNvPr id="12" name="Conector reto 11"/>
          <p:cNvCxnSpPr/>
          <p:nvPr/>
        </p:nvCxnSpPr>
        <p:spPr>
          <a:xfrm>
            <a:off x="4623165" y="4804012"/>
            <a:ext cx="457569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5">
            <a:extLst>
              <a:ext uri="{FF2B5EF4-FFF2-40B4-BE49-F238E27FC236}">
                <a16:creationId xmlns:a16="http://schemas.microsoft.com/office/drawing/2014/main" id="{CADB9730-E975-D21C-F227-6AE478E78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421850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58" y="1281753"/>
            <a:ext cx="5992502" cy="5044300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6827623" y="1978915"/>
            <a:ext cx="392767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rgbClr val="FF0000"/>
                </a:solidFill>
                <a:latin typeface="+mj-lt"/>
              </a:rPr>
              <a:t>Façamos agora a divisão</a:t>
            </a:r>
          </a:p>
          <a:p>
            <a:pPr algn="ctr"/>
            <a:r>
              <a:rPr lang="pt-BR" sz="2000" dirty="0">
                <a:solidFill>
                  <a:srgbClr val="FF0000"/>
                </a:solidFill>
                <a:latin typeface="+mj-lt"/>
              </a:rPr>
              <a:t>do conjunto com base no</a:t>
            </a:r>
          </a:p>
          <a:p>
            <a:pPr algn="ctr"/>
            <a:r>
              <a:rPr lang="pt-BR" sz="2000" dirty="0">
                <a:solidFill>
                  <a:srgbClr val="FF0000"/>
                </a:solidFill>
                <a:latin typeface="+mj-lt"/>
              </a:rPr>
              <a:t>atributo “Residência”</a:t>
            </a:r>
          </a:p>
          <a:p>
            <a:pPr algn="ctr"/>
            <a:r>
              <a:rPr lang="pt-BR" sz="2000" dirty="0">
                <a:solidFill>
                  <a:srgbClr val="FF0000"/>
                </a:solidFill>
                <a:latin typeface="+mj-lt"/>
              </a:rPr>
              <a:t>para ver se temos um</a:t>
            </a:r>
          </a:p>
          <a:p>
            <a:pPr algn="ctr"/>
            <a:r>
              <a:rPr lang="pt-BR" sz="2000" dirty="0">
                <a:solidFill>
                  <a:srgbClr val="FF0000"/>
                </a:solidFill>
                <a:latin typeface="+mj-lt"/>
              </a:rPr>
              <a:t>ganho de informação maior</a:t>
            </a:r>
          </a:p>
        </p:txBody>
      </p:sp>
      <p:cxnSp>
        <p:nvCxnSpPr>
          <p:cNvPr id="13" name="Conector de seta reta 12"/>
          <p:cNvCxnSpPr/>
          <p:nvPr/>
        </p:nvCxnSpPr>
        <p:spPr>
          <a:xfrm flipH="1">
            <a:off x="4662986" y="2825088"/>
            <a:ext cx="2361063" cy="8052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DCDA37F5-42A8-27C9-4F34-98759AD75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4230431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58" y="1281753"/>
            <a:ext cx="5992502" cy="50443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936655" y="2248574"/>
            <a:ext cx="33217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Visualmente, podemos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perceber que dois dos</a:t>
            </a:r>
          </a:p>
          <a:p>
            <a:pPr algn="ctr"/>
            <a:r>
              <a:rPr lang="pt-BR" sz="2000" dirty="0">
                <a:solidFill>
                  <a:srgbClr val="0070C0"/>
                </a:solidFill>
                <a:latin typeface="+mj-lt"/>
              </a:rPr>
              <a:t>filhos são bem impuros</a:t>
            </a:r>
          </a:p>
        </p:txBody>
      </p:sp>
      <p:cxnSp>
        <p:nvCxnSpPr>
          <p:cNvPr id="3" name="Conector de seta reta 2"/>
          <p:cNvCxnSpPr/>
          <p:nvPr/>
        </p:nvCxnSpPr>
        <p:spPr>
          <a:xfrm flipH="1">
            <a:off x="4635691" y="2797792"/>
            <a:ext cx="2306471" cy="95505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H="1">
            <a:off x="6218830" y="3308481"/>
            <a:ext cx="1296530" cy="49542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570AF252-4D29-AA29-4830-696C2318C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3336501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58" y="1281753"/>
            <a:ext cx="5992502" cy="50443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6849367" y="1911861"/>
            <a:ext cx="2799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  <a:latin typeface="+mj-lt"/>
              </a:rPr>
              <a:t>Entropia(pai) = 0,99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5563739" y="2129050"/>
            <a:ext cx="1214649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6292635" y="2461800"/>
            <a:ext cx="5016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Entropia (Residência = PRÓPRIA) = 0,54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292634" y="2793824"/>
            <a:ext cx="5036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Entropia (Residência = ALUGUEL) = 0,97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292634" y="3123646"/>
            <a:ext cx="4927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Entropia (Residência = OUTROS) = 0,98 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3F2F093-67DF-4EDD-7820-BE39A7E5A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365919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90500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endParaRPr lang="pt-BR" altLang="pt-BR" kern="0" dirty="0"/>
          </a:p>
          <a:p>
            <a:pPr eaLnBrk="1" hangingPunct="1"/>
            <a:endParaRPr lang="pt-BR" altLang="pt-BR" kern="0" dirty="0"/>
          </a:p>
          <a:p>
            <a:pPr marL="1371600" lvl="3" indent="0" eaLnBrk="1" hangingPunct="1">
              <a:buNone/>
            </a:pPr>
            <a:endParaRPr lang="pt-BR" altLang="pt-BR" kern="0" dirty="0"/>
          </a:p>
          <a:p>
            <a:pPr lvl="1" eaLnBrk="1" hangingPunct="1"/>
            <a:endParaRPr lang="pt-BR" altLang="pt-BR" kern="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58" y="1281753"/>
            <a:ext cx="5992502" cy="5044300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7166147" y="1372633"/>
            <a:ext cx="383816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Ganho de informação da divisão:</a:t>
            </a:r>
          </a:p>
          <a:p>
            <a:endParaRPr lang="pt-BR" sz="600" dirty="0">
              <a:solidFill>
                <a:srgbClr val="0070C0"/>
              </a:solidFill>
              <a:latin typeface="+mj-lt"/>
            </a:endParaRP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GI = 0,99 –</a:t>
            </a:r>
          </a:p>
          <a:p>
            <a:endParaRPr lang="pt-BR" sz="400" dirty="0">
              <a:solidFill>
                <a:srgbClr val="0070C0"/>
              </a:solidFill>
              <a:latin typeface="+mj-lt"/>
            </a:endParaRP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   (8/30) * 0,54 </a:t>
            </a:r>
            <a:r>
              <a:rPr lang="pt-BR" sz="2000" dirty="0">
                <a:solidFill>
                  <a:srgbClr val="0070C0"/>
                </a:solidFill>
              </a:rPr>
              <a:t>–</a:t>
            </a:r>
            <a:r>
              <a:rPr lang="pt-BR" sz="2000" dirty="0">
                <a:solidFill>
                  <a:srgbClr val="0070C0"/>
                </a:solidFill>
                <a:latin typeface="+mj-lt"/>
              </a:rPr>
              <a:t> </a:t>
            </a: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   (10/30) * 0,97 </a:t>
            </a:r>
            <a:r>
              <a:rPr lang="pt-BR" sz="2000" dirty="0">
                <a:solidFill>
                  <a:srgbClr val="0070C0"/>
                </a:solidFill>
              </a:rPr>
              <a:t>–</a:t>
            </a:r>
            <a:endParaRPr lang="pt-BR" sz="2000" dirty="0">
              <a:solidFill>
                <a:srgbClr val="0070C0"/>
              </a:solidFill>
              <a:latin typeface="+mj-lt"/>
            </a:endParaRP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   (12/30) * 0,98</a:t>
            </a:r>
          </a:p>
          <a:p>
            <a:endParaRPr lang="pt-BR" sz="500" dirty="0">
              <a:solidFill>
                <a:srgbClr val="0070C0"/>
              </a:solidFill>
              <a:latin typeface="+mj-lt"/>
            </a:endParaRPr>
          </a:p>
          <a:p>
            <a:r>
              <a:rPr lang="pt-BR" sz="2000" dirty="0">
                <a:solidFill>
                  <a:srgbClr val="0070C0"/>
                </a:solidFill>
                <a:latin typeface="+mj-lt"/>
              </a:rPr>
              <a:t>     = </a:t>
            </a:r>
            <a:r>
              <a:rPr lang="pt-BR" sz="2000" b="1" dirty="0">
                <a:solidFill>
                  <a:srgbClr val="FF0000"/>
                </a:solidFill>
                <a:latin typeface="+mj-lt"/>
              </a:rPr>
              <a:t>0,13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7897505" y="3927467"/>
            <a:ext cx="273985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+mj-lt"/>
              </a:rPr>
              <a:t>0,13 &lt; 0,37</a:t>
            </a:r>
          </a:p>
          <a:p>
            <a:pPr algn="ctr"/>
            <a:r>
              <a:rPr lang="pt-BR" sz="1800" dirty="0">
                <a:latin typeface="+mj-lt"/>
              </a:rPr>
              <a:t>Esta segunda divisão</a:t>
            </a:r>
          </a:p>
          <a:p>
            <a:pPr algn="ctr"/>
            <a:r>
              <a:rPr lang="pt-BR" sz="1800" dirty="0">
                <a:latin typeface="+mj-lt"/>
              </a:rPr>
              <a:t>trouxe um ganho de </a:t>
            </a:r>
          </a:p>
          <a:p>
            <a:pPr algn="ctr"/>
            <a:r>
              <a:rPr lang="pt-BR" sz="1800" dirty="0">
                <a:latin typeface="+mj-lt"/>
              </a:rPr>
              <a:t>informação menor</a:t>
            </a:r>
          </a:p>
          <a:p>
            <a:pPr algn="ctr"/>
            <a:r>
              <a:rPr lang="pt-BR" sz="1800" dirty="0">
                <a:latin typeface="+mj-lt"/>
              </a:rPr>
              <a:t>que o do “Saldo”</a:t>
            </a:r>
            <a:endParaRPr lang="pt-BR" sz="2000" dirty="0">
              <a:latin typeface="+mj-lt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7559604" y="5496826"/>
            <a:ext cx="3411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1" dirty="0">
                <a:solidFill>
                  <a:srgbClr val="00B050"/>
                </a:solidFill>
                <a:latin typeface="+mj-lt"/>
              </a:rPr>
              <a:t>Ou seja, a variável ”Residência” é</a:t>
            </a:r>
          </a:p>
          <a:p>
            <a:pPr algn="ctr"/>
            <a:r>
              <a:rPr lang="pt-BR" sz="1800" b="1" dirty="0">
                <a:solidFill>
                  <a:srgbClr val="00B050"/>
                </a:solidFill>
                <a:latin typeface="+mj-lt"/>
              </a:rPr>
              <a:t>menos informativa</a:t>
            </a:r>
            <a:endParaRPr lang="pt-BR" sz="2000" b="1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EBC711C-316B-47BD-42A9-BBEC174BA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248743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7"/>
          <p:cNvSpPr txBox="1">
            <a:spLocks noChangeArrowheads="1"/>
          </p:cNvSpPr>
          <p:nvPr/>
        </p:nvSpPr>
        <p:spPr bwMode="auto">
          <a:xfrm>
            <a:off x="1064346" y="1295400"/>
            <a:ext cx="1052788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Resumo da técnica: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Identificar, na amostra pai (conjunto de treinamento), a variável alvo (classe) e seus possíveis valores.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Preparar os dados (por exemplo, para atributos numéricos do conjunto, criar faixas etc.).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Apurar a entropia da amostra pai para a variável alvo.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Classificar (segmentar / dividir) a amostra pai por diferentes atributos e apurar o ganho de informação gerado por cada divisão.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Identificar o(s) atributo(s) que gera(m) o(s) valor(es) mais alto(s) de ganho de informação.</a:t>
            </a:r>
          </a:p>
          <a:p>
            <a:pPr marL="457200" lvl="1" indent="0" eaLnBrk="1" hangingPunct="1">
              <a:buNone/>
            </a:pPr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D6DB28-4835-7835-2E67-5751F9BA1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333353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A8FF-A1EC-ED4E-CACA-7D5F4443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7">
            <a:extLst>
              <a:ext uri="{FF2B5EF4-FFF2-40B4-BE49-F238E27FC236}">
                <a16:creationId xmlns:a16="http://schemas.microsoft.com/office/drawing/2014/main" id="{BEC7C3C9-5B1B-46BD-8231-2C10EBDE4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346" y="1295400"/>
            <a:ext cx="1052788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Resumo da técnica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Adotar então a subdivisão onde houve maior ganho de informação.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os conjuntos filhos de uma subdivisão, repetir o processo, fazendo a árvore crescer.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Parar quando não for possível mais prosseguir na subdivisão.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Apurar as probabilidades de classe dos nós mais baixos da árvore.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Avaliar a eficácia do modelo e tratar o </a:t>
            </a:r>
            <a:r>
              <a:rPr lang="pt-BR" altLang="pt-BR" sz="25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sobreajuste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eventualmente realizando “poda da árvore”.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57200" lvl="1" indent="0" eaLnBrk="1" hangingPunct="1">
              <a:buNone/>
            </a:pPr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2B2B99-B48F-C42E-9DA1-DB7967504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</p:spTree>
    <p:extLst>
      <p:ext uri="{BB962C8B-B14F-4D97-AF65-F5344CB8AC3E}">
        <p14:creationId xmlns:p14="http://schemas.microsoft.com/office/powerpoint/2010/main" val="32989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D51A5-1030-1EFD-B81B-F532CD98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7">
            <a:extLst>
              <a:ext uri="{FF2B5EF4-FFF2-40B4-BE49-F238E27FC236}">
                <a16:creationId xmlns:a16="http://schemas.microsoft.com/office/drawing/2014/main" id="{CA81F328-BB03-7023-1FAF-8AFF25936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346" y="1295400"/>
            <a:ext cx="1052788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Além da construção de árvore por entropia (método ID3 clássico de Claude Shannon), outra técnica é a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Gini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(algoritmo CART).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Objetivo das subdivisões: maximizar o </a:t>
            </a:r>
            <a:r>
              <a:rPr lang="pt-BR" altLang="pt-BR" sz="25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Ganho Gini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57200" lvl="1" indent="0" eaLnBrk="1" hangingPunct="1">
              <a:buNone/>
            </a:pPr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8E51BB8-35B6-0DAF-728F-3453A87C0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r>
              <a:rPr lang="pt-BR" altLang="pt-BR" sz="4000" dirty="0"/>
              <a:t>Classificação por árvore de decisão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5A1981-2409-5630-E1DB-3765D89A4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8241" y="2505197"/>
            <a:ext cx="3083259" cy="126532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E05295C-89F9-D710-7F83-3420CC960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463" y="2662330"/>
            <a:ext cx="5255207" cy="95105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CAEE1D-BC18-46CB-375A-F25278BE6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8241" y="4132191"/>
            <a:ext cx="4029805" cy="72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2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A6F8B-0063-9C21-DB31-5B518F97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3183F4-C2FD-EE62-18B1-932A7D9FA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Modelagens preditivas - recapitulação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8005F22-3566-2239-8D31-1459A98D2737}"/>
              </a:ext>
            </a:extLst>
          </p:cNvPr>
          <p:cNvSpPr txBox="1"/>
          <p:nvPr/>
        </p:nvSpPr>
        <p:spPr>
          <a:xfrm>
            <a:off x="1252226" y="2405198"/>
            <a:ext cx="10041504" cy="2047603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pt-BR" sz="6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Classificação por discriminante</a:t>
            </a:r>
          </a:p>
          <a:p>
            <a:pPr algn="ctr">
              <a:spcBef>
                <a:spcPts val="1000"/>
              </a:spcBef>
            </a:pPr>
            <a:r>
              <a:rPr lang="pt-BR" sz="6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linear</a:t>
            </a:r>
          </a:p>
        </p:txBody>
      </p:sp>
    </p:spTree>
    <p:extLst>
      <p:ext uri="{BB962C8B-B14F-4D97-AF65-F5344CB8AC3E}">
        <p14:creationId xmlns:p14="http://schemas.microsoft.com/office/powerpoint/2010/main" val="3939420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Classificação por discriminante linear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14747" y="1177415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Consideremos a seguinte distribuição de valores de variável alvo no conjunto de treinamento: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175" y="2006644"/>
            <a:ext cx="5977720" cy="478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878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Classificação por discriminante linear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34853" y="1192164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Separando os indivíduos com uma equação de reta</a:t>
            </a:r>
            <a:r>
              <a:rPr lang="pt-BR" altLang="pt-BR" sz="2500" kern="0" dirty="0"/>
              <a:t>: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6383" y="1722880"/>
            <a:ext cx="5730126" cy="476492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566718" y="2429304"/>
            <a:ext cx="3470822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>
                <a:latin typeface="+mj-lt"/>
              </a:rPr>
              <a:t>y-y</a:t>
            </a:r>
            <a:r>
              <a:rPr lang="pt-BR" sz="1800" b="1" baseline="-25000" dirty="0">
                <a:latin typeface="+mj-lt"/>
              </a:rPr>
              <a:t>0</a:t>
            </a:r>
            <a:r>
              <a:rPr lang="pt-BR" sz="1800" b="1" dirty="0">
                <a:latin typeface="+mj-lt"/>
              </a:rPr>
              <a:t> = m(x-x</a:t>
            </a:r>
            <a:r>
              <a:rPr lang="pt-BR" sz="1800" b="1" baseline="-25000" dirty="0">
                <a:latin typeface="+mj-lt"/>
              </a:rPr>
              <a:t>0</a:t>
            </a:r>
            <a:r>
              <a:rPr lang="pt-BR" sz="1800" b="1" dirty="0">
                <a:latin typeface="+mj-lt"/>
              </a:rPr>
              <a:t>)</a:t>
            </a:r>
          </a:p>
          <a:p>
            <a:endParaRPr lang="pt-BR" sz="400" b="1" dirty="0">
              <a:latin typeface="+mj-lt"/>
            </a:endParaRPr>
          </a:p>
          <a:p>
            <a:r>
              <a:rPr lang="pt-BR" sz="1800" b="1" dirty="0">
                <a:latin typeface="+mj-lt"/>
              </a:rPr>
              <a:t>m = dy/dx = (y</a:t>
            </a:r>
            <a:r>
              <a:rPr lang="pt-BR" sz="1800" b="1" baseline="-25000" dirty="0">
                <a:latin typeface="+mj-lt"/>
              </a:rPr>
              <a:t>1</a:t>
            </a:r>
            <a:r>
              <a:rPr lang="pt-BR" sz="1800" b="1" dirty="0">
                <a:latin typeface="+mj-lt"/>
              </a:rPr>
              <a:t>-y</a:t>
            </a:r>
            <a:r>
              <a:rPr lang="pt-BR" sz="1800" b="1" baseline="-25000" dirty="0">
                <a:latin typeface="+mj-lt"/>
              </a:rPr>
              <a:t>0)</a:t>
            </a:r>
            <a:r>
              <a:rPr lang="pt-BR" sz="1800" b="1" dirty="0">
                <a:latin typeface="+mj-lt"/>
              </a:rPr>
              <a:t>/(x</a:t>
            </a:r>
            <a:r>
              <a:rPr lang="pt-BR" sz="1800" b="1" baseline="-25000" dirty="0">
                <a:latin typeface="+mj-lt"/>
              </a:rPr>
              <a:t>1</a:t>
            </a:r>
            <a:r>
              <a:rPr lang="pt-BR" sz="1800" b="1" dirty="0">
                <a:latin typeface="+mj-lt"/>
              </a:rPr>
              <a:t>-x</a:t>
            </a:r>
            <a:r>
              <a:rPr lang="pt-BR" sz="1800" b="1" baseline="-25000" dirty="0">
                <a:latin typeface="+mj-lt"/>
              </a:rPr>
              <a:t>0</a:t>
            </a:r>
            <a:r>
              <a:rPr lang="pt-BR" sz="1800" b="1" dirty="0">
                <a:latin typeface="+mj-lt"/>
              </a:rPr>
              <a:t>)</a:t>
            </a:r>
          </a:p>
          <a:p>
            <a:endParaRPr lang="pt-BR" sz="500" dirty="0">
              <a:latin typeface="+mj-lt"/>
            </a:endParaRPr>
          </a:p>
          <a:p>
            <a:endParaRPr lang="pt-BR" sz="600" dirty="0">
              <a:latin typeface="+mj-lt"/>
            </a:endParaRPr>
          </a:p>
          <a:p>
            <a:r>
              <a:rPr lang="pt-BR" sz="1800" dirty="0">
                <a:latin typeface="+mj-lt"/>
              </a:rPr>
              <a:t>y-60 = [(0-60)/(40-0)] * (x-0)</a:t>
            </a:r>
          </a:p>
          <a:p>
            <a:r>
              <a:rPr lang="pt-BR" sz="1800" dirty="0">
                <a:latin typeface="+mj-lt"/>
              </a:rPr>
              <a:t>y-60 = -1,5(x-0)</a:t>
            </a:r>
          </a:p>
          <a:p>
            <a:r>
              <a:rPr lang="pt-BR" sz="1800" b="1" dirty="0">
                <a:solidFill>
                  <a:srgbClr val="00B050"/>
                </a:solidFill>
                <a:latin typeface="+mj-lt"/>
              </a:rPr>
              <a:t>y = -1,5x + 60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841925" y="3502159"/>
            <a:ext cx="16225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b="1" dirty="0">
                <a:solidFill>
                  <a:srgbClr val="00B0F0"/>
                </a:solidFill>
                <a:latin typeface="+mj-lt"/>
              </a:rPr>
              <a:t>(x</a:t>
            </a:r>
            <a:r>
              <a:rPr lang="pt-BR" sz="1500" b="1" baseline="-25000" dirty="0">
                <a:solidFill>
                  <a:srgbClr val="00B0F0"/>
                </a:solidFill>
                <a:latin typeface="+mj-lt"/>
              </a:rPr>
              <a:t>0</a:t>
            </a:r>
            <a:r>
              <a:rPr lang="pt-BR" sz="1500" b="1" dirty="0">
                <a:solidFill>
                  <a:srgbClr val="00B0F0"/>
                </a:solidFill>
                <a:latin typeface="+mj-lt"/>
              </a:rPr>
              <a:t>,y</a:t>
            </a:r>
            <a:r>
              <a:rPr lang="pt-BR" sz="1500" b="1" baseline="-25000" dirty="0">
                <a:solidFill>
                  <a:srgbClr val="00B0F0"/>
                </a:solidFill>
                <a:latin typeface="+mj-lt"/>
              </a:rPr>
              <a:t>0</a:t>
            </a:r>
            <a:r>
              <a:rPr lang="pt-BR" sz="1500" b="1" dirty="0">
                <a:solidFill>
                  <a:srgbClr val="00B0F0"/>
                </a:solidFill>
                <a:latin typeface="+mj-lt"/>
              </a:rPr>
              <a:t>) = (0,60) 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763892" y="4967632"/>
            <a:ext cx="15600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b="1" dirty="0">
                <a:solidFill>
                  <a:srgbClr val="00B0F0"/>
                </a:solidFill>
                <a:latin typeface="+mj-lt"/>
              </a:rPr>
              <a:t>(x</a:t>
            </a:r>
            <a:r>
              <a:rPr lang="pt-BR" sz="1500" b="1" baseline="-25000" dirty="0">
                <a:solidFill>
                  <a:srgbClr val="00B0F0"/>
                </a:solidFill>
                <a:latin typeface="+mj-lt"/>
              </a:rPr>
              <a:t>1</a:t>
            </a:r>
            <a:r>
              <a:rPr lang="pt-BR" sz="1500" b="1" dirty="0">
                <a:solidFill>
                  <a:srgbClr val="00B0F0"/>
                </a:solidFill>
                <a:latin typeface="+mj-lt"/>
              </a:rPr>
              <a:t>,y</a:t>
            </a:r>
            <a:r>
              <a:rPr lang="pt-BR" sz="1500" b="1" baseline="-25000" dirty="0">
                <a:solidFill>
                  <a:srgbClr val="00B0F0"/>
                </a:solidFill>
                <a:latin typeface="+mj-lt"/>
              </a:rPr>
              <a:t>1</a:t>
            </a:r>
            <a:r>
              <a:rPr lang="pt-BR" sz="1500" b="1" dirty="0">
                <a:solidFill>
                  <a:srgbClr val="00B0F0"/>
                </a:solidFill>
                <a:latin typeface="+mj-lt"/>
              </a:rPr>
              <a:t>) = (40,0) </a:t>
            </a:r>
          </a:p>
        </p:txBody>
      </p:sp>
      <p:cxnSp>
        <p:nvCxnSpPr>
          <p:cNvPr id="10" name="Conector reto 9"/>
          <p:cNvCxnSpPr/>
          <p:nvPr/>
        </p:nvCxnSpPr>
        <p:spPr>
          <a:xfrm flipH="1">
            <a:off x="7447128" y="5304444"/>
            <a:ext cx="966202" cy="42748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 flipH="1">
            <a:off x="2697708" y="3051076"/>
            <a:ext cx="619279" cy="45108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de cantos arredondados 14"/>
          <p:cNvSpPr/>
          <p:nvPr/>
        </p:nvSpPr>
        <p:spPr>
          <a:xfrm>
            <a:off x="7512127" y="2429305"/>
            <a:ext cx="3209950" cy="736977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8510851" y="4452381"/>
            <a:ext cx="20986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b="1" dirty="0">
                <a:solidFill>
                  <a:srgbClr val="00B050"/>
                </a:solidFill>
                <a:latin typeface="+mj-lt"/>
              </a:rPr>
              <a:t>Classificador linear</a:t>
            </a:r>
          </a:p>
        </p:txBody>
      </p:sp>
      <p:cxnSp>
        <p:nvCxnSpPr>
          <p:cNvPr id="7" name="Conector reto 6"/>
          <p:cNvCxnSpPr/>
          <p:nvPr/>
        </p:nvCxnSpPr>
        <p:spPr>
          <a:xfrm>
            <a:off x="8469906" y="4089071"/>
            <a:ext cx="1021924" cy="342838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6033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Classificação por discriminante linear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90605" y="1177416"/>
            <a:ext cx="932699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Discriminante linear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uma reta que permite discriminar as classes.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Modelo linear geral: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f(x) = w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+w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w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... + w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exemplo anterior, novos exemplos que se mostrarem acima da reta terão mais chance de ter variável alvo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+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e, abaixo,  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Poderá haver modelos com 2, 3 ou N dimensões (retas, planos ou hiperplanos).</a:t>
            </a:r>
          </a:p>
          <a:p>
            <a:pPr marL="27000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4" name="Elipse 3"/>
          <p:cNvSpPr/>
          <p:nvPr/>
        </p:nvSpPr>
        <p:spPr>
          <a:xfrm>
            <a:off x="9310175" y="3753710"/>
            <a:ext cx="89237" cy="10329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865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Classificação por discriminante linear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49594" y="1206912"/>
            <a:ext cx="9422639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Discriminante linear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 classificador linear  y = -1,5x + 60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(10,20):</a:t>
            </a:r>
          </a:p>
          <a:p>
            <a:pPr marL="1641600" lvl="6" indent="-270000" defTabSz="685739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y = -1,5(10) + 60 = 45</a:t>
            </a:r>
          </a:p>
          <a:p>
            <a:pPr marL="1641600" lvl="6" indent="-270000" defTabSz="685739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20 &lt; 45 =&gt; ponto abaixo da reta =&gt; variável alvo = 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(30,50): </a:t>
            </a:r>
          </a:p>
          <a:p>
            <a:pPr marL="1641600" lvl="6" indent="-270000" defTabSz="685739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y = -1,5(30) + 60 = 15</a:t>
            </a:r>
          </a:p>
          <a:p>
            <a:pPr marL="1641600" lvl="6" indent="-270000" defTabSz="685739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50 &gt; 15 =&gt; ponto acima da reta =&gt; variável alvo =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+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</a:p>
          <a:p>
            <a:pPr lvl="1" eaLnBrk="1" hangingPunct="1"/>
            <a:endParaRPr lang="pt-BR" altLang="pt-BR" sz="23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4" name="Elipse 3"/>
          <p:cNvSpPr/>
          <p:nvPr/>
        </p:nvSpPr>
        <p:spPr>
          <a:xfrm>
            <a:off x="9358140" y="3341857"/>
            <a:ext cx="86358" cy="103295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560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9D4BF-1E42-EAC7-6B52-BF26C6087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5201D8-182A-BD2E-9EB1-1CB215D9D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Modelagens preditivas - recapitulação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BFB90CC-FADA-1191-E017-0BAC26054576}"/>
              </a:ext>
            </a:extLst>
          </p:cNvPr>
          <p:cNvSpPr txBox="1"/>
          <p:nvPr/>
        </p:nvSpPr>
        <p:spPr>
          <a:xfrm>
            <a:off x="4117624" y="2735823"/>
            <a:ext cx="3777353" cy="1286433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6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Regressão</a:t>
            </a:r>
          </a:p>
        </p:txBody>
      </p:sp>
    </p:spTree>
    <p:extLst>
      <p:ext uri="{BB962C8B-B14F-4D97-AF65-F5344CB8AC3E}">
        <p14:creationId xmlns:p14="http://schemas.microsoft.com/office/powerpoint/2010/main" val="11621046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- conceito</a:t>
            </a:r>
          </a:p>
        </p:txBody>
      </p:sp>
      <p:sp>
        <p:nvSpPr>
          <p:cNvPr id="17410" name="Rectangle 7"/>
          <p:cNvSpPr>
            <a:spLocks noGrp="1" noChangeArrowheads="1"/>
          </p:cNvSpPr>
          <p:nvPr>
            <p:ph type="body" sz="quarter" idx="14"/>
          </p:nvPr>
        </p:nvSpPr>
        <p:spPr>
          <a:xfrm>
            <a:off x="959380" y="1324794"/>
            <a:ext cx="10273243" cy="4843991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500" dirty="0">
                <a:solidFill>
                  <a:srgbClr val="FF0000"/>
                </a:solidFill>
              </a:rPr>
              <a:t>Regressão (“estimativa de valor”)</a:t>
            </a:r>
          </a:p>
          <a:p>
            <a:pPr lvl="1" eaLnBrk="1" hangingPunct="1"/>
            <a:r>
              <a:rPr lang="pt-BR" altLang="pt-BR" sz="2500" dirty="0"/>
              <a:t>Tentativa de estimar ou prever, para cada indivíduo, o valor numérico de alguma variável.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774646" y="3135958"/>
            <a:ext cx="338464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eaLnBrk="1" hangingPunct="1"/>
            <a:r>
              <a:rPr lang="pt-BR" altLang="pt-BR" sz="2000" dirty="0">
                <a:solidFill>
                  <a:srgbClr val="FF0000"/>
                </a:solidFill>
              </a:rPr>
              <a:t>Exemplo</a:t>
            </a:r>
            <a:r>
              <a:rPr lang="pt-BR" altLang="pt-BR" sz="2000" b="1" dirty="0">
                <a:solidFill>
                  <a:srgbClr val="FF0000"/>
                </a:solidFill>
              </a:rPr>
              <a:t>: “Quanto um cliente vai consumir de determinado produto?”</a:t>
            </a:r>
          </a:p>
          <a:p>
            <a:pPr marL="0" lvl="1" eaLnBrk="1" hangingPunct="1"/>
            <a:endParaRPr lang="pt-BR" altLang="pt-BR" sz="500" b="1" dirty="0">
              <a:solidFill>
                <a:srgbClr val="FF0000"/>
              </a:solidFill>
            </a:endParaRPr>
          </a:p>
          <a:p>
            <a:pPr marL="0" lvl="1" eaLnBrk="1" hangingPunct="1"/>
            <a:r>
              <a:rPr lang="pt-BR" altLang="pt-BR" sz="2000" dirty="0">
                <a:solidFill>
                  <a:srgbClr val="FF0000"/>
                </a:solidFill>
              </a:rPr>
              <a:t>A </a:t>
            </a:r>
            <a:r>
              <a:rPr lang="pt-BR" altLang="pt-BR" sz="2000" u="sng" dirty="0">
                <a:solidFill>
                  <a:srgbClr val="FF0000"/>
                </a:solidFill>
              </a:rPr>
              <a:t>classificação</a:t>
            </a:r>
            <a:r>
              <a:rPr lang="pt-BR" altLang="pt-BR" sz="2000" dirty="0">
                <a:solidFill>
                  <a:srgbClr val="FF0000"/>
                </a:solidFill>
              </a:rPr>
              <a:t> tenta prever “se” e a </a:t>
            </a:r>
            <a:r>
              <a:rPr lang="pt-BR" altLang="pt-BR" sz="2000" u="sng" dirty="0">
                <a:solidFill>
                  <a:srgbClr val="FF0000"/>
                </a:solidFill>
              </a:rPr>
              <a:t>regressão</a:t>
            </a:r>
            <a:r>
              <a:rPr lang="pt-BR" altLang="pt-BR" sz="2000" dirty="0">
                <a:solidFill>
                  <a:srgbClr val="FF0000"/>
                </a:solidFill>
              </a:rPr>
              <a:t> tenta prever “quanto”.</a:t>
            </a:r>
          </a:p>
        </p:txBody>
      </p:sp>
      <p:pic>
        <p:nvPicPr>
          <p:cNvPr id="3074" name="Picture 2" descr="Saco, Dinheiro, Pag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663" y="3449859"/>
            <a:ext cx="811866" cy="131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op, Refrigerante, Soda, Palh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469" y="3150587"/>
            <a:ext cx="807350" cy="16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5233239" y="4148517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Impact" panose="020B0806030902050204" pitchFamily="34" charset="0"/>
              </a:rPr>
              <a:t>Eca-Cola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4321793" y="3957937"/>
            <a:ext cx="655093" cy="49989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3128792" y="47605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R$ ????</a:t>
            </a:r>
          </a:p>
        </p:txBody>
      </p:sp>
    </p:spTree>
    <p:extLst>
      <p:ext uri="{BB962C8B-B14F-4D97-AF65-F5344CB8AC3E}">
        <p14:creationId xmlns:p14="http://schemas.microsoft.com/office/powerpoint/2010/main" val="59573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75857" y="1206911"/>
            <a:ext cx="932699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Regressão linear simples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um conjunto de n pontos em um plano 2D (x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,y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), (x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,y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), (x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3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,y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3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), ... (x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,y</a:t>
            </a:r>
            <a:r>
              <a:rPr lang="pt-BR" alt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), uma reta da forma y = ax + b que promova a regressão linear é obtida da seguinte forma:</a:t>
            </a:r>
          </a:p>
          <a:p>
            <a:pPr lvl="3" eaLnBrk="1" hangingPunct="1"/>
            <a:r>
              <a:rPr lang="pt-BR" altLang="pt-BR" sz="2200" kern="0" dirty="0"/>
              <a:t>Coeficiente angular (a):</a:t>
            </a:r>
          </a:p>
          <a:p>
            <a:pPr lvl="3" eaLnBrk="1" hangingPunct="1"/>
            <a:endParaRPr lang="pt-BR" altLang="pt-BR" sz="2200" kern="0" dirty="0"/>
          </a:p>
          <a:p>
            <a:pPr lvl="3" eaLnBrk="1" hangingPunct="1"/>
            <a:endParaRPr lang="pt-BR" altLang="pt-BR" sz="3200" kern="0" dirty="0"/>
          </a:p>
          <a:p>
            <a:pPr lvl="3" eaLnBrk="1" hangingPunct="1"/>
            <a:r>
              <a:rPr lang="pt-BR" altLang="pt-BR" sz="2200" kern="0" dirty="0"/>
              <a:t>Coeficiente linear (b):</a:t>
            </a:r>
          </a:p>
          <a:p>
            <a:pPr marL="457200" lvl="1" indent="0" eaLnBrk="1" hangingPunct="1">
              <a:buNone/>
            </a:pPr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741" y="3508892"/>
            <a:ext cx="3846608" cy="116124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8497" y="5047638"/>
            <a:ext cx="2970838" cy="120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2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61108" y="1310149"/>
            <a:ext cx="10557381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Regressão linear simples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os pontos (1.2 , 2.8), (2.2 , 2.5), (3.6 , 4.0) e (4.7 , 5.2):</a:t>
            </a:r>
          </a:p>
          <a:p>
            <a:pPr marL="857250" lvl="2" indent="0" eaLnBrk="1" hangingPunct="1">
              <a:buNone/>
            </a:pPr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044" y="2430965"/>
            <a:ext cx="6042956" cy="419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358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01104" y="1197330"/>
            <a:ext cx="10561631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regressão linear simples resolve muitos problemas, mas não pode ser aplicada indiscriminadamente.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cxnSp>
        <p:nvCxnSpPr>
          <p:cNvPr id="3" name="Conector de seta reta 2"/>
          <p:cNvCxnSpPr/>
          <p:nvPr/>
        </p:nvCxnSpPr>
        <p:spPr>
          <a:xfrm flipV="1">
            <a:off x="3369090" y="2756402"/>
            <a:ext cx="1" cy="3152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V="1">
            <a:off x="3369090" y="5909037"/>
            <a:ext cx="4817659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155" y="5188748"/>
            <a:ext cx="200053" cy="219106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8695" y="4879402"/>
            <a:ext cx="200053" cy="219106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878" y="4601898"/>
            <a:ext cx="200053" cy="219106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144" y="4137871"/>
            <a:ext cx="200053" cy="219106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284" y="3946799"/>
            <a:ext cx="200053" cy="219106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365" y="3810317"/>
            <a:ext cx="200053" cy="219106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7801" y="3701138"/>
            <a:ext cx="200053" cy="219106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881" y="3591959"/>
            <a:ext cx="200053" cy="219106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608" y="3564664"/>
            <a:ext cx="200053" cy="219106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375" y="3553288"/>
            <a:ext cx="200053" cy="219106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711" y="5532220"/>
            <a:ext cx="200053" cy="219106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468" y="4372151"/>
            <a:ext cx="200053" cy="219106"/>
          </a:xfrm>
          <a:prstGeom prst="rect">
            <a:avLst/>
          </a:prstGeom>
        </p:spPr>
      </p:pic>
      <p:cxnSp>
        <p:nvCxnSpPr>
          <p:cNvPr id="27" name="Conector reto 26"/>
          <p:cNvCxnSpPr/>
          <p:nvPr/>
        </p:nvCxnSpPr>
        <p:spPr>
          <a:xfrm flipV="1">
            <a:off x="3503344" y="2756403"/>
            <a:ext cx="4258602" cy="2953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co 35"/>
          <p:cNvSpPr/>
          <p:nvPr/>
        </p:nvSpPr>
        <p:spPr>
          <a:xfrm flipH="1">
            <a:off x="5158735" y="3373382"/>
            <a:ext cx="4911473" cy="1711949"/>
          </a:xfrm>
          <a:prstGeom prst="arc">
            <a:avLst>
              <a:gd name="adj1" fmla="val 16200000"/>
              <a:gd name="adj2" fmla="val 21118926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7" name="Arco 36"/>
          <p:cNvSpPr/>
          <p:nvPr/>
        </p:nvSpPr>
        <p:spPr>
          <a:xfrm rot="18937510">
            <a:off x="2181330" y="4713803"/>
            <a:ext cx="4826816" cy="818863"/>
          </a:xfrm>
          <a:prstGeom prst="arc">
            <a:avLst>
              <a:gd name="adj1" fmla="val 12015363"/>
              <a:gd name="adj2" fmla="val 20943039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3055196" y="2756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y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7847844" y="58976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x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7750021" y="2446281"/>
            <a:ext cx="1070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Regressão</a:t>
            </a:r>
          </a:p>
          <a:p>
            <a:r>
              <a:rPr lang="pt-BR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7606570" y="3207330"/>
            <a:ext cx="1355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70C0"/>
                </a:solidFill>
              </a:rPr>
              <a:t>Regressão</a:t>
            </a:r>
          </a:p>
          <a:p>
            <a:r>
              <a:rPr lang="pt-BR" sz="1600" b="1" dirty="0">
                <a:solidFill>
                  <a:srgbClr val="0070C0"/>
                </a:solidFill>
              </a:rPr>
              <a:t>por outro modelo</a:t>
            </a:r>
          </a:p>
        </p:txBody>
      </p:sp>
    </p:spTree>
    <p:extLst>
      <p:ext uri="{BB962C8B-B14F-4D97-AF65-F5344CB8AC3E}">
        <p14:creationId xmlns:p14="http://schemas.microsoft.com/office/powerpoint/2010/main" val="30093524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</a:t>
            </a:r>
          </a:p>
        </p:txBody>
      </p:sp>
      <p:sp>
        <p:nvSpPr>
          <p:cNvPr id="26" name="Rectangle 7"/>
          <p:cNvSpPr txBox="1">
            <a:spLocks noChangeArrowheads="1"/>
          </p:cNvSpPr>
          <p:nvPr/>
        </p:nvSpPr>
        <p:spPr bwMode="auto">
          <a:xfrm>
            <a:off x="1034850" y="1162777"/>
            <a:ext cx="9054149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regressão linear é um polinômio de grau 1: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8050" y="1723172"/>
            <a:ext cx="7478118" cy="47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065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</a:t>
            </a:r>
          </a:p>
        </p:txBody>
      </p:sp>
      <p:sp>
        <p:nvSpPr>
          <p:cNvPr id="26" name="Rectangle 7"/>
          <p:cNvSpPr txBox="1">
            <a:spLocks noChangeArrowheads="1"/>
          </p:cNvSpPr>
          <p:nvPr/>
        </p:nvSpPr>
        <p:spPr bwMode="auto">
          <a:xfrm>
            <a:off x="1034846" y="1192164"/>
            <a:ext cx="1046889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Podemos testar polinômios de maior grau, para checar aderência – por exemplo, polinômio de grau 2 (regressão parabólica):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367" y="2245435"/>
            <a:ext cx="6628336" cy="419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347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</a:t>
            </a:r>
          </a:p>
        </p:txBody>
      </p:sp>
      <p:sp>
        <p:nvSpPr>
          <p:cNvPr id="26" name="Rectangle 7"/>
          <p:cNvSpPr txBox="1">
            <a:spLocks noChangeArrowheads="1"/>
          </p:cNvSpPr>
          <p:nvPr/>
        </p:nvSpPr>
        <p:spPr bwMode="auto">
          <a:xfrm>
            <a:off x="1064347" y="122166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Polinômio de grau 3 – no exemplo, gera ajuste total: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808" y="1823570"/>
            <a:ext cx="7543844" cy="483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429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</a:t>
            </a:r>
          </a:p>
        </p:txBody>
      </p:sp>
      <p:sp>
        <p:nvSpPr>
          <p:cNvPr id="26" name="Rectangle 7"/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aumento do grau do polinômio na regressão tende a gerar melhor aderência, mas também </a:t>
            </a:r>
            <a:r>
              <a:rPr lang="pt-BR" altLang="pt-BR" sz="25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sobreajuste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1" y="2168867"/>
            <a:ext cx="8526981" cy="4259231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8470559" y="3193288"/>
            <a:ext cx="20351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</a:rPr>
              <a:t>Observar que os coeficientes dos</a:t>
            </a:r>
          </a:p>
          <a:p>
            <a:r>
              <a:rPr lang="pt-BR" sz="1800" dirty="0">
                <a:solidFill>
                  <a:srgbClr val="FF0000"/>
                </a:solidFill>
              </a:rPr>
              <a:t>termos mais altos do polinômio que pedimos ao modelo que fosse de grau 15 ficam zerados, pois não ajudam a melhorar o ajuste.</a:t>
            </a:r>
          </a:p>
        </p:txBody>
      </p:sp>
      <p:cxnSp>
        <p:nvCxnSpPr>
          <p:cNvPr id="3" name="Conector de seta reta 2"/>
          <p:cNvCxnSpPr/>
          <p:nvPr/>
        </p:nvCxnSpPr>
        <p:spPr>
          <a:xfrm flipH="1" flipV="1">
            <a:off x="8675429" y="2497542"/>
            <a:ext cx="545909" cy="6957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1247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83DE-1230-6312-6C32-5DCE3D6A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05B65A-B4E9-0A9A-919E-1AD6DA178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Modelagens de Ciências de Dados - recapitulação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F2DA43-A3BD-C133-CF00-D21264A6CBA1}"/>
              </a:ext>
            </a:extLst>
          </p:cNvPr>
          <p:cNvSpPr txBox="1"/>
          <p:nvPr/>
        </p:nvSpPr>
        <p:spPr>
          <a:xfrm>
            <a:off x="2659704" y="2780068"/>
            <a:ext cx="6988168" cy="108836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pt-BR" sz="6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Regressão Logística</a:t>
            </a:r>
          </a:p>
        </p:txBody>
      </p:sp>
    </p:spTree>
    <p:extLst>
      <p:ext uri="{BB962C8B-B14F-4D97-AF65-F5344CB8AC3E}">
        <p14:creationId xmlns:p14="http://schemas.microsoft.com/office/powerpoint/2010/main" val="19947792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2B6A-FFCD-2D19-9C15-E3E8AA65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A59BA7B-72CA-9BAF-E67A-131FE0282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 - conceito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CD75FA4D-579D-A37C-1C8B-B11D02E0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Apesar do termo “regressão” no nome, esta técnica destina-se a resolver problemas de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classificação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binários (predição de probabilidade de classe com dois rótulos possíveis).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partir dos dados de treinamento, obtemos uma equação que, quando aplicada a uma expressão denominada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sigmoide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permite chegarmos a probabilidades de classe positiva.</a:t>
            </a:r>
          </a:p>
          <a:p>
            <a:pPr marL="0" indent="0" eaLnBrk="1" hangingPunct="1">
              <a:buNone/>
            </a:pPr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55287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F4C7-DFA4-A027-D608-687D00959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DFAC037-DADB-DABD-4B29-BC1B1382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2A7BC8D7-712C-572F-FF7D-2BB40FBB1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Razão de chances 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= p/(1-p)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onde p = probabilidade de evento positivo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e, consecutivamente, (1-p) = probabilidade de evento negativo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razão de chances é um número que pode adquirir os seguintes valores mínimo e máximo: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Mínimo (p=0): 0/(1-0) = 0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Máximo (p=1): 1/1-1) = 1/0 = + </a:t>
            </a:r>
            <a:r>
              <a:rPr lang="pt-B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∞</a:t>
            </a: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415420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449C-7479-734E-3387-B03FDD9F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BD5ACF01-6410-D68C-9180-66C31D29B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6AE5B8FD-B095-5C3D-31E6-FF64683A2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Função logit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logit(p) = ln(p/(1-p))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Obs.: ln = log</a:t>
            </a:r>
            <a:r>
              <a:rPr lang="pt-BR" altLang="pt-BR" sz="21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função logit: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quando p é 0, logit(p) = -</a:t>
            </a: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∞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quando p é 1, logit(p) = </a:t>
            </a: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+ 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∞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quando p é 0,5, logit(p) = 0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Supondo logit(p) como sendo uma função linear z: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logit(p) = ln(p/(1-p)) = z =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...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37568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5C38-6731-7A7B-B41E-63DE334E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D4B3A6E-5AC8-59C3-E760-D9766EE47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1508FA0F-4E59-61AA-B96F-F6401E3F8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Vamos isolar p na equação: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</a:t>
            </a:r>
            <a:r>
              <a:rPr lang="pt-BR" alt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(p/(1-p)) = z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Lembrando da definição de logaritmo: log</a:t>
            </a:r>
            <a:r>
              <a:rPr lang="pt-BR" alt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(b) = c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 a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= b, temos: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p/(1-p) =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 =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*(1-p)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 =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-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*p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 +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*p =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 (1 +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=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</a:t>
            </a: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 =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/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(1 +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Dividindo-se numerador e denominador por e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temos:  p =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C8ACCF4-FC41-5246-6F75-77A164F38352}"/>
              </a:ext>
            </a:extLst>
          </p:cNvPr>
          <p:cNvGrpSpPr/>
          <p:nvPr/>
        </p:nvGrpSpPr>
        <p:grpSpPr>
          <a:xfrm>
            <a:off x="8465574" y="5038575"/>
            <a:ext cx="1994559" cy="1127372"/>
            <a:chOff x="8465574" y="5038575"/>
            <a:chExt cx="1994559" cy="1127372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261A029E-5A4C-254C-043D-E0FC93683C8F}"/>
                </a:ext>
              </a:extLst>
            </p:cNvPr>
            <p:cNvCxnSpPr/>
            <p:nvPr/>
          </p:nvCxnSpPr>
          <p:spPr>
            <a:xfrm>
              <a:off x="9011266" y="5530645"/>
              <a:ext cx="131260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13B513D1-02DC-0215-0F8C-866FE557A9E5}"/>
                </a:ext>
              </a:extLst>
            </p:cNvPr>
            <p:cNvSpPr txBox="1"/>
            <p:nvPr/>
          </p:nvSpPr>
          <p:spPr>
            <a:xfrm>
              <a:off x="9447301" y="5038575"/>
              <a:ext cx="676503" cy="495639"/>
            </a:xfrm>
            <a:prstGeom prst="rect">
              <a:avLst/>
            </a:prstGeom>
            <a:noFill/>
          </p:spPr>
          <p:txBody>
            <a:bodyPr wrap="square" lIns="0" tIns="36000" rIns="216000" bIns="36000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000"/>
                </a:spcBef>
              </a:pPr>
              <a:r>
                <a:rPr lang="pt-BR" sz="23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9865AC0-B3EC-5D68-37A5-DA5820D62A6B}"/>
                </a:ext>
              </a:extLst>
            </p:cNvPr>
            <p:cNvSpPr txBox="1"/>
            <p:nvPr/>
          </p:nvSpPr>
          <p:spPr>
            <a:xfrm>
              <a:off x="9217742" y="5552481"/>
              <a:ext cx="1227643" cy="495639"/>
            </a:xfrm>
            <a:prstGeom prst="rect">
              <a:avLst/>
            </a:prstGeom>
            <a:noFill/>
          </p:spPr>
          <p:txBody>
            <a:bodyPr wrap="square" lIns="0" tIns="36000" rIns="216000" bIns="36000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000"/>
                </a:spcBef>
              </a:pPr>
              <a:r>
                <a:rPr lang="pt-BR" sz="23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 + e</a:t>
              </a:r>
              <a:r>
                <a:rPr lang="pt-BR" sz="2300" b="1" baseline="30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-z</a:t>
              </a: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9745494D-E74B-33C6-0ED4-548E44C1CE73}"/>
                </a:ext>
              </a:extLst>
            </p:cNvPr>
            <p:cNvSpPr/>
            <p:nvPr/>
          </p:nvSpPr>
          <p:spPr>
            <a:xfrm>
              <a:off x="8465574" y="5038575"/>
              <a:ext cx="1994559" cy="1127372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15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DAF31-5853-54FB-133F-D05F1999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3D87DC5-F23B-2A2B-DB7A-3E6A75931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072997C5-8392-F9D7-EE23-6CD41FF6E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equação obtida é conhecida por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função sigmoide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Lembrando que z </a:t>
            </a:r>
            <a:r>
              <a:rPr lang="pt-B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= </a:t>
            </a:r>
            <a:r>
              <a:rPr lang="el-G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8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</a:t>
            </a:r>
            <a:r>
              <a:rPr lang="el-G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8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8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... </a:t>
            </a:r>
            <a:r>
              <a:rPr lang="el-G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8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8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0F315E60-DACD-756A-6CC4-C60B23BBEA8B}"/>
              </a:ext>
            </a:extLst>
          </p:cNvPr>
          <p:cNvCxnSpPr/>
          <p:nvPr/>
        </p:nvCxnSpPr>
        <p:spPr>
          <a:xfrm>
            <a:off x="3480619" y="2492478"/>
            <a:ext cx="13126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2C74AA-7519-248E-FE4A-7468CEE08C0A}"/>
              </a:ext>
            </a:extLst>
          </p:cNvPr>
          <p:cNvSpPr txBox="1"/>
          <p:nvPr/>
        </p:nvSpPr>
        <p:spPr>
          <a:xfrm>
            <a:off x="3916654" y="2000408"/>
            <a:ext cx="676503" cy="49563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6D44BEA-1667-59C8-209C-BF0F3347A89B}"/>
              </a:ext>
            </a:extLst>
          </p:cNvPr>
          <p:cNvSpPr txBox="1"/>
          <p:nvPr/>
        </p:nvSpPr>
        <p:spPr>
          <a:xfrm>
            <a:off x="3687095" y="2514314"/>
            <a:ext cx="1227643" cy="49563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+ e</a:t>
            </a:r>
            <a:r>
              <a:rPr lang="pt-BR" sz="23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-z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8CF14F2-3986-2576-7A0E-D6E15AA0A44B}"/>
              </a:ext>
            </a:extLst>
          </p:cNvPr>
          <p:cNvSpPr/>
          <p:nvPr/>
        </p:nvSpPr>
        <p:spPr>
          <a:xfrm>
            <a:off x="2920179" y="2000408"/>
            <a:ext cx="1994559" cy="1127372"/>
          </a:xfrm>
          <a:prstGeom prst="roundRect">
            <a:avLst/>
          </a:prstGeom>
          <a:noFill/>
          <a:ln w="28575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F4242B-4008-4204-9A43-6FEC4C91BC24}"/>
              </a:ext>
            </a:extLst>
          </p:cNvPr>
          <p:cNvSpPr txBox="1"/>
          <p:nvPr/>
        </p:nvSpPr>
        <p:spPr>
          <a:xfrm>
            <a:off x="2920179" y="2164153"/>
            <a:ext cx="676503" cy="49563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3570B3C-7A05-D30C-9CFD-2351C637D262}"/>
              </a:ext>
            </a:extLst>
          </p:cNvPr>
          <p:cNvSpPr txBox="1"/>
          <p:nvPr/>
        </p:nvSpPr>
        <p:spPr>
          <a:xfrm>
            <a:off x="3109341" y="2200183"/>
            <a:ext cx="676503" cy="49563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39F0EC6-F571-49E4-D0DD-05D895ED9B31}"/>
              </a:ext>
            </a:extLst>
          </p:cNvPr>
          <p:cNvCxnSpPr>
            <a:cxnSpLocks/>
          </p:cNvCxnSpPr>
          <p:nvPr/>
        </p:nvCxnSpPr>
        <p:spPr>
          <a:xfrm>
            <a:off x="3633019" y="4975119"/>
            <a:ext cx="2871021" cy="220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4CC073-B0E3-228B-AB80-DDF7F9B92501}"/>
              </a:ext>
            </a:extLst>
          </p:cNvPr>
          <p:cNvSpPr txBox="1"/>
          <p:nvPr/>
        </p:nvSpPr>
        <p:spPr>
          <a:xfrm>
            <a:off x="4835968" y="4483049"/>
            <a:ext cx="676503" cy="49563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504E212-FB0A-D5FB-F47C-15917B29FF73}"/>
              </a:ext>
            </a:extLst>
          </p:cNvPr>
          <p:cNvSpPr txBox="1"/>
          <p:nvPr/>
        </p:nvSpPr>
        <p:spPr>
          <a:xfrm>
            <a:off x="3839494" y="4996955"/>
            <a:ext cx="2871021" cy="49563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+ e</a:t>
            </a:r>
            <a:r>
              <a:rPr lang="pt-BR" sz="23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(</a:t>
            </a:r>
            <a:r>
              <a:rPr lang="el-GR" altLang="pt-BR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18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</a:t>
            </a:r>
            <a:r>
              <a:rPr lang="el-GR" altLang="pt-BR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18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18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</a:t>
            </a:r>
            <a:r>
              <a:rPr lang="pt-BR" altLang="pt-BR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+ ... </a:t>
            </a:r>
            <a:r>
              <a:rPr lang="el-GR" altLang="pt-BR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18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18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</a:t>
            </a:r>
            <a:endParaRPr lang="pt-BR" sz="2300" b="1" baseline="30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20FD142-9499-28DA-17A0-F5110F027B40}"/>
              </a:ext>
            </a:extLst>
          </p:cNvPr>
          <p:cNvSpPr/>
          <p:nvPr/>
        </p:nvSpPr>
        <p:spPr>
          <a:xfrm>
            <a:off x="3072580" y="4483049"/>
            <a:ext cx="3637936" cy="1127372"/>
          </a:xfrm>
          <a:prstGeom prst="roundRect">
            <a:avLst/>
          </a:prstGeom>
          <a:noFill/>
          <a:ln w="28575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8BC0EFE-1108-1B9A-655F-4C22CA8B9448}"/>
              </a:ext>
            </a:extLst>
          </p:cNvPr>
          <p:cNvSpPr txBox="1"/>
          <p:nvPr/>
        </p:nvSpPr>
        <p:spPr>
          <a:xfrm>
            <a:off x="3072579" y="4646794"/>
            <a:ext cx="676503" cy="49563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0E10B3E-8C6B-EEBF-8A1D-0C709EFF8F76}"/>
              </a:ext>
            </a:extLst>
          </p:cNvPr>
          <p:cNvSpPr txBox="1"/>
          <p:nvPr/>
        </p:nvSpPr>
        <p:spPr>
          <a:xfrm>
            <a:off x="3261741" y="4682824"/>
            <a:ext cx="676503" cy="49563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569DD52-377A-CDA2-FB4B-1A2ED79EC07D}"/>
              </a:ext>
            </a:extLst>
          </p:cNvPr>
          <p:cNvSpPr txBox="1"/>
          <p:nvPr/>
        </p:nvSpPr>
        <p:spPr>
          <a:xfrm>
            <a:off x="7703152" y="2730372"/>
            <a:ext cx="4036565" cy="253491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grande objetivo da regressão logística é aprender, a partir de um conjunto de treinamento, a equação linear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Depois, para qualquer novo indivíduo, calcula-se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aplica-se a função sigmoide para obter a probabilidade de ele pertencer à classe positiva </a:t>
            </a:r>
            <a:r>
              <a:rPr lang="pt-BR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568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6" grpId="0"/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D0F66-550B-86C3-575E-CD0CE5F0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3DED8262-397B-C221-5B14-8F7ED1F7A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5C4BBF90-893A-C7F9-9EB1-9846D8753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As funções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logit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e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sigmoide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são </a:t>
            </a:r>
            <a:r>
              <a:rPr lang="pt-BR" altLang="pt-BR" sz="25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inversas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uma da outra, ou seja: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logit(sigmoide(z))=z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Demonstração: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61746ED-27EA-FAA7-DD9C-17FE5A2E5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22" y="2581184"/>
            <a:ext cx="4882103" cy="41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0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3646A-0287-8765-9D80-B85CFE01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8240199-4EA8-FF90-12F3-264A0170D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13583B16-7363-3220-D856-A36F23275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Observar que, por exemplo, para uma probabilidade p = 0,80: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 seja, a partir de z, podemos chegar em uma probabilidade.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1F0C91-8A91-354B-8569-73DF920B6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528" y="1921609"/>
            <a:ext cx="7307192" cy="275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986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DC62F-CDDF-608D-1EAE-A6EDD8B9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D76A18C-666D-8284-8B3C-7E02B3AC6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BDB7A3FA-6816-FD8F-316F-2872C261B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Temos, por outro lado, que: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sigmoide(logit(p))=p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Logit transforma probabilidade em escala infinita.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Sigmoide transforma escala infinita em probabilidade.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a aplicação da regressão logística, devemos, a partir dos dados de treinamento: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Obter uma equação 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= </a:t>
            </a:r>
            <a:r>
              <a:rPr lang="el-G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</a:t>
            </a:r>
            <a:r>
              <a:rPr lang="el-G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... </a:t>
            </a:r>
            <a:r>
              <a:rPr lang="el-G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x</a:t>
            </a:r>
            <a:r>
              <a:rPr lang="pt-BR" alt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N, 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via iterações sucessivas que apuram </a:t>
            </a:r>
            <a:r>
              <a:rPr lang="el-G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0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 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 forma a </a:t>
            </a: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minimizar a Log Loss média 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(veremos do que se trata).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Alcançados os </a:t>
            </a:r>
            <a:r>
              <a:rPr lang="el-G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  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melhores possíveis (com menor Log Loss média), calcular o valor de </a:t>
            </a: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para o exemplo cuja probabilidade de classe </a:t>
            </a: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se deseja predizer.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é obtido na função sigmoide: p = 1 / (1 + e</a:t>
            </a:r>
            <a:r>
              <a:rPr lang="pt-BR" altLang="pt-BR" sz="21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-z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62589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6532-AFBC-1876-F5D1-0047E865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7E014D7-A515-FE31-AD8D-807E3BD6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59F88931-5133-0163-B1EE-76E648049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103676"/>
            <a:ext cx="1018240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Preparação dos dados para a regressão logística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Os atributos dos dados de treinamento, incluindo a variável alvo (classe), são convertidos para numéricos.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Renda: em K reais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Imóvel: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 – não possui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– possui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Classe (atributo alvo):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 – negativa (por exemplo, não é cliente de interesse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– positiva (por exemplo, é cliente de interesse)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231992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166E4-A063-6E53-582D-A2525F1F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44806F5-4949-4506-89D4-0866AF4A6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6FADA024-D606-D38B-0E98-27D5DC85B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103676"/>
            <a:ext cx="1018240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Preparação dos dados para a regressão logística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variáveis categóricas nominais, </a:t>
            </a:r>
            <a:r>
              <a:rPr lang="pt-BR" altLang="pt-BR" sz="25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sem uma ordinalidade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(sem grau de importância relativa):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 variável “cor”: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Seria errado usar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Azul - 1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Verde - 2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Vermelho – 3</a:t>
            </a:r>
          </a:p>
          <a:p>
            <a:pPr marL="1257300" lvl="3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   pois isto faria o algoritmo interpretar que 3&gt;2&gt;1.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Neste caso, o correto é lançar mão do </a:t>
            </a:r>
            <a:r>
              <a:rPr lang="pt-BR" altLang="pt-BR" sz="23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one-hot encoding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(transformação da variável em várias colunas).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9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86394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EC7D-F605-F7C4-8AD0-942C888D0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3766C036-D948-4934-21F2-131B4EB1A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9E5D046A-2E98-B7DF-B1E8-DCA009B9B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103676"/>
            <a:ext cx="1018240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Preparação dos dados para a regressão logística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One-hot encoding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 exemplo: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1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variáveis </a:t>
            </a:r>
            <a:r>
              <a:rPr lang="pt-BR" altLang="pt-BR" sz="25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ordinais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(onde há uma ordem de força natural):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 variável “nível de escolaridade”: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Fundamental - 1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Médio - 2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Superior - 3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Pós - 4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9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44C623D-0671-7403-E1CF-C1B83B4A1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815" y="2208320"/>
            <a:ext cx="8193514" cy="172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2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DBE5-678E-6D4D-DD81-E3A09862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DED39E2-D89A-C54B-E30F-C2AA94467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AF1F01ED-EFC6-D311-7DC9-4902AE9CB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103676"/>
            <a:ext cx="1046889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Preparação dos dados para a regressão logística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lidar com variáveis com valores muito amplos ou cujas ordens de grandeza são muito discrepantes em relação às demais, lançamos mão da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normalização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Idade: variando de 18 a 80 na amostra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do patrimônio: variando entre R$ 10.000 a R$ 10.000.000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normalização (ou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z-score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é obtida com: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01CCB4-2131-9653-E095-282DFCE35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3192" y="5112092"/>
            <a:ext cx="2436202" cy="103764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D22B28C-4065-B8B0-5D70-C4C36C450BC1}"/>
              </a:ext>
            </a:extLst>
          </p:cNvPr>
          <p:cNvSpPr/>
          <p:nvPr/>
        </p:nvSpPr>
        <p:spPr>
          <a:xfrm>
            <a:off x="2263192" y="5112092"/>
            <a:ext cx="2436202" cy="1037641"/>
          </a:xfrm>
          <a:prstGeom prst="roundRect">
            <a:avLst>
              <a:gd name="adj" fmla="val 12403"/>
            </a:avLst>
          </a:prstGeom>
          <a:noFill/>
          <a:ln w="28575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13F868F-B934-F317-C4C3-DD9CF52B36FD}"/>
              </a:ext>
            </a:extLst>
          </p:cNvPr>
          <p:cNvSpPr txBox="1"/>
          <p:nvPr/>
        </p:nvSpPr>
        <p:spPr>
          <a:xfrm>
            <a:off x="5104048" y="4848203"/>
            <a:ext cx="3597502" cy="156541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spcBef>
                <a:spcPts val="100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x’ = valor normalizado</a:t>
            </a:r>
          </a:p>
          <a:p>
            <a:pPr>
              <a:spcBef>
                <a:spcPts val="100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= valor original da variável</a:t>
            </a:r>
          </a:p>
          <a:p>
            <a:pPr>
              <a:spcBef>
                <a:spcPts val="100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 = média dos valores da amostra</a:t>
            </a:r>
          </a:p>
          <a:p>
            <a:pPr>
              <a:spcBef>
                <a:spcPts val="1000"/>
              </a:spcBef>
            </a:pPr>
            <a:r>
              <a:rPr lang="el-G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desvio padrão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83AFC98-21B2-2694-C592-363EF848F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8411" y="5195735"/>
            <a:ext cx="2351259" cy="8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7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9524-FEF1-9689-5A8E-13836E10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CE9F765-DA0E-0FEB-9938-B534A2EA5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B9795013-1213-5A30-0294-FAFDC8900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103676"/>
            <a:ext cx="1046889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Preparação dos dados para a regressão logística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Resumo das transformações para preparação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FFC892D-E662-1CEE-5099-585EF05B1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5821" y="2119032"/>
            <a:ext cx="8558773" cy="388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338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7E8F-EB2C-4E16-6F93-D431BE5A8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5F4B382-39CE-D247-4471-A2F8CB74C2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48C0855E-832A-75C6-58EE-1B34850C2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103676"/>
            <a:ext cx="1046889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Preparação dos dados para a regressão logística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Valores normalizados podem ter sinal negativo.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normalização faz com que as varáveis fiquem com escalas semelhantes, tornando o treinamento mais estável.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Veremos mais adiante um exemplo de como a falta da normalização impacta no treinamento do modelo.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74649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EDD25-9BF9-2FEC-27B8-B81AEF07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178C3F9-9938-CA90-0B96-144C05D3A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C6DC90AD-4B2D-38DB-7331-4268D3B0A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1018240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de aplicação da regressão logística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Consideremos estes dados de treinamento (classe y = 1 = positiva)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33474B0-E448-C04A-9F89-0FFCD8683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602" y="2206701"/>
            <a:ext cx="5485585" cy="377397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CBEA4D3-5C87-1A04-5F58-79C5181EB0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942" y="2262898"/>
            <a:ext cx="1407040" cy="385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601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5CD79-2A05-E9E0-219E-823EA7C8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4A1833C-1D7E-BB10-BFA5-0EDDDCDDC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9D661E51-5EDA-9BE5-2093-418C5F45A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=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​+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β1​(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idade) +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β2​(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renda) +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β3​(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imóvel)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Chute inicial (iteração zero):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=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= 0 =&gt;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= 0 para todos os clientes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Sigmoide correspondente: 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 = 1 / (1 + e</a:t>
            </a:r>
            <a:r>
              <a:rPr lang="pt-BR" altLang="pt-BR" sz="21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= 1/(1+1) = 0,5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282608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CF6C7-7AA1-0AF2-F95F-46E8769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59C16FB-7080-D7AF-9BF0-790DBE33A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EA912C1F-6260-E42C-8F76-A44BA0128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=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​+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β1​(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idade) + </a:t>
            </a:r>
            <a:r>
              <a:rPr lang="el-G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β2​(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renda)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Chute inicial (iteração zero)</a:t>
            </a:r>
            <a:r>
              <a:rPr lang="pt-BR" altLang="pt-BR" sz="25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- cont.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46E319B-16A2-9555-9A7D-800E3D844A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214" y="2225432"/>
            <a:ext cx="10447583" cy="389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018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8B87-FBBE-30C6-0F0C-601A02C03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F177714-8BE7-6898-CAF0-FFEF189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6D5E404F-F6C7-DC80-A96D-81DB8E42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Calculamos agora a chamada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 Loss 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 cada cliente: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 cliente A, por exemplo: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Classe real y = 0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 Log Loss = −[0*ln(0,5) + (1-0)*ln(0,5)]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ln(0,5)= −0,6931, então Log Loss = −(−0,6931) = 0,6931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 cliente C, por exemplo: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Classe real y = 1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 Log Loss = −[1*ln(0,5) + (1-1)*ln(0,5)]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ln(0,5)= −0,6931, então Log Loss = −(-0,6931) = 0,6931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E212538-1382-81D8-7979-E987F0E24437}"/>
              </a:ext>
            </a:extLst>
          </p:cNvPr>
          <p:cNvSpPr txBox="1"/>
          <p:nvPr/>
        </p:nvSpPr>
        <p:spPr>
          <a:xfrm>
            <a:off x="1946787" y="1828806"/>
            <a:ext cx="5619136" cy="587588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 Loss = - [y*ln(p) + (1-y)*ln(1-p)]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100F0EA-41F8-E5E1-1D43-57A24A7EF821}"/>
              </a:ext>
            </a:extLst>
          </p:cNvPr>
          <p:cNvSpPr/>
          <p:nvPr/>
        </p:nvSpPr>
        <p:spPr>
          <a:xfrm>
            <a:off x="1828800" y="1828806"/>
            <a:ext cx="5737123" cy="737419"/>
          </a:xfrm>
          <a:prstGeom prst="roundRect">
            <a:avLst/>
          </a:prstGeom>
          <a:noFill/>
          <a:ln w="28575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04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DA9B-764D-9241-AD5C-B93E0CA7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92EC8F6-A814-C538-F4D9-F160DCBE8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2CC7EE40-B94F-6CFE-50E0-8C30F530C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todos os clientes receberam probabilidade 0,5, todos terão a mesma perda (0,6931).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 Loss média = (6*0,6931)/6 =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0,6931</a:t>
            </a: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21205869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6219-E9E9-A128-CFB1-C20BC2BC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327BEAE-4435-A285-D992-E3BB60378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39BADD0A-D481-2B4D-A67D-B64C70FA0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Agora, o objetivo é realizar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iterações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de forma a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diminuir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cada vez mais a Log Loss média.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cada nova iteração, devemos considerar novos valores para </a:t>
            </a:r>
            <a:r>
              <a:rPr lang="el-G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</a:t>
            </a:r>
            <a:r>
              <a:rPr lang="el-G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e </a:t>
            </a:r>
            <a:r>
              <a:rPr lang="el-G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2, apurar seus sigmoides e checar se a Log Loss média cai.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 cálculo dos novos valores de </a:t>
            </a:r>
            <a:r>
              <a:rPr lang="el-G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</a:t>
            </a:r>
            <a:r>
              <a:rPr lang="el-G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e </a:t>
            </a:r>
            <a:r>
              <a:rPr lang="el-G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2, teremos de apurar os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gradientes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de cada um: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EFB7BF9-5CB2-8AB3-77D0-D09B290E3009}"/>
              </a:ext>
            </a:extLst>
          </p:cNvPr>
          <p:cNvGrpSpPr/>
          <p:nvPr/>
        </p:nvGrpSpPr>
        <p:grpSpPr>
          <a:xfrm>
            <a:off x="3521643" y="4269623"/>
            <a:ext cx="4394809" cy="1178544"/>
            <a:chOff x="2946458" y="4181137"/>
            <a:chExt cx="4394809" cy="1178544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314B16C0-9FED-8E01-26F2-4A8F6AD7C327}"/>
                </a:ext>
              </a:extLst>
            </p:cNvPr>
            <p:cNvSpPr txBox="1"/>
            <p:nvPr/>
          </p:nvSpPr>
          <p:spPr>
            <a:xfrm>
              <a:off x="2946458" y="4443271"/>
              <a:ext cx="1904277" cy="477301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000"/>
                </a:spcBef>
              </a:pPr>
              <a:r>
                <a:rPr lang="pt-BR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Gradiente </a:t>
              </a:r>
              <a:r>
                <a:rPr lang="el-GR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β</a:t>
              </a:r>
              <a:r>
                <a:rPr lang="pt-BR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 = </a:t>
              </a:r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E8682C58-5F2B-4550-3BD7-84F34570F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5278" y="4181137"/>
              <a:ext cx="2675989" cy="1178544"/>
            </a:xfrm>
            <a:prstGeom prst="rect">
              <a:avLst/>
            </a:prstGeom>
          </p:spPr>
        </p:pic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2F573C3-40C2-364D-8504-58A7E28E6236}"/>
              </a:ext>
            </a:extLst>
          </p:cNvPr>
          <p:cNvSpPr/>
          <p:nvPr/>
        </p:nvSpPr>
        <p:spPr>
          <a:xfrm>
            <a:off x="3288890" y="4159043"/>
            <a:ext cx="4896465" cy="1462549"/>
          </a:xfrm>
          <a:prstGeom prst="roundRect">
            <a:avLst>
              <a:gd name="adj" fmla="val 11957"/>
            </a:avLst>
          </a:prstGeom>
          <a:noFill/>
          <a:ln w="38100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9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7D2F-3FCD-3E70-F9C4-253EFE272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DE9AA30-7D3A-B3AF-0614-EAECA169C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3E2A547-16B1-EF8A-5307-79DC776B3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01" y="1316862"/>
            <a:ext cx="10467724" cy="39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135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C4DD-7C17-8CC8-3220-342F18B9B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C6959F8-740C-C4EE-9259-51202A3E7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FBB810B9-96E6-AB62-8BEB-1287667DA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Iteração 1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Apuração de novo valor para </a:t>
            </a:r>
            <a:r>
              <a:rPr lang="el-G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começando pelo seu gradiente: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equação de z, </a:t>
            </a:r>
            <a:r>
              <a:rPr lang="el-G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é a variável constante ou viés (não multiplica nenhuma varável independente x</a:t>
            </a:r>
            <a:r>
              <a:rPr lang="pt-BR" alt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el-G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 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recebe o nome de </a:t>
            </a:r>
            <a:r>
              <a:rPr lang="pt-BR" alt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intercepto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intercepto é tal como se fosse multiplicado por uma variável fictícia x</a:t>
            </a:r>
            <a:r>
              <a:rPr lang="pt-BR" alt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 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= 1.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Primeiramente, calculamos o </a:t>
            </a:r>
            <a:r>
              <a:rPr lang="pt-BR" alt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β0</a:t>
            </a:r>
            <a:r>
              <a:rPr lang="pt-BR" alt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0,5 + 0,5 -0,5 -0,5 -0,5 -0,5)/6 = -0,1667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25B05F9-4408-6894-B948-2026A21BC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716" y="4445763"/>
            <a:ext cx="1876800" cy="100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8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D010-CFFF-450E-C524-D7EB11E7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8B35E667-1311-1979-EAA4-47FB50440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DC1733EF-E444-E9E9-3457-866F9EC79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Agora, vamos realizar o mesmo para os demais </a:t>
            </a:r>
            <a:r>
              <a:rPr lang="el-G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</a:t>
            </a:r>
            <a:r>
              <a:rPr lang="el-G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(renda):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</a:t>
            </a:r>
            <a:r>
              <a:rPr lang="el-G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= (1,5 + 2 -3 -3,5 – 5 – 4)/6 = -2</a:t>
            </a:r>
            <a:endParaRPr lang="pt-BR" altLang="pt-BR" sz="24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D6E823-0BBB-0FF7-2265-D53485933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065" y="2172728"/>
            <a:ext cx="9683869" cy="369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111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680F-CA25-C638-0DAE-B8CDD20CE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F5053C4-0A72-0450-6189-95C7F6CB2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924DD98F-CB9B-AB9C-5C4C-3C7376909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</a:t>
            </a:r>
            <a:r>
              <a:rPr lang="el-G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(imóvel):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</a:t>
            </a:r>
            <a:r>
              <a:rPr lang="el-G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= (0 + 0 -0,5 – 0,5 – 0,5 -0,5)/6 = -0,3333</a:t>
            </a: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 </a:t>
            </a: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408546-90ED-654E-D5A7-64A96B37D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721" y="1676044"/>
            <a:ext cx="10350854" cy="397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570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E9627-2AB5-884A-7D5F-01D9E974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DD1408E-F6A3-2BBC-465F-2E95CB184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3F8F7ED7-9CDA-EBDD-51C9-E40A86AB1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Obtivemos então os gradientes de </a:t>
            </a:r>
            <a:r>
              <a:rPr lang="el-GR" alt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8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 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da Iteração 1: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 = -0,1667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= -2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= -0,3333 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4392402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4D90-7DF6-5202-3B7F-3CA16531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C15214A-7313-C5A5-20E8-9342F0418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692888D7-7A79-2B54-311A-239513964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Iteração 1</a:t>
            </a:r>
            <a:r>
              <a:rPr lang="pt-BR" altLang="pt-BR" sz="26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Calculados os gradientes, vamos agora obter os valores de </a:t>
            </a:r>
            <a:r>
              <a:rPr lang="el-G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regra é: </a:t>
            </a:r>
            <a:r>
              <a:rPr lang="el-G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novo = </a:t>
            </a:r>
            <a:r>
              <a:rPr lang="el-G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anterior – </a:t>
            </a:r>
            <a:r>
              <a:rPr lang="el-G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</a:t>
            </a:r>
            <a:r>
              <a:rPr lang="pt-B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*gradiente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el-G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</a:t>
            </a: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</a:t>
            </a: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taxa de aprendizado </a:t>
            </a: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é um valor tentativo (normalmente, 0,1, 0,001 ou 0,0001) – deve-se experimentar e verificar se o erro está diminuindo, se está havendo oscilação, se o algoritmo está convergindo.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Algoritmos como </a:t>
            </a:r>
            <a:r>
              <a:rPr lang="pt-BR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Adam</a:t>
            </a:r>
            <a:r>
              <a:rPr 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</a:t>
            </a:r>
            <a:r>
              <a:rPr lang="pt-BR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RMSProp</a:t>
            </a:r>
            <a:r>
              <a:rPr 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ou </a:t>
            </a:r>
            <a:r>
              <a:rPr lang="pt-BR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AdaGrad</a:t>
            </a:r>
            <a:r>
              <a:rPr 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fazem os ajustes automaticamente.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Vamos adotar no nosso exemplo </a:t>
            </a:r>
            <a:r>
              <a:rPr lang="el-G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</a:t>
            </a:r>
            <a:r>
              <a:rPr lang="pt-B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0,01</a:t>
            </a: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  <a:endParaRPr 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72362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1B170-82F6-F56F-6154-7DD51D652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0D38B868-520F-B484-F941-22053CC8D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90E4467D-0B36-1D45-8B7D-F98CABD8D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Novos valores de </a:t>
            </a:r>
            <a:r>
              <a:rPr lang="el-G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el-G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novo = </a:t>
            </a:r>
            <a:r>
              <a:rPr lang="el-G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anterior – </a:t>
            </a:r>
            <a:r>
              <a:rPr lang="el-G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</a:t>
            </a:r>
            <a:r>
              <a:rPr lang="pt-BR" altLang="pt-BR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*gradiente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 isto, z = -0,001667 +0,0200x</a:t>
            </a:r>
            <a:r>
              <a:rPr lang="pt-BR" altLang="pt-BR" baseline="-250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+ 0,003333x</a:t>
            </a:r>
            <a:r>
              <a:rPr lang="pt-BR" altLang="pt-BR" baseline="-250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endParaRPr lang="pt-BR" altLang="pt-BR" sz="2400" baseline="-250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D103A9-5A61-E87C-4B55-4732252B9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694" y="2254884"/>
            <a:ext cx="5028639" cy="29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174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5BD5B-A46B-165D-4B5C-2D16F2CA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455EC6E-5A6C-02AA-AB35-098601B1A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E204AF08-5954-DC69-D2E8-FB8C10FAD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= -0,001667 +0,0200x</a:t>
            </a:r>
            <a:r>
              <a:rPr lang="pt-BR" altLang="pt-BR" baseline="-250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+ 0,003333x</a:t>
            </a:r>
            <a:r>
              <a:rPr lang="pt-BR" altLang="pt-BR" baseline="-250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endParaRPr lang="pt-BR" altLang="pt-BR" sz="2400" baseline="-250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Então, para cada cliente dos dados de treinamento, temos: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60B2E7F-DE62-0464-32BA-B42E4A720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241" y="2321177"/>
            <a:ext cx="6097121" cy="404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643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04B57-556A-61B9-C684-5C731DC28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49D2F15-EF24-CFC0-891C-1C5F296BD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6A21A262-C28B-BD8E-2EF5-5511D4DD3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= -0,001667 +0,0200x</a:t>
            </a:r>
            <a:r>
              <a:rPr lang="pt-BR" altLang="pt-BR" baseline="-250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+ 0,003333x</a:t>
            </a:r>
            <a:r>
              <a:rPr lang="pt-BR" altLang="pt-BR" baseline="-250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endParaRPr lang="pt-BR" altLang="pt-BR" sz="2400" baseline="-250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Continuando...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C25A4F-5008-AEF6-CD0A-807CE6E02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467" y="2287116"/>
            <a:ext cx="4920344" cy="373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6138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DEFF0-A501-C409-3DA8-1CDF957D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E0DFBA0-8050-62CE-E149-DF85C3ACD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9AEA727A-47A5-7944-A67C-A50EDD894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001" y="1162777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z = -0,001667 +0,0200x</a:t>
            </a:r>
            <a:r>
              <a:rPr lang="pt-BR" altLang="pt-BR" baseline="-250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+ 0,003333x</a:t>
            </a:r>
            <a:r>
              <a:rPr lang="pt-BR" altLang="pt-BR" baseline="-250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endParaRPr lang="pt-BR" altLang="pt-BR" sz="2400" baseline="-250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resumo, os novos z após a Iteração 1 são: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364004D-984A-DB73-9083-3B07D6BD0768}"/>
              </a:ext>
            </a:extLst>
          </p:cNvPr>
          <p:cNvGrpSpPr/>
          <p:nvPr/>
        </p:nvGrpSpPr>
        <p:grpSpPr>
          <a:xfrm>
            <a:off x="3116135" y="2334500"/>
            <a:ext cx="3316749" cy="4028197"/>
            <a:chOff x="3116135" y="2334500"/>
            <a:chExt cx="3316749" cy="4028197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84BFCE34-A3A7-46B2-B651-42839278A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6135" y="2340247"/>
              <a:ext cx="1790260" cy="4022450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81DADF20-DA04-31D8-E09B-7DBE904D6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06395" y="2334500"/>
              <a:ext cx="1526489" cy="39548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813767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706C1-1C5B-E40F-AC99-49C29801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2FEAA20-BF68-1F25-DEEC-727BC72A4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F4E6540C-EBF7-4696-80DE-11651E234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001" y="1162777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Aplicando-se agora a nova sigmoide para cada cliente, temos: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98BB0C3-2B20-3E79-CC91-DF5D01073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190" y="1691749"/>
            <a:ext cx="1506526" cy="85894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2B4AB85-0A80-4555-0E64-D9C6FA9F8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3447" y="2652496"/>
            <a:ext cx="9744376" cy="371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587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D484-3949-E44D-EF61-4B113702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EF776CBE-B402-BDC0-2A21-494C7F19F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D05E30E9-A451-2491-A724-A13BF8032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001" y="1162777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Calculando agora o novo Log Loss para cada cliente: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Cliente A (classe 0), por exemplo: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Cliente C (classe 1), por exemplo: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17A2045-CCD6-91BF-7174-31970D2C7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27" y="1830252"/>
            <a:ext cx="4568079" cy="60843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207F82E-72B4-E147-CEB1-A6809D33E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006" y="3066397"/>
            <a:ext cx="5674732" cy="72520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7EFA6C7-49D7-A726-772A-38591B53F3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6109" y="4672364"/>
            <a:ext cx="3086265" cy="57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4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DD69B-E32F-07A5-D9A5-A10D0BE7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042D80CB-9FC7-90A3-36DC-5B499F598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2F2F70DC-F677-2E06-4716-0C5F79E26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001" y="1162777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apuração der todos os Log Loss conduz ao seguinte Log Loss médio: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 Loss médio = (0,724+0,735+0,633+0,623+0,596+0,614)/6 =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0,654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Antes da primeira iteração do treinamento, tínhamos: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 Loss médio =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0,693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Portanto, o Log Loss médio diminuiu, ou seja, os coeficientes </a:t>
            </a:r>
            <a:r>
              <a:rPr lang="el-GR" altLang="pt-BR" sz="28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800" baseline="-250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  </a:t>
            </a:r>
            <a:r>
              <a:rPr lang="pt-BR" sz="25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caminharam na direção certa.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82101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CEB7-1D59-3C45-18AC-FB8BE376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84BC788-EE48-B736-72FE-38E3C4FB8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EACDE8D2-BC07-5B2F-8A45-4CAB464F9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999" y="1162777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iteração 2 repetirá exatamente o mesmo ciclo: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Partir dos coeficientes β0​, β1 e β2 da iteração 1.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Apurar seus gradientes, com as probabilidades oriundas da iteração 1 e com isto chegar a novos valores de β0​, β1 e β2.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 isto, obter a nova equação z.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Recalcular o valor de z para cada cliente.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Aplicar a sigmoide para obter as novas probabilidades.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Calcular uma nova Log Loss média (que tende a ser menor que 0,654).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 assim por diante, até os novos coeficientes </a:t>
            </a:r>
            <a:r>
              <a:rPr lang="el-G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6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não melhorarem mais o modelo (praticamente não causarem mais reduções do Log Loss médio).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17333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710E-09AD-B6D1-A87D-4D4ACE77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36BB184-EEFB-4419-A4B9-AD5505CCC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183FF7D6-63F2-C900-1D09-21F2746BB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importância da normalização dos dados de treinamento na execução do algoritmo de regressão logística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ilustrar este ponto, vejamos um exemplo onde um dos atributos tem escala diferente e não foi normalizado.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Faremos isto para o atributo “idade”.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423602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6C7D6-802A-BB35-1195-3A1CDE4D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742D8D5-5795-4C3A-4FDB-FDCE813B6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69B1F2EF-B363-70F9-D736-7D2C41C25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D23313E-0909-3C64-5133-22882969E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597" y="1417896"/>
            <a:ext cx="10518602" cy="402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34091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FE95-F2C3-D625-9295-1BD45195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373CCAD-92AB-D6D1-4066-CC35CB0F8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DFDF5459-4925-CDEE-E180-C92011DD4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Iteração zero</a:t>
            </a: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9D6558-8538-268A-258E-D959864A8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459" y="1823988"/>
            <a:ext cx="10005488" cy="382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365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F067-6B39-D818-FF79-E33DC64B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ED5D860E-D719-6C51-F109-A9B67376A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540421F7-384F-7240-06DB-57653E81E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7" y="1206912"/>
            <a:ext cx="957276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todos os clientes receberam probabilidade 0,5, todos terão a mesma perda (0,6931).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Log Loss média = (6*0,6931)/6 =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0,6931</a:t>
            </a: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3D1D38C-30C7-6736-9605-6458B9E574C6}"/>
              </a:ext>
            </a:extLst>
          </p:cNvPr>
          <p:cNvGrpSpPr/>
          <p:nvPr/>
        </p:nvGrpSpPr>
        <p:grpSpPr>
          <a:xfrm>
            <a:off x="3198572" y="2836258"/>
            <a:ext cx="3234312" cy="3478313"/>
            <a:chOff x="2412511" y="2884385"/>
            <a:chExt cx="2959972" cy="3220298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2F69AC8A-1926-1029-72E0-07283D9A1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54184" y="2899132"/>
              <a:ext cx="1318299" cy="3205551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3D588BB-F280-757A-0F9C-DEB24E73F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511" y="2884385"/>
              <a:ext cx="1658044" cy="3205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207897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FD4B9-89F6-97F6-4EA1-AB088B97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C8A9E51-FB4B-8F95-F3B2-797729594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13921189-5F29-D971-8571-953FD7457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Obtivemos então os quatro gradientes da Iteração 1: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 = -0,1667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= -8,75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= -2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 de </a:t>
            </a:r>
            <a:r>
              <a:rPr lang="el-G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3 = -0,3333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Então:</a:t>
            </a: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35E5BEA-A976-718F-2EBD-39AB1B058D7B}"/>
              </a:ext>
            </a:extLst>
          </p:cNvPr>
          <p:cNvGrpSpPr/>
          <p:nvPr/>
        </p:nvGrpSpPr>
        <p:grpSpPr>
          <a:xfrm>
            <a:off x="2632845" y="3935953"/>
            <a:ext cx="3655659" cy="2480890"/>
            <a:chOff x="2103457" y="4096373"/>
            <a:chExt cx="3165228" cy="2166115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1AC85542-EA01-52B5-FCA4-D29B66E66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61186" y="4096373"/>
              <a:ext cx="1507499" cy="2166115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271AEDB-4AE2-88DF-74AB-6D3C0F67E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03457" y="4105083"/>
              <a:ext cx="1666438" cy="2142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324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DE7C-15C4-7B0F-9F03-D382F53C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33650D2-EC48-8706-2190-C929548A1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EDDB0AA6-0BBA-F6D0-53CD-8B0E328FC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Novos z:</a:t>
            </a: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129DDB5-4BEC-4E82-49F5-F0F5E36B4F31}"/>
              </a:ext>
            </a:extLst>
          </p:cNvPr>
          <p:cNvGrpSpPr/>
          <p:nvPr/>
        </p:nvGrpSpPr>
        <p:grpSpPr>
          <a:xfrm>
            <a:off x="3387323" y="1904524"/>
            <a:ext cx="3483308" cy="4265414"/>
            <a:chOff x="2456882" y="1904524"/>
            <a:chExt cx="3483308" cy="4265414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774C2BD5-4916-C80C-22B9-CAC95A8C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8146" y="1968693"/>
              <a:ext cx="1452044" cy="4201245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51573F7-54D8-F81B-4E48-DB4EBCAA6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56882" y="1904524"/>
              <a:ext cx="2031263" cy="42172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94141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F115-CC19-102E-FB53-F741FA00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04569EAA-C98D-9ADB-1A44-CAC54D7C9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5FC11566-EA4B-0357-260D-819A18A9F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Novas probabilidades (aplicação da sigmoide):</a:t>
            </a: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11269D-23B1-7BDE-AE4F-F5847799E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855" y="1874547"/>
            <a:ext cx="9661541" cy="377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8962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9B070-1B3F-70D4-3B6B-FC181F58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23863B1-3654-7EF1-42BD-CC0890C3A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F1912107-44F6-A893-F3AA-13688E2BA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Note que o modelo passou a prever probabilidade muito alta para todos, inclusive para A e B, cuja classe correta é 0.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problema aqui é a </a:t>
            </a:r>
            <a:r>
              <a:rPr lang="pt-BR" altLang="pt-BR" sz="25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escala das variáveis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idade varia entre 25 e 45. Quando multiplicamos 0,0875 × 45 já obtemos quase 4. Isso faz z ficar muito grande.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Isto vai gerar uma piora no Log Loss médio.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resolver este fenômeno, devemos normalizar o atributo “idade” antes de começarmos o treinamento. 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78954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65E6-7E64-5367-6167-269F0EBC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B49AEE7-8A26-3D27-0299-3D33AF0E3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F6A132D9-3799-4B2C-7DFE-94ACC22DB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 exemplo: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Agora os valores ficam próximos de zero. Os coeficientes deixam de explodir e o treinamento fica muito mais estável.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76C1F4B-2C4A-83E4-7074-18DAE3E011A8}"/>
              </a:ext>
            </a:extLst>
          </p:cNvPr>
          <p:cNvGrpSpPr/>
          <p:nvPr/>
        </p:nvGrpSpPr>
        <p:grpSpPr>
          <a:xfrm>
            <a:off x="1994958" y="1823876"/>
            <a:ext cx="4234605" cy="3068611"/>
            <a:chOff x="2304418" y="1791792"/>
            <a:chExt cx="4234605" cy="3068611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76CB474C-E38F-D070-D9FA-5577C3B53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0196" y="1791792"/>
              <a:ext cx="2158827" cy="2979791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E8DB69A3-2FDF-4D59-62FC-4FB1D4681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4418" y="1793097"/>
              <a:ext cx="2080301" cy="3067306"/>
            </a:xfrm>
            <a:prstGeom prst="rect">
              <a:avLst/>
            </a:prstGeom>
          </p:spPr>
        </p:pic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E7BAE913-6950-B6FB-7AEF-C642DBD07C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1353" y="2092233"/>
            <a:ext cx="2158827" cy="9195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F9A956D-8632-898A-64C6-6B565644DBD6}"/>
              </a:ext>
            </a:extLst>
          </p:cNvPr>
          <p:cNvSpPr/>
          <p:nvPr/>
        </p:nvSpPr>
        <p:spPr>
          <a:xfrm>
            <a:off x="8300515" y="2027519"/>
            <a:ext cx="2025142" cy="1037641"/>
          </a:xfrm>
          <a:prstGeom prst="roundRect">
            <a:avLst>
              <a:gd name="adj" fmla="val 12403"/>
            </a:avLst>
          </a:prstGeom>
          <a:noFill/>
          <a:ln w="28575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85016C-324B-C568-FE3C-1AD3CE44F9AF}"/>
              </a:ext>
            </a:extLst>
          </p:cNvPr>
          <p:cNvSpPr txBox="1"/>
          <p:nvPr/>
        </p:nvSpPr>
        <p:spPr>
          <a:xfrm>
            <a:off x="6881242" y="3253355"/>
            <a:ext cx="2580221" cy="1534642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spcBef>
                <a:spcPts val="1000"/>
              </a:spcBef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x’ = valor normalizado</a:t>
            </a:r>
          </a:p>
          <a:p>
            <a:pPr>
              <a:spcBef>
                <a:spcPts val="1000"/>
              </a:spcBef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= valor original da variável</a:t>
            </a:r>
          </a:p>
          <a:p>
            <a:pPr>
              <a:spcBef>
                <a:spcPts val="1000"/>
              </a:spcBef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 = média dos valores da amostra</a:t>
            </a:r>
          </a:p>
          <a:p>
            <a:pPr>
              <a:spcBef>
                <a:spcPts val="1000"/>
              </a:spcBef>
            </a:pPr>
            <a:r>
              <a:rPr lang="el-G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desvio padrão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40021F1-8E4E-1D13-5FB6-05B21E11A8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3086" y="3585498"/>
            <a:ext cx="2351259" cy="8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0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44F4-6DCB-3318-9ABE-66235488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99DDE18-EA94-3965-F059-A2A3D5374C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1BA4D1E6-E0A8-6A07-D166-F77AB7AF2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Sem a normalização, a quantidade de iterações do algoritmo para conseguir convergência seria muito maior (converge, mas demora).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Os algoritmos modernos de otimização (como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Adam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e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RMSProp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conseguem lidar melhor com diferenças de escala do que o gradiente descendente "puro". 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Mesmo assim, padronizar as variáveis continua sendo uma boa prática, porque geralmente melhora a velocidade de convergência, reduz problemas numéricos e torna o treinamento mais previsível. 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Portanto, a normalização não muda o objetivo do algoritmo (encontrar os melhores coeficientes), mas costuma tornar o caminho até essa solução muito mais eficiente.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92426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566D6-3052-9F3F-8821-DC5A6C11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5A25665-2BB8-775C-94D7-766FD32B7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D78E4AC2-8F3D-3FF4-7463-2A58D5A6E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polinômio z pode ter grau diferente de 1?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Sim, podemos treinar modelos com polinômios de grau 2 ou 3 e comparar o desempenho, lembrando que os graus mais altos aumentam o risco de sobreajuste.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Princípio da Parcimônia 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Navalha de Occam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 entre dois modelos com desempenho semelhante, prefere-se o mais simples. Modelos mais simples tendem a generalizar melhor.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90214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EEE90-FC75-3AB3-45CF-CEBB0DF5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6B16273F-FB2A-9248-6AE0-7D340F6F1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970" y="1004588"/>
            <a:ext cx="10272000" cy="518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Regressão Logística– resumo esquemático do algoritmo: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874F4B1-AEFD-931E-C724-FD6D960C60A4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Regressão Logística</a:t>
            </a:r>
            <a:endParaRPr lang="pt-BR" altLang="pt-BR" sz="4000" i="1" dirty="0"/>
          </a:p>
        </p:txBody>
      </p:sp>
      <p:sp>
        <p:nvSpPr>
          <p:cNvPr id="2" name="Fluxograma: Documento 1">
            <a:extLst>
              <a:ext uri="{FF2B5EF4-FFF2-40B4-BE49-F238E27FC236}">
                <a16:creationId xmlns:a16="http://schemas.microsoft.com/office/drawing/2014/main" id="{46C0C58D-0EF1-3C7D-6CD0-A5F06A6006B0}"/>
              </a:ext>
            </a:extLst>
          </p:cNvPr>
          <p:cNvSpPr/>
          <p:nvPr/>
        </p:nvSpPr>
        <p:spPr>
          <a:xfrm>
            <a:off x="1535309" y="1522518"/>
            <a:ext cx="2305048" cy="633091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</a:t>
            </a:r>
          </a:p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preparados (classe: 0 ou 1) 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13B33BD9-D5B9-F7BE-4FAC-CB91B560EF0F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2687833" y="2113755"/>
            <a:ext cx="4629" cy="188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E4BC632-E1AF-59D1-6EE7-138CC6C61EF8}"/>
              </a:ext>
            </a:extLst>
          </p:cNvPr>
          <p:cNvSpPr/>
          <p:nvPr/>
        </p:nvSpPr>
        <p:spPr>
          <a:xfrm>
            <a:off x="1625280" y="2302253"/>
            <a:ext cx="2134364" cy="52353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β0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l-G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altLang="pt-BR" sz="16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</a:t>
            </a:r>
            <a:r>
              <a:rPr lang="el-G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altLang="pt-BR" sz="16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... = </a:t>
            </a:r>
            <a:r>
              <a:rPr lang="el-G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β</a:t>
            </a:r>
            <a:r>
              <a:rPr lang="pt-B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altLang="pt-BR" sz="16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</a:t>
            </a:r>
            <a:r>
              <a:rPr lang="pt-BR" altLang="pt-BR" sz="1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0</a:t>
            </a: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A05CC22-B5F5-C3EE-4DF7-0DC8CFA83D30}"/>
              </a:ext>
            </a:extLst>
          </p:cNvPr>
          <p:cNvSpPr/>
          <p:nvPr/>
        </p:nvSpPr>
        <p:spPr>
          <a:xfrm>
            <a:off x="1542199" y="3033461"/>
            <a:ext cx="2305048" cy="667475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Apurar z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cada indivíduo (aqui serão 0)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3353860-5D93-5436-8F4D-6A1A77D83E53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2692462" y="2825783"/>
            <a:ext cx="2261" cy="207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48F5FD8-C1C9-9224-65A8-AA7DB7104D06}"/>
              </a:ext>
            </a:extLst>
          </p:cNvPr>
          <p:cNvSpPr/>
          <p:nvPr/>
        </p:nvSpPr>
        <p:spPr>
          <a:xfrm>
            <a:off x="1596791" y="3948792"/>
            <a:ext cx="2207043" cy="755928"/>
          </a:xfrm>
          <a:prstGeom prst="roundRect">
            <a:avLst>
              <a:gd name="adj" fmla="val 15054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Apurar p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cada indivíduo (aqui serão 0,5) </a:t>
            </a:r>
          </a:p>
        </p:txBody>
      </p: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1B8DC719-DEEA-28B3-B6DB-4462C4D1F872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>
            <a:off x="2694723" y="3700936"/>
            <a:ext cx="5590" cy="247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EDF07F2-52AE-1FA8-7D45-01978EAC0A68}"/>
              </a:ext>
            </a:extLst>
          </p:cNvPr>
          <p:cNvSpPr/>
          <p:nvPr/>
        </p:nvSpPr>
        <p:spPr>
          <a:xfrm>
            <a:off x="1635683" y="4961004"/>
            <a:ext cx="2113559" cy="755928"/>
          </a:xfrm>
          <a:prstGeom prst="roundRect">
            <a:avLst>
              <a:gd name="adj" fmla="val 150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Apurar o Log Loss de cada indivíduo (guardar Log Loss médio inicial 0)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4ABDDA9-9CA9-B8B4-589C-C696D76BFB97}"/>
              </a:ext>
            </a:extLst>
          </p:cNvPr>
          <p:cNvSpPr/>
          <p:nvPr/>
        </p:nvSpPr>
        <p:spPr>
          <a:xfrm>
            <a:off x="1635683" y="5930002"/>
            <a:ext cx="2113559" cy="755928"/>
          </a:xfrm>
          <a:prstGeom prst="roundRect">
            <a:avLst>
              <a:gd name="adj" fmla="val 15054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Apurar Gradientes de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β0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ACA3FDA3-2FDC-D2DA-7782-1DFEA9BE67DD}"/>
              </a:ext>
            </a:extLst>
          </p:cNvPr>
          <p:cNvSpPr/>
          <p:nvPr/>
        </p:nvSpPr>
        <p:spPr>
          <a:xfrm>
            <a:off x="4317251" y="1716877"/>
            <a:ext cx="2430646" cy="902697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β0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β0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*Grad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β0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...</a:t>
            </a:r>
          </a:p>
          <a:p>
            <a:pPr algn="ctr">
              <a:spcBef>
                <a:spcPts val="1000"/>
              </a:spcBef>
            </a:pP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*Grad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3EAD24C2-B31D-3CF9-5BF1-07C8C0E7E643}"/>
              </a:ext>
            </a:extLst>
          </p:cNvPr>
          <p:cNvSpPr/>
          <p:nvPr/>
        </p:nvSpPr>
        <p:spPr>
          <a:xfrm>
            <a:off x="4490265" y="3033461"/>
            <a:ext cx="2091202" cy="667475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Apurar z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cada indivíduo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315A9ADC-17D7-B638-4EF4-920F03F876AD}"/>
              </a:ext>
            </a:extLst>
          </p:cNvPr>
          <p:cNvSpPr/>
          <p:nvPr/>
        </p:nvSpPr>
        <p:spPr>
          <a:xfrm>
            <a:off x="4490265" y="3948792"/>
            <a:ext cx="2113559" cy="755928"/>
          </a:xfrm>
          <a:prstGeom prst="roundRect">
            <a:avLst>
              <a:gd name="adj" fmla="val 15054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Apurar p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cada indivíduo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27E3BDD6-347A-823C-1189-35B49B6F5EE1}"/>
              </a:ext>
            </a:extLst>
          </p:cNvPr>
          <p:cNvSpPr/>
          <p:nvPr/>
        </p:nvSpPr>
        <p:spPr>
          <a:xfrm>
            <a:off x="4490265" y="4961004"/>
            <a:ext cx="2113559" cy="755928"/>
          </a:xfrm>
          <a:prstGeom prst="roundRect">
            <a:avLst>
              <a:gd name="adj" fmla="val 150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Apurar o Log Loss de cada indivíduo (guardar Log Loss médio 1)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E8A9378C-104B-2685-8856-4C724C370FB9}"/>
              </a:ext>
            </a:extLst>
          </p:cNvPr>
          <p:cNvSpPr/>
          <p:nvPr/>
        </p:nvSpPr>
        <p:spPr>
          <a:xfrm>
            <a:off x="4490265" y="5930002"/>
            <a:ext cx="2113559" cy="755928"/>
          </a:xfrm>
          <a:prstGeom prst="roundRect">
            <a:avLst>
              <a:gd name="adj" fmla="val 15054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Apurar Gradientes de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β0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</a:t>
            </a:r>
            <a:r>
              <a:rPr lang="el-G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β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C8A390BF-A531-75A2-CE34-FFC2FB1121BC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 flipH="1">
            <a:off x="2692463" y="4704720"/>
            <a:ext cx="7850" cy="256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AECAC6C2-485C-3C84-6A08-1228582D7F79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>
            <a:off x="2692463" y="5716932"/>
            <a:ext cx="0" cy="213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401E8843-3BCC-4171-E172-54ACF54AEAAD}"/>
              </a:ext>
            </a:extLst>
          </p:cNvPr>
          <p:cNvSpPr txBox="1"/>
          <p:nvPr/>
        </p:nvSpPr>
        <p:spPr>
          <a:xfrm>
            <a:off x="2796101" y="3632696"/>
            <a:ext cx="892974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sigmoide</a:t>
            </a:r>
          </a:p>
        </p:txBody>
      </p: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E4230FA0-9A58-A2E6-9C0B-3E652169EC44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5535866" y="3700936"/>
            <a:ext cx="11179" cy="247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C70AF845-2431-361D-F65B-8A0335484EAB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>
            <a:off x="5547045" y="4704720"/>
            <a:ext cx="0" cy="256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A4D48D89-62C7-AAE2-CCDE-7FDCD8351484}"/>
              </a:ext>
            </a:extLst>
          </p:cNvPr>
          <p:cNvCxnSpPr>
            <a:cxnSpLocks/>
            <a:stCxn id="47" idx="2"/>
            <a:endCxn id="50" idx="0"/>
          </p:cNvCxnSpPr>
          <p:nvPr/>
        </p:nvCxnSpPr>
        <p:spPr>
          <a:xfrm>
            <a:off x="5547045" y="5716932"/>
            <a:ext cx="0" cy="213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289FCE3E-2AED-2597-2E6D-28A96B208551}"/>
              </a:ext>
            </a:extLst>
          </p:cNvPr>
          <p:cNvSpPr txBox="1"/>
          <p:nvPr/>
        </p:nvSpPr>
        <p:spPr>
          <a:xfrm>
            <a:off x="5656258" y="3635091"/>
            <a:ext cx="892974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sigmoide</a:t>
            </a:r>
          </a:p>
        </p:txBody>
      </p:sp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0C4AC457-40FE-8DF2-5E70-BEB72EC9435D}"/>
              </a:ext>
            </a:extLst>
          </p:cNvPr>
          <p:cNvCxnSpPr>
            <a:cxnSpLocks/>
            <a:stCxn id="36" idx="2"/>
            <a:endCxn id="41" idx="0"/>
          </p:cNvCxnSpPr>
          <p:nvPr/>
        </p:nvCxnSpPr>
        <p:spPr>
          <a:xfrm>
            <a:off x="5532574" y="2619574"/>
            <a:ext cx="3292" cy="413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: Angulado 91">
            <a:extLst>
              <a:ext uri="{FF2B5EF4-FFF2-40B4-BE49-F238E27FC236}">
                <a16:creationId xmlns:a16="http://schemas.microsoft.com/office/drawing/2014/main" id="{B2A1BD30-ED51-33DE-0007-0A5ADDC88BCC}"/>
              </a:ext>
            </a:extLst>
          </p:cNvPr>
          <p:cNvCxnSpPr>
            <a:stCxn id="28" idx="3"/>
            <a:endCxn id="36" idx="1"/>
          </p:cNvCxnSpPr>
          <p:nvPr/>
        </p:nvCxnSpPr>
        <p:spPr>
          <a:xfrm flipV="1">
            <a:off x="3749242" y="2168226"/>
            <a:ext cx="568009" cy="41397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Imagem 95">
            <a:extLst>
              <a:ext uri="{FF2B5EF4-FFF2-40B4-BE49-F238E27FC236}">
                <a16:creationId xmlns:a16="http://schemas.microsoft.com/office/drawing/2014/main" id="{D41BB6BB-9311-BF00-E3FA-DC79EBFFA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864" y="5130397"/>
            <a:ext cx="3433867" cy="457849"/>
          </a:xfrm>
          <a:prstGeom prst="rect">
            <a:avLst/>
          </a:prstGeom>
        </p:spPr>
      </p:pic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745BEE4-8A28-A5C8-A282-E9A77252E520}"/>
              </a:ext>
            </a:extLst>
          </p:cNvPr>
          <p:cNvGrpSpPr/>
          <p:nvPr/>
        </p:nvGrpSpPr>
        <p:grpSpPr>
          <a:xfrm>
            <a:off x="7213865" y="5925000"/>
            <a:ext cx="2432797" cy="697994"/>
            <a:chOff x="6784259" y="5925000"/>
            <a:chExt cx="2432797" cy="697994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01A9EAE1-F246-DAEB-FF66-D384CD202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75040" y="6028236"/>
              <a:ext cx="398229" cy="472897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0B3A22D-C9CA-2AC6-5165-77ACC73D40D0}"/>
                </a:ext>
              </a:extLst>
            </p:cNvPr>
            <p:cNvSpPr txBox="1"/>
            <p:nvPr/>
          </p:nvSpPr>
          <p:spPr>
            <a:xfrm>
              <a:off x="6961238" y="6085441"/>
              <a:ext cx="1058083" cy="328992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000"/>
                </a:spcBef>
              </a:pPr>
              <a:r>
                <a:rPr lang="pt-BR" sz="1400" b="1" dirty="0"/>
                <a:t>Grad </a:t>
              </a:r>
              <a:r>
                <a:rPr lang="el-GR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β</a:t>
              </a:r>
              <a:r>
                <a:rPr lang="pt-BR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 = </a:t>
              </a:r>
              <a:endParaRPr lang="pt-BR" sz="1400" b="1" dirty="0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D35EBFD1-3EC3-38CE-4B45-39BA7EA59811}"/>
                </a:ext>
              </a:extLst>
            </p:cNvPr>
            <p:cNvSpPr txBox="1"/>
            <p:nvPr/>
          </p:nvSpPr>
          <p:spPr>
            <a:xfrm>
              <a:off x="8269580" y="5925000"/>
              <a:ext cx="947476" cy="328992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000"/>
                </a:spcBef>
              </a:pPr>
              <a:r>
                <a:rPr lang="pt-BR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(p-y)</a:t>
              </a:r>
              <a:r>
                <a:rPr lang="pt-BR" sz="1400" b="1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pt-BR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* x</a:t>
              </a:r>
              <a:r>
                <a:rPr lang="pt-BR" sz="1400" b="1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pt-BR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endParaRPr lang="pt-BR" sz="1400" b="1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D0DAE761-5500-133E-C372-49D3C242AB9B}"/>
                </a:ext>
              </a:extLst>
            </p:cNvPr>
            <p:cNvSpPr txBox="1"/>
            <p:nvPr/>
          </p:nvSpPr>
          <p:spPr>
            <a:xfrm>
              <a:off x="8574952" y="6265729"/>
              <a:ext cx="336732" cy="328992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000"/>
                </a:spcBef>
              </a:pPr>
              <a:r>
                <a:rPr lang="pt-BR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</a:t>
              </a:r>
              <a:endParaRPr lang="pt-BR" sz="1400" b="1" dirty="0"/>
            </a:p>
          </p:txBody>
        </p: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74CE62FB-B086-CCBD-50C5-65231DD26891}"/>
                </a:ext>
              </a:extLst>
            </p:cNvPr>
            <p:cNvCxnSpPr>
              <a:cxnSpLocks/>
            </p:cNvCxnSpPr>
            <p:nvPr/>
          </p:nvCxnSpPr>
          <p:spPr>
            <a:xfrm>
              <a:off x="8269580" y="6262757"/>
              <a:ext cx="63844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67F04B71-4E60-10F5-B9BD-07FCB7687AD6}"/>
                </a:ext>
              </a:extLst>
            </p:cNvPr>
            <p:cNvSpPr/>
            <p:nvPr/>
          </p:nvSpPr>
          <p:spPr>
            <a:xfrm>
              <a:off x="6784259" y="5941397"/>
              <a:ext cx="2430646" cy="681597"/>
            </a:xfrm>
            <a:prstGeom prst="roundRect">
              <a:avLst/>
            </a:prstGeom>
            <a:noFill/>
            <a:ln w="19050">
              <a:solidFill>
                <a:srgbClr val="FFC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30" name="Imagem 29">
            <a:extLst>
              <a:ext uri="{FF2B5EF4-FFF2-40B4-BE49-F238E27FC236}">
                <a16:creationId xmlns:a16="http://schemas.microsoft.com/office/drawing/2014/main" id="{F1667001-84CB-28C4-5BD5-98DF7D9CE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0124" y="3893646"/>
            <a:ext cx="1449569" cy="896097"/>
          </a:xfrm>
          <a:prstGeom prst="rect">
            <a:avLst/>
          </a:prstGeom>
        </p:spPr>
      </p:pic>
      <p:grpSp>
        <p:nvGrpSpPr>
          <p:cNvPr id="32" name="Agrupar 31">
            <a:extLst>
              <a:ext uri="{FF2B5EF4-FFF2-40B4-BE49-F238E27FC236}">
                <a16:creationId xmlns:a16="http://schemas.microsoft.com/office/drawing/2014/main" id="{8AE4A376-080A-76DF-7192-BAA3906AC0BA}"/>
              </a:ext>
            </a:extLst>
          </p:cNvPr>
          <p:cNvGrpSpPr/>
          <p:nvPr/>
        </p:nvGrpSpPr>
        <p:grpSpPr>
          <a:xfrm>
            <a:off x="7199116" y="3142667"/>
            <a:ext cx="2743751" cy="490029"/>
            <a:chOff x="6872750" y="3142667"/>
            <a:chExt cx="2743751" cy="490029"/>
          </a:xfrm>
        </p:grpSpPr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CE956879-A0FB-1391-FA89-0F6CF83386D9}"/>
                </a:ext>
              </a:extLst>
            </p:cNvPr>
            <p:cNvSpPr txBox="1"/>
            <p:nvPr/>
          </p:nvSpPr>
          <p:spPr>
            <a:xfrm>
              <a:off x="7080449" y="3142667"/>
              <a:ext cx="2536052" cy="383942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000"/>
                </a:spcBef>
              </a:pPr>
              <a:r>
                <a:rPr lang="pt-B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z = </a:t>
              </a:r>
              <a:r>
                <a:rPr lang="el-G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β</a:t>
              </a:r>
              <a:r>
                <a:rPr lang="pt-BR" altLang="pt-BR" sz="1700" b="1" baseline="-25000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0</a:t>
              </a:r>
              <a:r>
                <a:rPr lang="pt-B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 + </a:t>
              </a:r>
              <a:r>
                <a:rPr lang="el-G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β</a:t>
              </a:r>
              <a:r>
                <a:rPr lang="pt-BR" altLang="pt-BR" sz="1700" b="1" baseline="-25000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1</a:t>
              </a:r>
              <a:r>
                <a:rPr lang="pt-B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x</a:t>
              </a:r>
              <a:r>
                <a:rPr lang="pt-BR" altLang="pt-BR" sz="1700" b="1" baseline="-25000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1</a:t>
              </a:r>
              <a:r>
                <a:rPr lang="pt-B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 + </a:t>
              </a:r>
              <a:r>
                <a:rPr lang="el-G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β</a:t>
              </a:r>
              <a:r>
                <a:rPr lang="pt-BR" altLang="pt-BR" sz="1700" b="1" baseline="-25000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2</a:t>
              </a:r>
              <a:r>
                <a:rPr lang="pt-B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x</a:t>
              </a:r>
              <a:r>
                <a:rPr lang="pt-BR" altLang="pt-BR" sz="1700" b="1" baseline="-25000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2</a:t>
              </a:r>
              <a:r>
                <a:rPr lang="pt-B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 ... </a:t>
              </a:r>
              <a:r>
                <a:rPr lang="el-G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β</a:t>
              </a:r>
              <a:r>
                <a:rPr lang="pt-BR" altLang="pt-BR" sz="1700" b="1" baseline="-25000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N</a:t>
              </a:r>
              <a:r>
                <a:rPr lang="pt-BR" altLang="pt-BR" sz="1700" b="1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x</a:t>
              </a:r>
              <a:r>
                <a:rPr lang="pt-BR" altLang="pt-BR" sz="1700" b="1" baseline="-25000" dirty="0">
                  <a:latin typeface="Calibri" panose="020F0502020204030204" pitchFamily="34" charset="0"/>
                  <a:ea typeface="Open Sans Semibold" panose="020B0706030804020204" pitchFamily="34" charset="0"/>
                  <a:cs typeface="Calibri" panose="020F0502020204030204" pitchFamily="34" charset="0"/>
                </a:rPr>
                <a:t>N</a:t>
              </a:r>
              <a:endParaRPr lang="pt-BR" sz="1700" b="1" dirty="0"/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BBB584C2-0EB2-658C-3A54-31EB637A50EE}"/>
                </a:ext>
              </a:extLst>
            </p:cNvPr>
            <p:cNvSpPr/>
            <p:nvPr/>
          </p:nvSpPr>
          <p:spPr>
            <a:xfrm>
              <a:off x="6872750" y="3142667"/>
              <a:ext cx="2743751" cy="490029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EF349FF-5B1C-68BC-C184-B288C9F3F384}"/>
              </a:ext>
            </a:extLst>
          </p:cNvPr>
          <p:cNvSpPr txBox="1"/>
          <p:nvPr/>
        </p:nvSpPr>
        <p:spPr>
          <a:xfrm>
            <a:off x="8227244" y="1868347"/>
            <a:ext cx="3291639" cy="89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</a:pPr>
            <a:r>
              <a:rPr lang="pt-BR" altLang="pt-BR" sz="1600" b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Repetir o processo até que novas iterações praticamente não reduzam mais o Log Loss médio</a:t>
            </a: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3406375D-16B9-4571-1D40-3182DD1A2AC6}"/>
              </a:ext>
            </a:extLst>
          </p:cNvPr>
          <p:cNvCxnSpPr>
            <a:stCxn id="50" idx="3"/>
          </p:cNvCxnSpPr>
          <p:nvPr/>
        </p:nvCxnSpPr>
        <p:spPr>
          <a:xfrm>
            <a:off x="6603824" y="6307966"/>
            <a:ext cx="3131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D07C1530-C666-7EB3-AFCE-915B796D8F0D}"/>
              </a:ext>
            </a:extLst>
          </p:cNvPr>
          <p:cNvCxnSpPr/>
          <p:nvPr/>
        </p:nvCxnSpPr>
        <p:spPr>
          <a:xfrm flipV="1">
            <a:off x="6916994" y="2302253"/>
            <a:ext cx="0" cy="4005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58C25F58-A13F-E02C-C0EA-D88E7066AFA0}"/>
              </a:ext>
            </a:extLst>
          </p:cNvPr>
          <p:cNvCxnSpPr/>
          <p:nvPr/>
        </p:nvCxnSpPr>
        <p:spPr>
          <a:xfrm>
            <a:off x="6916994" y="2302253"/>
            <a:ext cx="1287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31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 animBg="1"/>
      <p:bldP spid="16" grpId="0" animBg="1"/>
      <p:bldP spid="24" grpId="0" animBg="1"/>
      <p:bldP spid="28" grpId="0" animBg="1"/>
      <p:bldP spid="36" grpId="0" animBg="1"/>
      <p:bldP spid="41" grpId="0" animBg="1"/>
      <p:bldP spid="43" grpId="0" animBg="1"/>
      <p:bldP spid="47" grpId="0" animBg="1"/>
      <p:bldP spid="50" grpId="0" animBg="1"/>
      <p:bldP spid="57" grpId="0"/>
      <p:bldP spid="80" grpId="0"/>
      <p:bldP spid="4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AA3D-CF2D-5A75-058B-01B073EF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6DDABE4-A1CF-6E6A-CAC0-CFA77465E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Regressão Logística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C820C349-F408-68C8-4E00-1E4F786AC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Quando é melhor usar árvore de decisão ou regressão logística?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Use Árvore de Decisão quando: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Existem regras de decisão do tipo "se... então..."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Há relações não lineares ou interações complexas entre os atributos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Deseja um modelo facilmente explicável para usuários de negócio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 quer se preocupar com normalização das variáveis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Use Regressão Logística quando: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Deseja estimar probabilidades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relação entre as variáveis e a classe é aproximadamente linear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interpretabilidade dos coeficientes é importante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risco de sobreajuste (</a:t>
            </a:r>
            <a:r>
              <a:rPr lang="pt-BR" altLang="pt-BR" sz="23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overfitting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precisa ser baixo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65284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963CC-C085-E11B-F039-545A261FC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291C1F-D739-5C0A-84D3-0D54B2842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Modelagens preditivas - recapitulação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7AAC5EC-CBA4-F294-5C1D-8EF4E9BFBF94}"/>
              </a:ext>
            </a:extLst>
          </p:cNvPr>
          <p:cNvSpPr txBox="1"/>
          <p:nvPr/>
        </p:nvSpPr>
        <p:spPr>
          <a:xfrm>
            <a:off x="1392979" y="2824312"/>
            <a:ext cx="9433133" cy="1176082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6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Máquina Vetorial de Suporte</a:t>
            </a:r>
          </a:p>
        </p:txBody>
      </p:sp>
    </p:spTree>
    <p:extLst>
      <p:ext uri="{BB962C8B-B14F-4D97-AF65-F5344CB8AC3E}">
        <p14:creationId xmlns:p14="http://schemas.microsoft.com/office/powerpoint/2010/main" val="27657583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F45F-21A5-B99F-C44D-CDAD50D87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329CACE-F8CD-5E00-2798-CCF1B6E61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Máquina Vetorial de Suporte - conceito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D97A57E3-D537-90EC-7201-A59E1C64A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13317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</a:t>
            </a: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Máquina Vetorial de Suporte 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</a:t>
            </a:r>
            <a:r>
              <a:rPr lang="pt-BR" altLang="pt-BR" sz="26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Support Vector Machine – SVM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é um algoritmo supervisionado que tem como objetivo encontrar a fronteira de decisão (faixa) que melhor separa classes, maximizando a distância entre essa fronteira e os exemplos mais próximos.</a:t>
            </a: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32567183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78A3-D43D-C60E-C9AF-E37CD72D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B01C561-D41E-CDE5-024D-6E3CC5D68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Máquina Vetorial de Suporte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1AC8FB39-F637-6C8B-4E6A-241BDD9E8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13317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 discriminante linear é a linha central da faixa e deveremos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maximizar a margem (para dar “segurança” ao separador).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6EE361-1086-08C1-3B26-CE3B5262A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529" y="2389581"/>
            <a:ext cx="5368946" cy="416514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D03D822-E56F-CF0C-9536-0BD6D55A7E73}"/>
              </a:ext>
            </a:extLst>
          </p:cNvPr>
          <p:cNvSpPr txBox="1"/>
          <p:nvPr/>
        </p:nvSpPr>
        <p:spPr>
          <a:xfrm>
            <a:off x="1780512" y="2984827"/>
            <a:ext cx="2346897" cy="71903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pt-BR" sz="21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em plano </a:t>
            </a:r>
          </a:p>
          <a:p>
            <a:pPr algn="ctr">
              <a:spcBef>
                <a:spcPts val="0"/>
              </a:spcBef>
            </a:pPr>
            <a:r>
              <a:rPr lang="pt-BR" sz="21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bidimensional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03EA49-158C-3E04-405B-1CF15977D734}"/>
              </a:ext>
            </a:extLst>
          </p:cNvPr>
          <p:cNvSpPr txBox="1"/>
          <p:nvPr/>
        </p:nvSpPr>
        <p:spPr>
          <a:xfrm>
            <a:off x="1229559" y="4568283"/>
            <a:ext cx="3448801" cy="1365365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pt-BR" sz="21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 que há uma inclinação</a:t>
            </a:r>
          </a:p>
          <a:p>
            <a:pPr algn="ctr">
              <a:spcBef>
                <a:spcPts val="0"/>
              </a:spcBef>
            </a:pPr>
            <a:r>
              <a:rPr lang="pt-BR" sz="21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 reta central que maximiza</a:t>
            </a:r>
          </a:p>
          <a:p>
            <a:pPr algn="ctr">
              <a:spcBef>
                <a:spcPts val="0"/>
              </a:spcBef>
            </a:pPr>
            <a:r>
              <a:rPr lang="pt-BR" sz="21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largura da faixa onde não</a:t>
            </a:r>
          </a:p>
          <a:p>
            <a:pPr algn="ctr">
              <a:spcBef>
                <a:spcPts val="0"/>
              </a:spcBef>
            </a:pPr>
            <a:r>
              <a:rPr lang="pt-BR" sz="21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há pontos dentro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EAB5F30-DA00-02BB-683C-223D25FBC3F4}"/>
              </a:ext>
            </a:extLst>
          </p:cNvPr>
          <p:cNvCxnSpPr>
            <a:cxnSpLocks/>
          </p:cNvCxnSpPr>
          <p:nvPr/>
        </p:nvCxnSpPr>
        <p:spPr>
          <a:xfrm flipH="1">
            <a:off x="7158246" y="2285998"/>
            <a:ext cx="213377" cy="3821066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A2E0C6E-B578-22C7-CFE9-5FDD19CA6B8A}"/>
              </a:ext>
            </a:extLst>
          </p:cNvPr>
          <p:cNvSpPr txBox="1"/>
          <p:nvPr/>
        </p:nvSpPr>
        <p:spPr>
          <a:xfrm>
            <a:off x="9303510" y="2389581"/>
            <a:ext cx="2363568" cy="71903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pt-BR" sz="21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 reta teria faixa</a:t>
            </a:r>
          </a:p>
          <a:p>
            <a:pPr algn="ctr">
              <a:spcBef>
                <a:spcPts val="0"/>
              </a:spcBef>
            </a:pPr>
            <a:r>
              <a:rPr lang="pt-BR" sz="21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espessura nula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9030ADBB-972D-1BBD-3932-EDEBA20D260F}"/>
              </a:ext>
            </a:extLst>
          </p:cNvPr>
          <p:cNvCxnSpPr>
            <a:cxnSpLocks/>
          </p:cNvCxnSpPr>
          <p:nvPr/>
        </p:nvCxnSpPr>
        <p:spPr>
          <a:xfrm flipH="1" flipV="1">
            <a:off x="7371623" y="2389581"/>
            <a:ext cx="1842292" cy="35951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EC23B14-FB29-24B9-BEC3-E74CBC537DC7}"/>
              </a:ext>
            </a:extLst>
          </p:cNvPr>
          <p:cNvSpPr txBox="1"/>
          <p:nvPr/>
        </p:nvSpPr>
        <p:spPr>
          <a:xfrm>
            <a:off x="9547870" y="3818322"/>
            <a:ext cx="2478280" cy="1042199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 reta maximiza a</a:t>
            </a:r>
          </a:p>
          <a:p>
            <a:pPr algn="ctr">
              <a:spcBef>
                <a:spcPts val="0"/>
              </a:spcBef>
            </a:pP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largura da faixa – é o</a:t>
            </a:r>
          </a:p>
          <a:p>
            <a:pPr algn="ctr">
              <a:spcBef>
                <a:spcPts val="0"/>
              </a:spcBef>
            </a:pP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 queremos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80CE9CB-6DE8-B846-E139-B4239DA2BCBB}"/>
              </a:ext>
            </a:extLst>
          </p:cNvPr>
          <p:cNvCxnSpPr>
            <a:cxnSpLocks/>
          </p:cNvCxnSpPr>
          <p:nvPr/>
        </p:nvCxnSpPr>
        <p:spPr>
          <a:xfrm flipH="1">
            <a:off x="8178595" y="4306032"/>
            <a:ext cx="1258224" cy="442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57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9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2F7A-09FF-7F4F-F779-87AF97151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A27AC3E-EE73-1AC2-A8E2-5C4A5C7DD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Máquina Vetorial de Suporte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292B4E2F-45FB-C009-9D8C-F194E2E62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13317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Quem define a faixa não são todos os pontos dos dados de treinamento, mas sim os pontos mais próximos da fronteira.</a:t>
            </a: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8C8EC7-7A94-27EF-61AA-AE4C617A3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7" y="2483315"/>
            <a:ext cx="5368946" cy="416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20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27CEA-97D4-D30E-8B0D-C70657CA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02F3910D-BE3B-8847-2967-3827A171789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55" r="12955"/>
          <a:stretch/>
        </p:blipFill>
        <p:spPr/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C79487B-8227-7E3B-3443-D86ACD09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Módulo 3 – Engenharia de Variáveis </a:t>
            </a:r>
            <a:r>
              <a:rPr lang="pt-BR" sz="4000" i="1" dirty="0"/>
              <a:t>(Feature Engineering)</a:t>
            </a:r>
          </a:p>
        </p:txBody>
      </p:sp>
    </p:spTree>
    <p:extLst>
      <p:ext uri="{BB962C8B-B14F-4D97-AF65-F5344CB8AC3E}">
        <p14:creationId xmlns:p14="http://schemas.microsoft.com/office/powerpoint/2010/main" val="240843107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B6305-B8A2-0571-9550-3CC1D1BD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4EDE35C-7A73-0747-4D3C-BC18A930D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00F2AC6-335C-0C21-E6C0-9376C832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</a:t>
            </a:r>
            <a:r>
              <a:rPr lang="pt-BR" altLang="pt-BR" sz="26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qualidade das variáveis (</a:t>
            </a:r>
            <a:r>
              <a:rPr lang="pt-BR" altLang="pt-BR" sz="2600" i="1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features</a:t>
            </a:r>
            <a:r>
              <a:rPr lang="pt-BR" altLang="pt-BR" sz="26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do conjunto de treinamento normalmente influencia mais o desempenho do modelo do que a escolha do algoritmo (árvore, regressão logística etc.).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i="1" kern="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“Garbage in, garbage out”.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Engenharia de Variáveis</a:t>
            </a:r>
            <a:r>
              <a:rPr lang="pt-BR" altLang="pt-BR" sz="26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(Feature Engineering) 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o processo de preparar e transformar as variáveis que serão utilizadas por um algoritmo de Machine Learning.</a:t>
            </a:r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422477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E0C2-1A61-4BBB-7A57-ADCF3BB3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1720ECD-6C08-9458-998F-CAEFED608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6A4A783-295F-07E5-E495-6E7329DE4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Feature Engineering 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envolve: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Selecionar variáveis relevantes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Criar novas variáveis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Transformar variáveis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Combinar variáveis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Remover variáveis inúteis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Reduzir dimensionalidade (do espaço amostral) quando necessário</a:t>
            </a:r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25395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3C37-8B2D-133F-3F3E-255F65B8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8DC666DD-AEC5-0B31-ADA0-E8B9CEF77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7292D62-C7B7-CC0F-AA55-B93AF567D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fluxo de modelagem fica então: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Obtenção de dados brutos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Limpeza dos dados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Aplicação de técnicas de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Feature Engineering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Preparação e treinamento do modelo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kern="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e refinamento do modelo</a:t>
            </a: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45846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9F7F-1F98-8DB9-6C0D-9B234DF3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8ACEBE8-3D85-46E8-1466-021D592B2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3C8B854-7625-706C-5A9B-678424AD3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das variáveis candidatas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Nem toda variável disponível deve entrar no modelo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preciso julgar quais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possuem relação com o problema de negócio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– para prever acidentes automobilísticos: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Podem ser variáveis úteis: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Idade do condutor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Tempo de habilitação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Histórico de acidentes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Quilometragem do veículo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 são úteis: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RG do condutor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Placa do veículo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19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70687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148D-6641-05D2-4FA4-C634DB6C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3642EAFA-80A9-E2A7-B9AF-CDD2680C4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E9920BC-F562-53AB-CC6A-89385105F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das variáveis candidatas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Devemos também remover: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Variáveis redundantes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Exemplos: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Data de nascimento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Idade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Variáveis com muitos valores ausentes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Exemplos: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Estado civil com 80% dos campos vazios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Renda que não se deseja informar</a:t>
            </a:r>
          </a:p>
        </p:txBody>
      </p:sp>
    </p:spTree>
    <p:extLst>
      <p:ext uri="{BB962C8B-B14F-4D97-AF65-F5344CB8AC3E}">
        <p14:creationId xmlns:p14="http://schemas.microsoft.com/office/powerpoint/2010/main" val="226667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5BC25-7224-8D7A-4A52-0DDF51D3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7CD4A3B-F5A3-A8D3-C43E-92A3A0AD1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4B53820-111B-C401-A90E-E92ED5C6C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Devemos também remover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Variáveis com baixa variabilidade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Exemplos: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Sexo com 98,5% sendo masculino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Estado de saúde “bom” para todos os indivíduos do grupo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Variáveis altamente correlacionadas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 (melhor manter uma só):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Peso em Kg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Peso em libras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19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19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72859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74DD-42C6-9FF7-59AE-4176B4B3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696814E-28B7-A2EB-6758-943AC3991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689B08B-DEDC-4F9C-1E74-4DF09320D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das variáveis candidatas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900113" lvl="2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preencher valores ausentes corretamente:</a:t>
            </a:r>
          </a:p>
          <a:p>
            <a:pPr marL="1357313" lvl="3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variáveis com poucos valores ausentes, podemos adotar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mediana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</a:t>
            </a:r>
            <a:r>
              <a:rPr lang="pt-BR" sz="23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somente dos dados de treinamento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para preenchê-los.</a:t>
            </a:r>
          </a:p>
          <a:p>
            <a:pPr marL="1357313" lvl="3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Apuramos então a mediana dos dados da partição de treinamento (usando o Excel, consegue-se isto com =MED(intervalo de valores)).</a:t>
            </a:r>
          </a:p>
          <a:p>
            <a:pPr marL="1357313" lvl="3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os dados de teste (retenção), </a:t>
            </a:r>
            <a:r>
              <a:rPr lang="pt-BR" sz="23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calculamos sua mediana, mas sim preenchemos seus vazios </a:t>
            </a:r>
            <a:r>
              <a:rPr lang="pt-BR" sz="23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 o mesmo valor de mediana usada para os dados de treinamento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para evitar o fenômeno do </a:t>
            </a:r>
            <a:r>
              <a:rPr lang="pt-BR" sz="23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vazamento </a:t>
            </a:r>
            <a:r>
              <a:rPr lang="pt-BR" sz="23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(data leakage).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600" i="1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18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BC468-1623-884E-65D7-9567B747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49F0BBC-FE14-A57D-CC76-D144D0523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A9DC47C-9136-71FA-7828-4C318DAB7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das variáveis candidatas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900113" lvl="2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preencher valores ausentes corretamente </a:t>
            </a:r>
            <a:r>
              <a:rPr 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357313" lvl="3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que é o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vazamento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?</a:t>
            </a:r>
          </a:p>
          <a:p>
            <a:pPr marL="1814513" lvl="4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Vazamento é permitir que informações dos dados de teste influenciem o treinamento ou o pré-processamento do modelo. Isso não queremos, pois os dados de teste devem representar dados que o modelo encontrará no futuro e que não participaram da definição das regras utilizadas pelo modelo.</a:t>
            </a:r>
          </a:p>
        </p:txBody>
      </p:sp>
    </p:spTree>
    <p:extLst>
      <p:ext uri="{BB962C8B-B14F-4D97-AF65-F5344CB8AC3E}">
        <p14:creationId xmlns:p14="http://schemas.microsoft.com/office/powerpoint/2010/main" val="424655417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2F97F-96D6-B997-EE4A-02CF34E3F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D75AAF9-842E-456A-11EA-FE03EE622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78205891-D353-E921-019A-A4E55EBE4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das variáveis candidatas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900113" lvl="2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preencher valores ausentes corretamente </a:t>
            </a:r>
            <a:r>
              <a:rPr 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814513" lvl="4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Mas preencher os vazios dos dados de teste com a mediana dos dados de treinamento não é permitir que os dados de teste “espionem” a modelagem?</a:t>
            </a:r>
          </a:p>
          <a:p>
            <a:pPr marL="1814513" lvl="4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Não, pois a mediana utilizada no teste foi calculada exclusivamente a partir dos dados de treinamento. Ela é um parâmetro aprendido durante o treinamento e já está definido antes de os dados de teste serem utilizados. O teste apenas recebe e aplica essa regra, sem fornecer qualquer informação para sua definição.</a:t>
            </a:r>
            <a:endParaRPr lang="pt-BR" alt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33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E76C-3E50-88C5-121D-675AC97BB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6E11175-8691-3793-7B80-BEEDF4CF1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D54FFED-FFA8-688E-9AC8-110FD4A2B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das variáveis candidatas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900113" lvl="2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preencher valores ausentes corretamente </a:t>
            </a:r>
            <a:r>
              <a:rPr 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814513" lvl="4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preenchermos os vazios dos dados de teste com a mediana calculada a partir dos próprios dados de teste,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estaremos usando informações do teste para definir como ele será pré-processado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 Isso é uma forma de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vazamento de pré-processamento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 Não podemos usar o teste para descobrir as regras que serão usadas para processá-lo.</a:t>
            </a:r>
          </a:p>
          <a:p>
            <a:pPr marL="1814513" lvl="4" indent="-2667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Pense na situação de chegar UM indivíduo novo com o valor vazio: não haveria uma "mediana dos dados de teste" para preenchê-lo. Usamos a mediana que foi calculada no treinamento e já está disponível, exatamente como faríamos com qualquer novo indivíduo que chegasse no futuro.</a:t>
            </a:r>
            <a:endParaRPr lang="pt-BR" altLang="pt-BR" sz="2000" i="1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18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48F6-1727-EF59-E794-DA58249C0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3EDA195-2E34-27D9-B531-4B7590588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4FA6585-8D11-F074-E916-9948E567B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1 - Seleção baseada em conhecimento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Especialistas opinam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 exemplo, um médico intui que idade, pressão arterial e nível de colesterol são importantes para um contexto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Aqui entra um pouco o caráter “de arte” da Ciência de Dados</a:t>
            </a:r>
          </a:p>
        </p:txBody>
      </p:sp>
    </p:spTree>
    <p:extLst>
      <p:ext uri="{BB962C8B-B14F-4D97-AF65-F5344CB8AC3E}">
        <p14:creationId xmlns:p14="http://schemas.microsoft.com/office/powerpoint/2010/main" val="5442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F8B0-C23C-9FC7-2D2F-5454A5EC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DEEB676-B008-FB63-D217-24A8B63AC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51FAD91-09F4-2931-98B1-F5EC72733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Correlação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Qui-quadrado (Chi-square)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ANOVA (análise de variância)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Mutual Information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Information Gain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22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D74B-917B-E302-DAA3-A8FDC4CA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AD14095-70AE-3048-4A10-990105D88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57F9D75-CECC-A9B8-8B1A-A9AA483E9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Correlação 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mede o quanto duas features variam juntas.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queremos prever um valor numérico (regressão), procuramos variáveis com maior correlação com a variável resposta.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182074-6D7B-B485-A16C-AD6646257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754" y="2882286"/>
            <a:ext cx="4535549" cy="17782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DA57B32-1B1E-3008-4DA7-45BD516B78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699" y="2882286"/>
            <a:ext cx="4612216" cy="177820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624C824-3F53-AA9F-78E4-663D35BD8665}"/>
              </a:ext>
            </a:extLst>
          </p:cNvPr>
          <p:cNvSpPr txBox="1"/>
          <p:nvPr/>
        </p:nvSpPr>
        <p:spPr>
          <a:xfrm>
            <a:off x="2654493" y="4669542"/>
            <a:ext cx="1916069" cy="36688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Forte correlação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E87FA9F-C167-4D92-6F0E-EA6484A57ED1}"/>
              </a:ext>
            </a:extLst>
          </p:cNvPr>
          <p:cNvSpPr txBox="1"/>
          <p:nvPr/>
        </p:nvSpPr>
        <p:spPr>
          <a:xfrm>
            <a:off x="7659772" y="4669542"/>
            <a:ext cx="1916069" cy="36688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 correlação</a:t>
            </a:r>
          </a:p>
        </p:txBody>
      </p:sp>
    </p:spTree>
    <p:extLst>
      <p:ext uri="{BB962C8B-B14F-4D97-AF65-F5344CB8AC3E}">
        <p14:creationId xmlns:p14="http://schemas.microsoft.com/office/powerpoint/2010/main" val="11261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A6A59-11C8-1B89-ABD4-99476E8C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FAEE6D5-6F3B-FD18-F0F4-ECD73580EE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2CAB674-829E-9373-F3BD-3DFAEAA3A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Correlação 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como medir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Coeficiente de correlação de Pearson 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(para duas </a:t>
            </a:r>
            <a:r>
              <a:rPr lang="pt-BR" altLang="pt-BR" sz="21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features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x e y):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Uma IA generativa ou o Excel pode calcular para você.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Supondo </a:t>
            </a:r>
            <a:r>
              <a:rPr lang="pt-BR" altLang="pt-BR" sz="21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Valor_Compras 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coluna D e </a:t>
            </a:r>
            <a:r>
              <a:rPr lang="pt-BR" altLang="pt-BR" sz="21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Número_Compras 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coluna E, a correlação no Excel é apurada com </a:t>
            </a:r>
            <a:r>
              <a:rPr lang="pt-BR" altLang="pt-BR" sz="21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=CORREL(D2:D16;E2:E16)</a:t>
            </a:r>
          </a:p>
          <a:p>
            <a:pPr marL="1814513" lvl="4" indent="-285750" defTabSz="685739" eaLnBrk="1" hangingPunct="1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ü"/>
            </a:pPr>
            <a:r>
              <a:rPr lang="pt-BR" altLang="pt-BR" sz="18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 = +1 → correlação linear positiva perfeita</a:t>
            </a:r>
          </a:p>
          <a:p>
            <a:pPr marL="1814513" lvl="4" indent="-285750" defTabSz="685739" eaLnBrk="1" hangingPunct="1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ü"/>
            </a:pPr>
            <a:r>
              <a:rPr lang="pt-BR" altLang="pt-BR" sz="18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 = 0 → nenhuma correlação linear</a:t>
            </a:r>
          </a:p>
          <a:p>
            <a:pPr marL="1814513" lvl="4" indent="-285750" defTabSz="685739" eaLnBrk="1" hangingPunct="1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ü"/>
            </a:pPr>
            <a:r>
              <a:rPr lang="pt-BR" altLang="pt-BR" sz="18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 = −1 → correlação linear negativa perfeita</a:t>
            </a:r>
            <a:endParaRPr lang="pt-BR" altLang="pt-BR" sz="18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06BF64-68FB-2572-3D79-00F78D491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7706" y="3084523"/>
            <a:ext cx="4191851" cy="119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2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F8AB8-AC29-7025-A0CC-5EF811101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778B362-D891-7DDF-7A30-A73F0302A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F1ED5EF-40F9-9C8B-48A0-404C7BCE6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31620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Qui-quadrado 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avalia a associação entre uma variável </a:t>
            </a:r>
            <a:r>
              <a:rPr lang="pt-BR" altLang="pt-BR" sz="22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categórica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e a classe.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D5E083B-50AF-DF65-1D6C-9F6D32A1F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367" y="2859190"/>
            <a:ext cx="4818119" cy="209626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C4CE3BE-F3DC-E08A-5823-09D99B1C1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566" y="2828207"/>
            <a:ext cx="5011989" cy="178668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F919286-482C-73A8-1049-32A63FF01CF0}"/>
              </a:ext>
            </a:extLst>
          </p:cNvPr>
          <p:cNvSpPr txBox="1"/>
          <p:nvPr/>
        </p:nvSpPr>
        <p:spPr>
          <a:xfrm>
            <a:off x="2654493" y="4807972"/>
            <a:ext cx="1916069" cy="36688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Associação fraca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53329F0-FC60-8945-033D-3CBDEC739858}"/>
              </a:ext>
            </a:extLst>
          </p:cNvPr>
          <p:cNvSpPr txBox="1"/>
          <p:nvPr/>
        </p:nvSpPr>
        <p:spPr>
          <a:xfrm>
            <a:off x="7467378" y="4748980"/>
            <a:ext cx="1916069" cy="36688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Associação forte</a:t>
            </a:r>
          </a:p>
        </p:txBody>
      </p:sp>
    </p:spTree>
    <p:extLst>
      <p:ext uri="{BB962C8B-B14F-4D97-AF65-F5344CB8AC3E}">
        <p14:creationId xmlns:p14="http://schemas.microsoft.com/office/powerpoint/2010/main" val="382030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E67C-AEC6-A147-9690-02C61C5F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BA6C387-9EC8-5A8C-76C0-E9115A942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3563995-9504-6075-EAC5-547478851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31620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Qui-quadrado 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como apurar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Uma IA generativa pode realizar o teste para você.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Prompt sugerido: </a:t>
            </a:r>
            <a:r>
              <a:rPr lang="pt-BR" altLang="pt-BR" sz="21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“Para a variável categórica da coluna X, apure sua força de associação com a classe que se encontra na coluna Y, trazendo o valor de V de Cramér”.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classe </a:t>
            </a:r>
            <a:r>
              <a:rPr lang="pt-BR" altLang="pt-BR" sz="21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precisa estar representada com 0 / 1.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 de Cramér 0 – nenhuma associação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 de Cramér 1 – associação perfeita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60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4BBAE-0A9D-BD28-63CC-70155607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239278E-C40B-200A-E6C5-BB67508BB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CC3C242-5381-CFF7-4C6E-78FE63D2B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ANOVA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avalia o poder discriminatório de uma </a:t>
            </a:r>
            <a:r>
              <a:rPr lang="pt-BR" altLang="pt-BR" sz="22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feature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2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numérica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1C04E04-F25B-38C8-5763-078F0C79B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4805" y="2996864"/>
            <a:ext cx="1366764" cy="265233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76BF3ED-9907-AAA2-3A28-23EBE1076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126" y="3011044"/>
            <a:ext cx="1260516" cy="265233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85E375B-8815-43CD-B0BC-D74E7AD1D647}"/>
              </a:ext>
            </a:extLst>
          </p:cNvPr>
          <p:cNvSpPr txBox="1"/>
          <p:nvPr/>
        </p:nvSpPr>
        <p:spPr>
          <a:xfrm>
            <a:off x="5583245" y="3430508"/>
            <a:ext cx="5677142" cy="1903717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Notas de matemática X classe de aprovação =&gt;</a:t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Possui forte caráter discriminatório, pois a diferença de médias é grande em cada classe.</a:t>
            </a:r>
          </a:p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 seja, esta feature numérica apresenta comportamento significativamente diferente entre as classes</a:t>
            </a:r>
          </a:p>
        </p:txBody>
      </p:sp>
    </p:spTree>
    <p:extLst>
      <p:ext uri="{BB962C8B-B14F-4D97-AF65-F5344CB8AC3E}">
        <p14:creationId xmlns:p14="http://schemas.microsoft.com/office/powerpoint/2010/main" val="106304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BA8B2-0AC5-6347-EEB5-2D41C92A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0509024-428C-D2BA-90C9-7C0E8360F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BBF08E3-4277-E6FB-FACE-14FB1F5AF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ANOVA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como apurar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Uma IA generativa pode realizar o teste para você.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Prompt sugerido: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pt-BR" altLang="pt-BR" sz="22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“</a:t>
            </a:r>
            <a:r>
              <a:rPr lang="pt-BR" altLang="pt-BR" sz="21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a variável numérica da coluna X, avalie se existe diferença estatisticamente significativa entre suas médias nas diferentes classes da coluna Y, aplicando o teste ANOVA de uma via. Apresente o p-valor e o eta quadrado (η²), informado se existe associação estatisticamente significativa entre a variável e a classe, considerando nível de significância de 5%”.</a:t>
            </a:r>
          </a:p>
        </p:txBody>
      </p:sp>
    </p:spTree>
    <p:extLst>
      <p:ext uri="{BB962C8B-B14F-4D97-AF65-F5344CB8AC3E}">
        <p14:creationId xmlns:p14="http://schemas.microsoft.com/office/powerpoint/2010/main" val="265489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0DBC3-0204-ACB0-4BED-5DDC33B6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07D420E0-9D3B-495F-A286-7D66A9927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5E3560A-4FBE-62F6-DA67-4CDB74C43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ANOVA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como apurar – cont.</a:t>
            </a:r>
          </a:p>
          <a:p>
            <a:pPr marL="1527300" lvl="3" indent="-270000" defTabSz="685739"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teste trará valores de p e </a:t>
            </a:r>
            <a:r>
              <a:rPr lang="el-G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η²</a:t>
            </a: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suficientes para nossa interpretação</a:t>
            </a:r>
          </a:p>
          <a:p>
            <a:pPr marL="1984500" lvl="4" indent="-270000" defTabSz="685739" eaLnBrk="1" hangingPunct="1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p &gt; 0,05 → a feature não apresenta associação estatisticamente significativa com a classe → marque como "Não significativa".</a:t>
            </a:r>
          </a:p>
          <a:p>
            <a:pPr marL="1984500" lvl="4" indent="-270000" defTabSz="685739" eaLnBrk="1" hangingPunct="1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p ≤ 0,05 → a feature é estatisticamente significativa → prossiga.</a:t>
            </a:r>
          </a:p>
          <a:p>
            <a:pPr marL="1984500" lvl="4" indent="-270000" defTabSz="685739" eaLnBrk="1" hangingPunct="1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as features significativas, use η² (que varia de 0 a 1) para fazer o ranking:</a:t>
            </a:r>
          </a:p>
          <a:p>
            <a:pPr marL="2441700" lvl="5" indent="-270000" defTabSz="685739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η² maior → maior poder discriminatório</a:t>
            </a:r>
          </a:p>
          <a:p>
            <a:pPr marL="2441700" lvl="5" indent="-270000" defTabSz="685739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η² menor → menor poder discriminatório</a:t>
            </a:r>
          </a:p>
          <a:p>
            <a:pPr marL="2441700" lvl="5" indent="-270000" defTabSz="685739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99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B96D-2306-1691-85FC-48F19F98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BC022BA-524E-9A33-35A7-3EAFA45A9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E18FAC0-2266-4E9C-92B5-562A8B7E8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ANOVA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como apurar – cont.</a:t>
            </a:r>
          </a:p>
          <a:p>
            <a:pPr marL="1527300" lvl="3" indent="-270000" defTabSz="685739" eaLnBrk="1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</a:t>
            </a:r>
          </a:p>
          <a:p>
            <a:pPr marL="2441700" lvl="5" indent="-270000" defTabSz="685739"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9E2E60-A8BD-D617-C9AF-8B3277184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1396" y="3097337"/>
            <a:ext cx="8861781" cy="261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9199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691F-EA96-04F8-B893-D0532B75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FEC6E94-63E9-B830-B968-F0602D04D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66D80B5-49A6-2486-7F14-BEA985422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i="1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Mutual information 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avalia quanto conhecer sobre uma variável reduz a incerteza sobre a classe.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b="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Obs.: a Correlação procura relações lineares, enquanto que a Informação Mútua mede qualquer tipo de dependência, inclusive relações complexas e não lineares.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Ex.: 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Idade ajuda muito a predizer resistência física.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Número do apartamento não ajuda a predizer resistência física.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46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3C95-4CA7-ED95-E0FC-B34B5E6D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370CDAE-70C6-7353-4A5F-6C8551BF9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DE119C4-F9F3-2552-B3FF-0B6622BC5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i="1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Information Gain </a:t>
            </a: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avalia se a divisão de um conjunto com base em uma variável produz subconjuntos com menor entropia (mais homogêneos).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Trata-se do GI (Ganho de Informação) da segmentação supervisionada por árvores de decisão.</a:t>
            </a:r>
          </a:p>
        </p:txBody>
      </p:sp>
    </p:spTree>
    <p:extLst>
      <p:ext uri="{BB962C8B-B14F-4D97-AF65-F5344CB8AC3E}">
        <p14:creationId xmlns:p14="http://schemas.microsoft.com/office/powerpoint/2010/main" val="119902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249E-C0BC-0476-C444-67F2FEA9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1DAF9E7-B162-A676-92C4-B920A631C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7E184E4-25B0-D64E-BCA5-75D2EB00D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22664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2 - Seleção estatística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 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(resumo)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58F2DA0-45AE-58BD-156C-D101213D7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810" y="2239925"/>
            <a:ext cx="8646876" cy="412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6323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BDC9-F764-260E-E5E4-0EFBE856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E277FB6-A6C9-EAE5-9A0E-ACA2F3E8D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042C29E-D538-5B71-FDE9-5C4A10163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entre as candidatas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endParaRPr lang="pt-BR" alt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3 - Seleção automática pelo algoritmo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Árvores de decisão / Random forests(*) naturalmente checam a importância das variáveis no caminho da predição da classe.</a:t>
            </a: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(*) </a:t>
            </a:r>
            <a:r>
              <a:rPr lang="pt-BR" altLang="pt-BR" sz="2200" b="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Veremos mais adiante a técnica.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49612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3A6E-64E1-4F20-EA16-3BED8FEA2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BBBEA1E-933B-5D77-5DAD-B9C9BD933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420C721-C697-8765-1EC9-7EC09953D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Definição das variáveis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Definir uma feature significa decidir: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Tipo da variável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Escala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Representação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 variável “idade”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Pode ser: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37 (não categórica)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faixas: 18-25, 26-40, 40-60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Outro exemplo: transformar data de nascimento em idade pode ser muito mais útil.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7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5928-E94C-CF82-B859-6D6F23BB4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01740896-5D62-E7DB-A43E-A0E6FB1DC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BBB9B88-54F2-9EC9-6D41-7A3DA9ACB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1001169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Definição das variáveis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Atenção! 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problemas de classificação, é conveniente transformar variáveis numéricas em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faixas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(categorias), especialmente quando os valores possuem grande variedade e quando se deseja uma árvore mais simples e interpretável.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Variáveis numéricas contínuas (não categóricas) podem gerar muitos pontos de corte possíveis, aumentando demais a complexidade da árvore de classificação e, se não houver controle de profundidade ou poda, isto pode favorecer fortemente o sobreajuste.</a:t>
            </a: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4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7F48-7852-C198-750D-03F1A509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B4124896-E96D-AB4F-0783-F9F8483ED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8F64C66-D28C-0974-7AC4-6881E8D3D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4365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Recombinação de variáveis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Consiste em trocar um conjunto de variáveis por uma mais representativa e útil para o problema de negócio.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partir de “peso” e “altura”, criar “índice de massa corporal (IMC)”, onde IMC = peso / altura</a:t>
            </a:r>
            <a:r>
              <a:rPr lang="pt-BR" alt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partir de “data da compra”, criar “dias desde a última compra”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partir de “renda” e “quantidade de moradores”, criar “renda per capita”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partir de “valor de compra” e “número de compras”, criar “ticket médio”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42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5D18-D901-4792-2314-1AB2B83CF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50BF325-FBF2-4D92-A1DB-13486FABD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A7E4BBC-BC78-7517-622F-093DAAD18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4365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Transformação de variáveis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alguns casos, é importante mudar a representação de uma variável para que os modelos que a usam funcione melhor.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Técnicas: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Normalização (*)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Criação de faixas (para variáveis não categóricas)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One-hot encoding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(*)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Binarização (ex.: “maior de idade” SIM ou NÃO)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Colocação em uma mesma escala / transformação logarítmica (para situações de muita assimetria de valores )</a:t>
            </a: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(*)</a:t>
            </a:r>
            <a:r>
              <a:rPr lang="pt-BR" altLang="pt-BR" sz="2300" b="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Vimos em Regressão Logística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B5CAE76-A9D8-6E17-2C13-0641D0CDA690}"/>
              </a:ext>
            </a:extLst>
          </p:cNvPr>
          <p:cNvGrpSpPr/>
          <p:nvPr/>
        </p:nvGrpSpPr>
        <p:grpSpPr>
          <a:xfrm>
            <a:off x="8022433" y="5269585"/>
            <a:ext cx="2538489" cy="484734"/>
            <a:chOff x="8037181" y="5240089"/>
            <a:chExt cx="2538489" cy="484734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E22CCA6D-075F-AE30-3A69-04F316A901DB}"/>
                </a:ext>
              </a:extLst>
            </p:cNvPr>
            <p:cNvSpPr txBox="1"/>
            <p:nvPr/>
          </p:nvSpPr>
          <p:spPr>
            <a:xfrm>
              <a:off x="8125668" y="5240089"/>
              <a:ext cx="2450002" cy="440496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000"/>
                </a:spcBef>
              </a:pPr>
              <a:r>
                <a:rPr lang="pt-BR" sz="20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Log Var = ln (1 + Var) </a:t>
              </a:r>
            </a:p>
          </p:txBody>
        </p:sp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FABED31B-8E49-8E34-8865-C1CFD27F3875}"/>
                </a:ext>
              </a:extLst>
            </p:cNvPr>
            <p:cNvSpPr/>
            <p:nvPr/>
          </p:nvSpPr>
          <p:spPr>
            <a:xfrm>
              <a:off x="8037181" y="5284327"/>
              <a:ext cx="2448922" cy="440496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9F9D1C70-861B-232C-A982-F1EC822E6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803" y="2992541"/>
            <a:ext cx="1449573" cy="65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4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980B4-A99D-40D3-D792-3C146894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39CC036-1D09-14D5-3193-453BB9AF4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1BA790B-ECF3-2507-EE90-372DF988B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4365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Descarte de variáveis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Consiste em desconsiderar variáveis que não têm ou que perderam o sentido.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Descartar peso e altura, quando da criação do IMC. 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Descartar data de nascimento e adotar idade.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Descartar valor total de vendas e número de vendas e adotar ticket médio.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Remover dos dados de treinamento variáveis eu não influenciam em nada no problema de negócio.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4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D892-4B1E-FCF1-4C81-D128F6DA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E017D41A-DF80-0AA8-B87F-B551D8B9F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4E991-FDA4-A50F-A82D-4EE27DD9D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4365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Partição da base de dados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Consiste em dividir os dados em: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Treinamento – serão usados na modelagem.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Teste (retenção) – não participam da modelagem e serão usados para checar quanto a predição gerada pela modelagem se comporta bem com dados que até então não foram “vistos”.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 seja, é checado se o modelo generaliza bem para o mundo real (se ele está com pouco sobreajuste).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83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E2A1F-1297-5AAF-2AC8-B4DC9067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1E45494-FF10-99C7-9D47-390C718D4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0CBE884-B541-374E-1F2C-C345A3539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05211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Trata-se de uma técnica de redução de dimensionalidade.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Machine Learning, cada variável é uma dimensão.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Duas features (por exemplo “idade” e “salário”) podem ser plotadas em um espaço então de duas dimensões.</a:t>
            </a: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EFBE1949-2A91-0943-6579-C93F7F37F12A}"/>
              </a:ext>
            </a:extLst>
          </p:cNvPr>
          <p:cNvCxnSpPr/>
          <p:nvPr/>
        </p:nvCxnSpPr>
        <p:spPr>
          <a:xfrm>
            <a:off x="4134468" y="6121812"/>
            <a:ext cx="3008671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F7B135C0-F9DE-C545-AE8E-BA81BE1D7422}"/>
              </a:ext>
            </a:extLst>
          </p:cNvPr>
          <p:cNvCxnSpPr>
            <a:cxnSpLocks/>
          </p:cNvCxnSpPr>
          <p:nvPr/>
        </p:nvCxnSpPr>
        <p:spPr>
          <a:xfrm flipV="1">
            <a:off x="4134464" y="3834580"/>
            <a:ext cx="0" cy="228723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DFDC35B-6B8C-83CD-14D7-058368B5521B}"/>
              </a:ext>
            </a:extLst>
          </p:cNvPr>
          <p:cNvCxnSpPr/>
          <p:nvPr/>
        </p:nvCxnSpPr>
        <p:spPr>
          <a:xfrm flipV="1">
            <a:off x="4380270" y="4483507"/>
            <a:ext cx="2389239" cy="13126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1E3658-88E0-B846-D6AB-EAD8265FECE5}"/>
              </a:ext>
            </a:extLst>
          </p:cNvPr>
          <p:cNvSpPr txBox="1"/>
          <p:nvPr/>
        </p:nvSpPr>
        <p:spPr>
          <a:xfrm>
            <a:off x="3458008" y="3991328"/>
            <a:ext cx="755116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r"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Idade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189629-DE72-60B5-9187-C98AC13450C4}"/>
              </a:ext>
            </a:extLst>
          </p:cNvPr>
          <p:cNvSpPr txBox="1"/>
          <p:nvPr/>
        </p:nvSpPr>
        <p:spPr>
          <a:xfrm>
            <a:off x="6281814" y="6104938"/>
            <a:ext cx="872135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r"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Salário</a:t>
            </a:r>
          </a:p>
        </p:txBody>
      </p:sp>
    </p:spTree>
    <p:extLst>
      <p:ext uri="{BB962C8B-B14F-4D97-AF65-F5344CB8AC3E}">
        <p14:creationId xmlns:p14="http://schemas.microsoft.com/office/powerpoint/2010/main" val="368469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28CB-9EBF-3331-D9B0-1C7EBA7F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3B878C0-BC33-370A-00F1-7429B3E83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04C7DD3-46BC-CE24-CB48-6C7F7D218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05211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problema com muitas dimensões: quanto maior o número de variáveis: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Maior o tempo de treinamento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Maior o consumo de memória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Maior o risco de sobreajuste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Maior a quantidade de dados necessária para treinar bem o modelo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Maior a chance de existirem variáveis redundantes ou irrelevantes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Esse fenômeno é conhecido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maldição da dimensionalidade (</a:t>
            </a:r>
            <a:r>
              <a:rPr lang="pt-BR" altLang="pt-BR" sz="25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Curse of Dimensionality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4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04BE4-BE39-A1DC-A8CD-2FDAD76F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5004822-6E08-9B36-CD5F-79971C936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0F4AB57-D670-4A43-8536-36490B19B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05211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reduzir as dimensões, lançamos mão de: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Seleção de variáveis (escolhemos as que podem ser mais relevantes para o problema de negócio, </a:t>
            </a:r>
            <a:r>
              <a:rPr lang="pt-BR" alt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eliminando as inúteis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Extração de variáveis – aqui entra o PCA.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PCA, reduzimos as dimensões mantendo grande parte da informação, pois as variáveis reduzidas (trocadas por uma que as agrupa) possuem correlação alta.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As variáveis suprimidas, no PCA,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implicam na </a:t>
            </a:r>
            <a:r>
              <a:rPr lang="pt-BR" altLang="pt-BR" sz="2500" u="sng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criação de uma nova dimensão </a:t>
            </a: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que passa a representá-las. 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diferente então da seleção de variáveis.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38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F18D-FABB-FC57-3BFE-00FCDE393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8CA2A33-73A2-71FE-B600-20819278F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ED8AB84-4453-C8A8-1854-3BA663229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1 de PCA – alunos e desempenho escolar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Consideremos o quadro de notas de alunos em disciplinas: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Perceba que as quatro notas tendem a subir e descer juntas.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Existe uma dimensão subjacente que poderíamos chamar de “desempenho geral em Exatas“.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2B0C61-2FCD-5607-FF7B-9428E6489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708" y="2713094"/>
            <a:ext cx="7457015" cy="206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8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5919-5397-92C0-EE41-14D4359C9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0AF5BBA-136B-78EB-5E8F-B1755E4363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7931BD9-8C0A-FEB4-C50A-D4C67AC65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2 de PCA – características físicas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Podemos agrupar as dimensões: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Peso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Altura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IMC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Circunferência abdominal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Percentual de gordura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Massa muscular</a:t>
            </a: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        </a:t>
            </a: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“composição corporal”, calculada de alguma forma.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Perceba que as quatro notas tendem a subir e descer juntas.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Existe uma dimensão subjacente que poderíamos chamar "Desempenho geral em Exatas“.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solidFill>
                <a:srgbClr val="FF000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93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C9AF5-898B-CD45-6979-8CEF260D3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ED8DD074-9D9B-2D21-59EC-4D0B10292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11270A4-079B-4710-AEE7-28E19E7E5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3 de PCA – clientes de um banco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Há várias dimensões em jogo, que podem estar correlacionadas: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Renda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Patrimônio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Limite do cartão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dos investimentos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Gastos mensais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Número de cartões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PCA pode descobrir que grande parte da variação dos clientes está relacionada a uma dimensão que poderíamos considerar como “poder financeiro“.</a:t>
            </a:r>
          </a:p>
        </p:txBody>
      </p:sp>
    </p:spTree>
    <p:extLst>
      <p:ext uri="{BB962C8B-B14F-4D97-AF65-F5344CB8AC3E}">
        <p14:creationId xmlns:p14="http://schemas.microsoft.com/office/powerpoint/2010/main" val="135795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7EBE5-F4B5-AA1E-A157-9C3A75C2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8008C3F-0E9F-2C0C-FFE4-6EC5339A4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1E53CF5-7D10-9EF6-CBCA-70AC8C239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4 de PCA – imagens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Imagine uma imagem em preto e branco de 28 × 28 pixels.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Cada pixel é uma variável. Portanto, temos 28 × 28 = 784 variáveis.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Uma imagem de um número "7", por exemplo, seria representada por 784 valores. Há então 784 dimensões.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PCA pode transformar essas 784 variáveis em, por exemplo, 50 que consigam representar grande parte das características necessárias para distinguir as imagens de um número.</a:t>
            </a: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4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3FB8-DA3A-3C97-20C0-073820BF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83F5A6F-21AF-53BC-1FAD-65B0161F8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7CFB89F3-80C5-AD00-A04E-D907CE453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5 de PCA – sensores industriais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Considere o conjunto de grandezas medidas: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Temperatura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Pressão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Ruído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Corrente elétrica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Tensão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Se, por exemplo, temperatura, pressão e ruído estiverem muito correlacionados, poderão motivar uma redução para uma dimensão “energia do fluido circulante”.</a:t>
            </a:r>
          </a:p>
        </p:txBody>
      </p:sp>
    </p:spTree>
    <p:extLst>
      <p:ext uri="{BB962C8B-B14F-4D97-AF65-F5344CB8AC3E}">
        <p14:creationId xmlns:p14="http://schemas.microsoft.com/office/powerpoint/2010/main" val="79698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F0A7-8D29-CD04-0D0A-C42893A0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770CC8AA-678A-6C2C-9B11-289824483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4621F82-A00B-BBEA-5967-E10581C22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6 de PCA – mercado financeiro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Imagine que temos cotações dos valores das ações de: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Petrobras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Vale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Itaú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Bradesco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Banco do Brasil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Weg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Ambev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Etc.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Podemos agrupar valores por setores, reduzindo assim as dimensões.</a:t>
            </a:r>
          </a:p>
        </p:txBody>
      </p:sp>
    </p:spTree>
    <p:extLst>
      <p:ext uri="{BB962C8B-B14F-4D97-AF65-F5344CB8AC3E}">
        <p14:creationId xmlns:p14="http://schemas.microsoft.com/office/powerpoint/2010/main" val="282505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8BFD-141C-EE73-9980-F4A715509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7706C24-9AB4-14ED-C63E-B4D9EE953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34AC5E0-1D12-7C15-3236-DBFE43732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– como avaliar uma redução de dimensões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reduzir um conjunto de N variáveis para X dimensões (X&lt;N) , apuramos os chamados PCAs (PCA—1, PCA-2, PCA-3, PCA-4 etc.).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Cada PCA trará uma variância. Apurando a variância acumulada, quando esta for acima de 80% teremos a indicação do número de dimensões reduzidas X adequada (a variância acumulada de 80% ou mais foi conseguida em PCA-X).</a:t>
            </a:r>
          </a:p>
        </p:txBody>
      </p:sp>
    </p:spTree>
    <p:extLst>
      <p:ext uri="{BB962C8B-B14F-4D97-AF65-F5344CB8AC3E}">
        <p14:creationId xmlns:p14="http://schemas.microsoft.com/office/powerpoint/2010/main" val="178805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71137-88A6-E9B3-E0E0-8802566E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F309894-8B34-F86A-772E-69A7AF155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855152E-5BF6-1B16-8F8A-62BB4DB18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– como avaliar uma redução de dimensões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 para um conjunto de N variáveis onde se deseja redução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Nesse caso, PCA-3 seria uma escolha bastante razoável (redução para três dimensões através de novas variáveis obtidas a partir da combinação matemática das N originais), pois preserva 87% da variância.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FF12347-F8C8-3686-3319-2823EE6FA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9898" y="2701725"/>
            <a:ext cx="7943250" cy="252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1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B67AB-AB4C-FB39-F9D4-473C3203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931CCF3-F75D-BAE9-31F4-A8A8F5827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i="1" dirty="0"/>
              <a:t>Feature Engineering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2A22E62-9296-0EA8-71F2-951E59F3D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192164"/>
            <a:ext cx="989370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(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Principal Component Analysis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– cont. (exemplos)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PCA – como avaliar uma redução de dimensões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Uma IA Generativa poderá nos ajudar a apurar os PCAs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Sugestão de prompt; </a:t>
            </a:r>
            <a:r>
              <a:rPr lang="pt-BR" altLang="pt-BR" sz="23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“Para o conjunto de variáveis &lt;citar o conjunto&gt;, apure os PCAs (de 1 a 10), mostrando para cada um a variância e a variância acumulada”.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 base no resultado acima, encontramos a redução de dimensionalidade razoável, conforme vimos.</a:t>
            </a:r>
          </a:p>
        </p:txBody>
      </p:sp>
    </p:spTree>
    <p:extLst>
      <p:ext uri="{BB962C8B-B14F-4D97-AF65-F5344CB8AC3E}">
        <p14:creationId xmlns:p14="http://schemas.microsoft.com/office/powerpoint/2010/main" val="339284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77733-DB75-728E-C7B9-20C5D4E40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F236D5-C151-2A8C-397B-4CD061423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i="1" dirty="0"/>
              <a:t>Feature Engineering</a:t>
            </a:r>
            <a:endParaRPr lang="pt-BR" altLang="pt-BR" sz="40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5200263-7D12-5B31-90E7-0829E0CEE554}"/>
              </a:ext>
            </a:extLst>
          </p:cNvPr>
          <p:cNvSpPr txBox="1"/>
          <p:nvPr/>
        </p:nvSpPr>
        <p:spPr>
          <a:xfrm>
            <a:off x="1213649" y="2485103"/>
            <a:ext cx="10411221" cy="2047603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pt-BR" sz="6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Exercício: preparação de</a:t>
            </a:r>
          </a:p>
          <a:p>
            <a:pPr algn="ctr">
              <a:spcBef>
                <a:spcPts val="1000"/>
              </a:spcBef>
            </a:pPr>
            <a:r>
              <a:rPr lang="pt-BR" sz="6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com </a:t>
            </a:r>
            <a:r>
              <a:rPr lang="pt-BR" sz="60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 </a:t>
            </a:r>
          </a:p>
        </p:txBody>
      </p:sp>
    </p:spTree>
    <p:extLst>
      <p:ext uri="{BB962C8B-B14F-4D97-AF65-F5344CB8AC3E}">
        <p14:creationId xmlns:p14="http://schemas.microsoft.com/office/powerpoint/2010/main" val="93791316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77B2-B1BA-62A3-0D5C-1113DBC8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917A961A-F668-2593-2C65-D7BFA8C84A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55" r="12955"/>
          <a:stretch/>
        </p:blipFill>
        <p:spPr/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58374DE-4EB0-A0FA-F086-7DCE2F27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Módulo 4 – Construção e validação de modelagens</a:t>
            </a:r>
          </a:p>
        </p:txBody>
      </p:sp>
    </p:spTree>
    <p:extLst>
      <p:ext uri="{BB962C8B-B14F-4D97-AF65-F5344CB8AC3E}">
        <p14:creationId xmlns:p14="http://schemas.microsoft.com/office/powerpoint/2010/main" val="341780913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Construção dos modelos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05353" y="1295400"/>
            <a:ext cx="1022664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Utilizando as técnicas de modelagem preditiva, pode ser interessante: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realizarmos diferentes modelagens para um mesmo problema (por exemplo: árvore de decisão e regressão logística) e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cada modelagem, gerarmos diferentes versões (por exemplo, com variáveis diferentes ligeiramente diferentes em cada treinamento, diversas profundidades de árvore, diversos graus de polinômio de regressão etc.).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Cada modelagem deve ser avaliada na sua robustez contra o sobreajuste e no seu desempenho em relação aos devidos indicadores de eficácia.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231100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8BB5C-E909-761E-5B13-09085082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41CC6B1-4BF0-3ABB-E11D-48E09A8B5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2102760-165D-3208-42B0-B4DBB823B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53" y="1295400"/>
            <a:ext cx="9559116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sobreajuste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envolve o fato de um modelo apresentar alguns padrões interessantes de dados, mas que não se generalizam.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Generalizações inadvertidas são armadilhas traiçoeiras e comuns.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Muitos padrões interessantes apontados por um modelo são, na verdade, situações aleatórias ou muito particulares, que não deveriam induzir regras para grupos maiores.  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221446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34849" y="1295400"/>
            <a:ext cx="966829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Generalização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aplicabilidade de um modelo a dados (exemplos) que não foram utilizados para construí-lo.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 modelo pode funcionar perfeitamente para o conjunto de dados de treinamento e não ser bom para dados novos – diz-se que tal modelo é sobreajustado (não generaliza bem).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 se trata aqui de os dados de treinamento não constituírem uma amostra representativa – o problema está na mineração de dados usada para construir o modelo.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74145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64347" y="1295400"/>
            <a:ext cx="958641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sobreajuste, a mineração de dados avança demais na adaptação aos dados de treinamento, em detrimento da aderência a uma generalização.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sobreajuste sempre estará presente de alguma forma, e o que podemos fazer é trabalhar para identificá-lo e minimizá-lo.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15645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34853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Sobreajuste em separadores </a:t>
            </a:r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924" y="1887755"/>
            <a:ext cx="7722992" cy="3489459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103864" y="5585638"/>
            <a:ext cx="371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n-lt"/>
              </a:rPr>
              <a:t>Modelo com sinal de sobreajuste</a:t>
            </a:r>
          </a:p>
        </p:txBody>
      </p:sp>
      <p:sp>
        <p:nvSpPr>
          <p:cNvPr id="6" name="Seta para baixo 5"/>
          <p:cNvSpPr/>
          <p:nvPr/>
        </p:nvSpPr>
        <p:spPr>
          <a:xfrm rot="10800000">
            <a:off x="3833007" y="5150386"/>
            <a:ext cx="257087" cy="45412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009406" y="5587910"/>
            <a:ext cx="371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solidFill>
                  <a:srgbClr val="00B050"/>
                </a:solidFill>
                <a:latin typeface="+mn-lt"/>
              </a:rPr>
              <a:t>Modelo mais generalizável</a:t>
            </a:r>
          </a:p>
        </p:txBody>
      </p:sp>
      <p:sp>
        <p:nvSpPr>
          <p:cNvPr id="10" name="Seta para baixo 9"/>
          <p:cNvSpPr/>
          <p:nvPr/>
        </p:nvSpPr>
        <p:spPr>
          <a:xfrm rot="10800000">
            <a:off x="7752197" y="5152658"/>
            <a:ext cx="257087" cy="454125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95626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49599" y="1295400"/>
            <a:ext cx="1058687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Dados de retenção (</a:t>
            </a:r>
            <a:r>
              <a:rPr lang="pt-BR" altLang="pt-BR" sz="25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holdout data</a:t>
            </a: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São dados com valores da variável alvo conhecidos, mas que não vamos usar para construir o modelo.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Estes dados ficarão “separados” para serem usados em uma espécie de “teste de laboratório” para o modelo.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Os dados de retenção ficam ocultos ao modelo e serão usados depois do mesmo estar pronto para ver quanto o modelo funciona com eles.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Os dados de retenção funcionam como uma massa de teste à qual o modelo não se ajustou (o ajuste ocorreu com os dados de treinamento).</a:t>
            </a:r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52383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49596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Uso dos dados de retenção</a:t>
            </a:r>
          </a:p>
          <a:p>
            <a:pPr lvl="1" eaLnBrk="1" hangingPunct="1"/>
            <a:endParaRPr lang="pt-BR" altLang="pt-BR" sz="2500" kern="0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2" name="Elipse 1"/>
          <p:cNvSpPr/>
          <p:nvPr/>
        </p:nvSpPr>
        <p:spPr>
          <a:xfrm>
            <a:off x="4649338" y="1842020"/>
            <a:ext cx="2238233" cy="1024006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4833742" y="2074033"/>
            <a:ext cx="1869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rgbClr val="0070C0"/>
                </a:solidFill>
                <a:latin typeface="+mn-lt"/>
              </a:rPr>
              <a:t>Dados conhecidos</a:t>
            </a:r>
          </a:p>
          <a:p>
            <a:pPr algn="ctr"/>
            <a:r>
              <a:rPr lang="pt-BR" sz="1600" dirty="0">
                <a:solidFill>
                  <a:srgbClr val="0070C0"/>
                </a:solidFill>
                <a:latin typeface="+mn-lt"/>
              </a:rPr>
              <a:t>(amostra)</a:t>
            </a:r>
          </a:p>
        </p:txBody>
      </p:sp>
      <p:sp>
        <p:nvSpPr>
          <p:cNvPr id="6" name="Elipse 5"/>
          <p:cNvSpPr/>
          <p:nvPr/>
        </p:nvSpPr>
        <p:spPr>
          <a:xfrm>
            <a:off x="2604444" y="2854656"/>
            <a:ext cx="1808302" cy="113048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2765758" y="3099890"/>
            <a:ext cx="142699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1800" dirty="0">
                <a:solidFill>
                  <a:srgbClr val="00B050"/>
                </a:solidFill>
                <a:latin typeface="+mn-lt"/>
              </a:rPr>
              <a:t>Dados de</a:t>
            </a:r>
          </a:p>
          <a:p>
            <a:pPr algn="ctr"/>
            <a:r>
              <a:rPr lang="pt-BR" sz="1800" dirty="0">
                <a:solidFill>
                  <a:srgbClr val="00B050"/>
                </a:solidFill>
                <a:latin typeface="+mn-lt"/>
              </a:rPr>
              <a:t>treinamento</a:t>
            </a:r>
          </a:p>
        </p:txBody>
      </p:sp>
      <p:sp>
        <p:nvSpPr>
          <p:cNvPr id="8" name="Elipse 7"/>
          <p:cNvSpPr/>
          <p:nvPr/>
        </p:nvSpPr>
        <p:spPr>
          <a:xfrm>
            <a:off x="7178730" y="2870576"/>
            <a:ext cx="1808302" cy="1130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7522075" y="3115810"/>
            <a:ext cx="1172116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1800" dirty="0">
                <a:solidFill>
                  <a:srgbClr val="FF0000"/>
                </a:solidFill>
                <a:latin typeface="+mn-lt"/>
              </a:rPr>
              <a:t>Dados de</a:t>
            </a:r>
          </a:p>
          <a:p>
            <a:pPr algn="ctr"/>
            <a:r>
              <a:rPr lang="pt-BR" sz="1800" dirty="0">
                <a:solidFill>
                  <a:srgbClr val="FF0000"/>
                </a:solidFill>
                <a:latin typeface="+mn-lt"/>
              </a:rPr>
              <a:t>retenção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2602171" y="4544709"/>
            <a:ext cx="1842447" cy="818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2838859" y="4723308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  <a:latin typeface="+mj-lt"/>
              </a:rPr>
              <a:t>Modelo</a:t>
            </a:r>
          </a:p>
        </p:txBody>
      </p:sp>
      <p:cxnSp>
        <p:nvCxnSpPr>
          <p:cNvPr id="17" name="Conector de seta reta 16"/>
          <p:cNvCxnSpPr>
            <a:stCxn id="6" idx="4"/>
            <a:endCxn id="4" idx="0"/>
          </p:cNvCxnSpPr>
          <p:nvPr/>
        </p:nvCxnSpPr>
        <p:spPr>
          <a:xfrm>
            <a:off x="3508596" y="3985142"/>
            <a:ext cx="14799" cy="5595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angulado 18"/>
          <p:cNvCxnSpPr>
            <a:stCxn id="2" idx="2"/>
            <a:endCxn id="6" idx="0"/>
          </p:cNvCxnSpPr>
          <p:nvPr/>
        </p:nvCxnSpPr>
        <p:spPr>
          <a:xfrm rot="10800000" flipV="1">
            <a:off x="3508595" y="2354023"/>
            <a:ext cx="1140742" cy="50063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angulado 20"/>
          <p:cNvCxnSpPr>
            <a:stCxn id="2" idx="6"/>
            <a:endCxn id="8" idx="0"/>
          </p:cNvCxnSpPr>
          <p:nvPr/>
        </p:nvCxnSpPr>
        <p:spPr>
          <a:xfrm>
            <a:off x="6887571" y="2354023"/>
            <a:ext cx="1195311" cy="51655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4891480" y="5229272"/>
            <a:ext cx="20217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rgbClr val="7030A0"/>
                </a:solidFill>
                <a:latin typeface="+mj-lt"/>
              </a:rPr>
              <a:t>Comparação: </a:t>
            </a:r>
          </a:p>
          <a:p>
            <a:pPr algn="ctr"/>
            <a:r>
              <a:rPr lang="pt-BR" sz="1600" dirty="0">
                <a:solidFill>
                  <a:srgbClr val="7030A0"/>
                </a:solidFill>
                <a:latin typeface="+mj-lt"/>
              </a:rPr>
              <a:t>estimativa de </a:t>
            </a:r>
          </a:p>
          <a:p>
            <a:pPr algn="ctr"/>
            <a:r>
              <a:rPr lang="pt-BR" sz="1600" dirty="0">
                <a:solidFill>
                  <a:srgbClr val="FF0000"/>
                </a:solidFill>
                <a:latin typeface="+mj-lt"/>
              </a:rPr>
              <a:t>generalização de</a:t>
            </a:r>
          </a:p>
          <a:p>
            <a:pPr algn="ctr"/>
            <a:r>
              <a:rPr lang="pt-BR" sz="1600" dirty="0">
                <a:solidFill>
                  <a:srgbClr val="FF0000"/>
                </a:solidFill>
                <a:latin typeface="+mj-lt"/>
              </a:rPr>
              <a:t> desempenho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934008" y="2908819"/>
            <a:ext cx="11047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rgbClr val="7030A0"/>
                </a:solidFill>
                <a:latin typeface="+mj-lt"/>
              </a:rPr>
              <a:t>Conjunto </a:t>
            </a:r>
          </a:p>
          <a:p>
            <a:pPr algn="ctr"/>
            <a:r>
              <a:rPr lang="pt-BR" sz="1400" dirty="0">
                <a:solidFill>
                  <a:srgbClr val="7030A0"/>
                </a:solidFill>
                <a:latin typeface="+mj-lt"/>
              </a:rPr>
              <a:t>de teste</a:t>
            </a:r>
          </a:p>
          <a:p>
            <a:pPr algn="ctr"/>
            <a:r>
              <a:rPr lang="pt-BR" sz="1400" dirty="0">
                <a:solidFill>
                  <a:srgbClr val="7030A0"/>
                </a:solidFill>
                <a:latin typeface="+mj-lt"/>
              </a:rPr>
              <a:t>(cerca de </a:t>
            </a:r>
          </a:p>
          <a:p>
            <a:pPr algn="ctr"/>
            <a:r>
              <a:rPr lang="pt-BR" sz="1400" dirty="0">
                <a:solidFill>
                  <a:srgbClr val="7030A0"/>
                </a:solidFill>
                <a:latin typeface="+mj-lt"/>
              </a:rPr>
              <a:t>20%)</a:t>
            </a:r>
            <a:endParaRPr lang="pt-BR" sz="1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4337775" y="3156754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rgbClr val="7030A0"/>
                </a:solidFill>
                <a:latin typeface="+mj-lt"/>
              </a:rPr>
              <a:t>(cerca de </a:t>
            </a:r>
          </a:p>
          <a:p>
            <a:pPr algn="ctr"/>
            <a:r>
              <a:rPr lang="pt-BR" sz="1400" dirty="0">
                <a:solidFill>
                  <a:srgbClr val="7030A0"/>
                </a:solidFill>
                <a:latin typeface="+mj-lt"/>
              </a:rPr>
              <a:t>80%)</a:t>
            </a:r>
            <a:endParaRPr lang="pt-BR" sz="1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8110176" y="3987416"/>
            <a:ext cx="14799" cy="5595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2306520" y="5382056"/>
            <a:ext cx="2443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rgbClr val="FF0000"/>
                </a:solidFill>
                <a:latin typeface="+mn-lt"/>
              </a:rPr>
              <a:t>Erro do modelo com</a:t>
            </a:r>
          </a:p>
          <a:p>
            <a:pPr algn="ctr"/>
            <a:r>
              <a:rPr lang="pt-BR" sz="1600" dirty="0">
                <a:solidFill>
                  <a:srgbClr val="FF0000"/>
                </a:solidFill>
                <a:latin typeface="+mn-lt"/>
              </a:rPr>
              <a:t>os dados de treinamento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7050764" y="5316088"/>
            <a:ext cx="21579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rgbClr val="FF0000"/>
                </a:solidFill>
                <a:latin typeface="+mn-lt"/>
              </a:rPr>
              <a:t>Erro do modelo com</a:t>
            </a:r>
          </a:p>
          <a:p>
            <a:pPr algn="ctr"/>
            <a:r>
              <a:rPr lang="pt-BR" sz="1600" dirty="0">
                <a:solidFill>
                  <a:srgbClr val="FF0000"/>
                </a:solidFill>
                <a:latin typeface="+mn-lt"/>
              </a:rPr>
              <a:t>os dados de retenção</a:t>
            </a:r>
          </a:p>
        </p:txBody>
      </p:sp>
      <p:cxnSp>
        <p:nvCxnSpPr>
          <p:cNvPr id="16" name="Conector reto 15"/>
          <p:cNvCxnSpPr>
            <a:endCxn id="25" idx="1"/>
          </p:cNvCxnSpPr>
          <p:nvPr/>
        </p:nvCxnSpPr>
        <p:spPr>
          <a:xfrm>
            <a:off x="4777112" y="5704765"/>
            <a:ext cx="114368" cy="631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29" idx="1"/>
          </p:cNvCxnSpPr>
          <p:nvPr/>
        </p:nvCxnSpPr>
        <p:spPr>
          <a:xfrm flipH="1">
            <a:off x="6747232" y="5608475"/>
            <a:ext cx="303532" cy="1099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/>
          <p:cNvSpPr txBox="1"/>
          <p:nvPr/>
        </p:nvSpPr>
        <p:spPr>
          <a:xfrm>
            <a:off x="7339479" y="4569298"/>
            <a:ext cx="15824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0070C0"/>
                </a:solidFill>
                <a:latin typeface="+mj-lt"/>
              </a:rPr>
              <a:t>Submissão</a:t>
            </a:r>
          </a:p>
          <a:p>
            <a:pPr algn="ctr"/>
            <a:r>
              <a:rPr lang="pt-BR" sz="1400" b="1" dirty="0">
                <a:solidFill>
                  <a:srgbClr val="0070C0"/>
                </a:solidFill>
                <a:latin typeface="+mj-lt"/>
              </a:rPr>
              <a:t>ao modelo</a:t>
            </a:r>
          </a:p>
          <a:p>
            <a:pPr algn="ctr"/>
            <a:r>
              <a:rPr lang="pt-BR" sz="1400" b="1" dirty="0">
                <a:solidFill>
                  <a:srgbClr val="0070C0"/>
                </a:solidFill>
                <a:latin typeface="+mj-lt"/>
              </a:rPr>
              <a:t>(sem refazê-lo)</a:t>
            </a:r>
          </a:p>
        </p:txBody>
      </p:sp>
    </p:spTree>
    <p:extLst>
      <p:ext uri="{BB962C8B-B14F-4D97-AF65-F5344CB8AC3E}">
        <p14:creationId xmlns:p14="http://schemas.microsoft.com/office/powerpoint/2010/main" val="265848490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61108" y="1295400"/>
            <a:ext cx="1040989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Comparação do modelo com os dados de treinamento e com os dados de retenção em árvores de classificação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Criamos a árvore com os dados de treinamento (fazendo as subdivisões com base nestes dados).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Apuramos o erro deste modelo comparando sua previsão com os valores reais dos dados de treinamento.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os dados de retenção, não refazemos a árvore com base neles (isto geraria uma nova árvore que se adaptaria só aos dados de retenção). O que devemos fazer é submeter os dados de retenção à árvore feita.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59667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20100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Ponto de melhor ajuste – árvores de classificação</a:t>
            </a: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687" y="1909669"/>
            <a:ext cx="6184763" cy="445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9913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34847" y="1295400"/>
            <a:ext cx="9968549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Taxa base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proporção de uma classe específica em um conjunto de dados.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 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um conjunto de dados tem 100 amostras e 80 delas pertencem à Classe A e 20 à Classe B, a taxa base para a Classe A é 80% e para a Classe B é 20%.</a:t>
            </a:r>
          </a:p>
        </p:txBody>
      </p:sp>
    </p:spTree>
    <p:extLst>
      <p:ext uri="{BB962C8B-B14F-4D97-AF65-F5344CB8AC3E}">
        <p14:creationId xmlns:p14="http://schemas.microsoft.com/office/powerpoint/2010/main" val="108804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34851" y="1295400"/>
            <a:ext cx="1052788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Taxa base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Ao avaliar um modelo de classificação, é importante saber a taxa base. 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o modelo simplesmente prevê a classe mais frequente (no exemplo dado, a Classe A), sua acurácia seria de 80%. 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Assim, um modelo que obtém uma acurácia inferior a essa taxa base pode não estar aprendendo nada útil e pode ser considerado ineficaz.</a:t>
            </a:r>
          </a:p>
        </p:txBody>
      </p:sp>
    </p:spTree>
    <p:extLst>
      <p:ext uri="{BB962C8B-B14F-4D97-AF65-F5344CB8AC3E}">
        <p14:creationId xmlns:p14="http://schemas.microsoft.com/office/powerpoint/2010/main" val="268941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20103" y="1295400"/>
            <a:ext cx="10513136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 volume maior de dados de treinamento, a precisão do modelo aumenta, mas isto tende a se estabilizar (observamos isto nas chamadas curvas de aprendizado).</a:t>
            </a: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lvl="1" eaLnBrk="1" hangingPunct="1"/>
            <a:endParaRPr lang="pt-BR" sz="25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027" y="2894082"/>
            <a:ext cx="5104263" cy="3690054"/>
          </a:xfrm>
          <a:prstGeom prst="rect">
            <a:avLst/>
          </a:prstGeom>
        </p:spPr>
      </p:pic>
      <p:cxnSp>
        <p:nvCxnSpPr>
          <p:cNvPr id="8" name="Conector reto 7"/>
          <p:cNvCxnSpPr/>
          <p:nvPr/>
        </p:nvCxnSpPr>
        <p:spPr>
          <a:xfrm flipV="1">
            <a:off x="3680347" y="3889612"/>
            <a:ext cx="750627" cy="21836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4417326" y="3752850"/>
            <a:ext cx="1091821" cy="1504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5509147" y="3675656"/>
            <a:ext cx="2115403" cy="769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33116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49597" y="1295400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Sobreajuste em indução com árvores de decisão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desafio destas árvores, como vimos, é que elas tendem a crescer até chegar a nós puros, ajustando sobremaneira o modelo aos dados de treinamento.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Estratégias de combate ao sobreajuste: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Interromper o crescimento da árvore antes que se torne muito complexa.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Deixar a árvore crescer ao máximo e então “podá-la”, reduzindo seu tamanho e complexidade.</a:t>
            </a:r>
          </a:p>
          <a:p>
            <a:pPr lvl="1" eaLnBrk="1" hangingPunct="1"/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182051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90603" y="1295400"/>
            <a:ext cx="981842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Controlando o crescimento da árvore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Podemos estipular um número mínimo de exemplos que uma folha pode conter, evitando mais segmentações no ramo.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Outras ideias:</a:t>
            </a:r>
          </a:p>
          <a:p>
            <a:pPr marL="112725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Construir árvores com diferentes complexidades (níveis de segmentação) e, neste conjunto, apurar qual a árvore com maior desempenho em generalização.</a:t>
            </a:r>
          </a:p>
          <a:p>
            <a:pPr marL="112725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Pegar um conjunto de teste e dividi-lo novamente em um conjunto de treinamento (conjunto de subtreinamento) e outro de teste (conjunto de validação) – trata-se da retenção aninhada.</a:t>
            </a:r>
          </a:p>
          <a:p>
            <a:pPr lvl="1" eaLnBrk="1" hangingPunct="1"/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101414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562909" y="1295400"/>
            <a:ext cx="958641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Outras ideias 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12725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Descobrir o tamanho do modelo com melhor desempenho (com separação de conjunto de retenção) e depois refazer a árvore com todos os dados (treinamento + retenção) até atingir o tamanho descoberto.</a:t>
            </a:r>
          </a:p>
          <a:p>
            <a:pPr marL="112725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Jogar com diferentes conjuntos de atributos informativos no conjunto de treinamento de partida e ir descobrindo (e deixando de lado) os que contribuem menos.</a:t>
            </a:r>
          </a:p>
          <a:p>
            <a:pPr lvl="1" eaLnBrk="1" hangingPunct="1"/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24176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Sobreajuste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Sobreajuste em funções matemáticas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caso de modelos paramétricos, a complexidade cresce com a introdução de mais variáveis e/ou com introdução de aspectos não lineares complicando a fórmula.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Também aqui, uma curva pode estar ajustada demais aos dados de treinamento.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Regularização: busca de uma combinação (otimização) entre ajuste aos dados e simplicidade do modelo.</a:t>
            </a:r>
          </a:p>
          <a:p>
            <a:pPr lvl="1" eaLnBrk="1" hangingPunct="1"/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67659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16FB-8D08-6DE5-448D-79969A26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FDB9C272-D988-6C7B-E8E0-47081A534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Combate ao sobreajuste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CC558FE-498B-9D77-4877-902850560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sobreajuste pode ser combatido com: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Poda das árvores de decisão (gerar versões que não chegam até o nível mais baixo possível).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Ajuste no grau do polinômio de regressão.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Uso de dados de retenção / validação cruzada.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Aumento da quantidade e a da qualidade dos dados de treinamento.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Utilização de métodos de conjunto (</a:t>
            </a:r>
            <a:r>
              <a:rPr lang="pt-BR" sz="25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ensemble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), como a Floresta Aleatória (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Random Forest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), que reduz a variância ao combinar diversas árvores construídas sobre amostras e subconjuntos aleatórios de atributos. Veremos no Módulo 5.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lvl="1" eaLnBrk="1" hangingPunct="1"/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2705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75857" y="1295400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de classificadores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Primeira ideia: aplicar em dados de retenção.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Acurácia:</a:t>
            </a:r>
          </a:p>
          <a:p>
            <a:pPr lvl="3" eaLnBrk="1" hangingPunct="1"/>
            <a:endParaRPr lang="pt-BR" sz="2500" kern="0" dirty="0"/>
          </a:p>
          <a:p>
            <a:pPr lvl="3" eaLnBrk="1" hangingPunct="1"/>
            <a:endParaRPr lang="pt-BR" sz="2500" kern="0" dirty="0"/>
          </a:p>
          <a:p>
            <a:pPr lvl="3" eaLnBrk="1" hangingPunct="1"/>
            <a:endParaRPr lang="pt-BR" sz="2500" kern="0" dirty="0"/>
          </a:p>
          <a:p>
            <a:pPr lvl="3" eaLnBrk="1" hangingPunct="1"/>
            <a:endParaRPr lang="pt-BR" sz="2500" kern="0" dirty="0"/>
          </a:p>
          <a:p>
            <a:pPr lvl="3" eaLnBrk="1" hangingPunct="1"/>
            <a:endParaRPr lang="pt-BR" sz="2500" kern="0" dirty="0"/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acurácia por si só pode ser simplista na avaliação de modelos, como veremos mais adiante.</a:t>
            </a:r>
          </a:p>
          <a:p>
            <a:pPr eaLnBrk="1" hangingPunct="1"/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2820537" y="3441313"/>
            <a:ext cx="1473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+mn-lt"/>
              </a:rPr>
              <a:t>Acurácia =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370390" y="3227610"/>
            <a:ext cx="45849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+mn-lt"/>
              </a:rPr>
              <a:t>Número de decisões corretas tomadas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561949" y="3666614"/>
            <a:ext cx="4201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+mn-lt"/>
              </a:rPr>
              <a:t>Número total de decisões tomadas</a:t>
            </a:r>
          </a:p>
        </p:txBody>
      </p:sp>
      <p:cxnSp>
        <p:nvCxnSpPr>
          <p:cNvPr id="4" name="Conector reto 3"/>
          <p:cNvCxnSpPr/>
          <p:nvPr/>
        </p:nvCxnSpPr>
        <p:spPr>
          <a:xfrm>
            <a:off x="4253550" y="3648189"/>
            <a:ext cx="48586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de cantos arredondados 7"/>
          <p:cNvSpPr/>
          <p:nvPr/>
        </p:nvSpPr>
        <p:spPr>
          <a:xfrm>
            <a:off x="2806889" y="3029807"/>
            <a:ext cx="6441744" cy="1282889"/>
          </a:xfrm>
          <a:prstGeom prst="roundRect">
            <a:avLst>
              <a:gd name="adj" fmla="val 10284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3873695" y="4494469"/>
            <a:ext cx="2254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+mn-lt"/>
              </a:rPr>
              <a:t>= 1 – </a:t>
            </a:r>
            <a:r>
              <a:rPr lang="pt-BR" sz="2000" i="1" dirty="0">
                <a:latin typeface="+mn-lt"/>
              </a:rPr>
              <a:t>taxa de erro</a:t>
            </a:r>
          </a:p>
        </p:txBody>
      </p:sp>
    </p:spTree>
    <p:extLst>
      <p:ext uri="{BB962C8B-B14F-4D97-AF65-F5344CB8AC3E}">
        <p14:creationId xmlns:p14="http://schemas.microsoft.com/office/powerpoint/2010/main" val="182187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8" grpId="0" animBg="1"/>
      <p:bldP spid="10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90605" y="1295400"/>
            <a:ext cx="10241396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Confusão de classe / </a:t>
            </a: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matriz de confusão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Uma matriz de confusão mostra as quantidades de positivos/negativos verdadeiros/falsos nas decisões tomadas pelo classificador.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Positivo = valor da classe merecedor de atenção.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Negativo = valor da classe não merecedor de atenção.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 exame médico positivo / negativo para uma infecção (classe binária: reagente = positivo / não reagente = negativo).</a:t>
            </a:r>
          </a:p>
          <a:p>
            <a:pPr eaLnBrk="1" hangingPunct="1"/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226950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46361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Matriz de confusão (exemplo com duas classes)</a:t>
            </a:r>
          </a:p>
          <a:p>
            <a:pPr eaLnBrk="1" hangingPunct="1"/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742" y="2324871"/>
            <a:ext cx="7002607" cy="2071781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3336895" y="4855458"/>
            <a:ext cx="5262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Diagonal principal = decisões corretas do modelo</a:t>
            </a:r>
          </a:p>
        </p:txBody>
      </p:sp>
    </p:spTree>
    <p:extLst>
      <p:ext uri="{BB962C8B-B14F-4D97-AF65-F5344CB8AC3E}">
        <p14:creationId xmlns:p14="http://schemas.microsoft.com/office/powerpoint/2010/main" val="73603577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90608" y="1295400"/>
            <a:ext cx="972289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Classe desequilibrada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uma classe incomum ou rara, o que torna a distribuição dos exemplos entre as classes desequilibrada ou distorcida.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uma situação comum em detecção de fraudes, por exemplo (operação fraudulenta “sim” ou “não”), onde a maioria das operações não são fraudes.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taxa base para a classe majoritária é alta.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356848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61107" y="1295400"/>
            <a:ext cx="9681946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Classe desequilibrada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Nestes casos, a acurácia do modelo pode ser enganosa (é a coisa errada a ser medida).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uma população, sabemos que a taxa base para “sim” é de 97% e nos interessa capturar os 3% que são da classe “não”.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Neste caso, se classificarmos todos como “sim”, a precisão será de 97% mas, apesar deste número ser alto, não nos ajuda em nada em nosso interesse (que é de detectar os “não”). </a:t>
            </a:r>
          </a:p>
          <a:p>
            <a:pPr eaLnBrk="1" hangingPunct="1"/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264859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61111" y="1295400"/>
            <a:ext cx="1074910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Custos e benefícios desiguais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Outro problema a enfrentar na avaliação de modelos é que a importância dos falsos positivos e dos falsos negativos pode ser diferente.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Diagnóstico de câncer falso positivo (paciente informado com a doença quando na verdade ele não a tem) – resultado estressante, inconveniente, que exigiria ações, mas não fatal.</a:t>
            </a:r>
          </a:p>
          <a:p>
            <a:pPr marL="11844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Diagnóstico de câncer falso negativo (paciente informado sem a doença quando na verdade ele a tem) – resultado que afastaria o paciente de uma detecção precoce, o que seria uma situação muito pior.</a:t>
            </a:r>
          </a:p>
          <a:p>
            <a:pPr lvl="2" eaLnBrk="1" hangingPunct="1"/>
            <a:endParaRPr lang="pt-BR" sz="2500" kern="0" dirty="0"/>
          </a:p>
          <a:p>
            <a:pPr lvl="1" eaLnBrk="1" hangingPunct="1"/>
            <a:endParaRPr lang="pt-BR" sz="2500" kern="0" dirty="0"/>
          </a:p>
          <a:p>
            <a:pPr eaLnBrk="1" hangingPunct="1"/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427072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49596" y="1295400"/>
            <a:ext cx="969559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uma média ponderada dos valores de diferentes resultados possíveis, onde a ponderação é dada pela probabilidade de ocorrência.</a:t>
            </a:r>
          </a:p>
          <a:p>
            <a:pPr lvl="2" eaLnBrk="1" hangingPunct="1"/>
            <a:endParaRPr lang="pt-BR" sz="2500" kern="0" dirty="0"/>
          </a:p>
          <a:p>
            <a:pPr lvl="1" eaLnBrk="1" hangingPunct="1"/>
            <a:endParaRPr lang="pt-BR" sz="2500" kern="0" dirty="0"/>
          </a:p>
          <a:p>
            <a:pPr eaLnBrk="1" hangingPunct="1"/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2999273" y="3494722"/>
            <a:ext cx="6208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+mn-lt"/>
              </a:rPr>
              <a:t>VE = p(o</a:t>
            </a:r>
            <a:r>
              <a:rPr lang="pt-BR" baseline="-25000" dirty="0">
                <a:latin typeface="+mn-lt"/>
              </a:rPr>
              <a:t>1</a:t>
            </a:r>
            <a:r>
              <a:rPr lang="pt-BR" dirty="0">
                <a:latin typeface="+mn-lt"/>
              </a:rPr>
              <a:t>)</a:t>
            </a:r>
            <a:r>
              <a:rPr lang="pt-BR" sz="3600" baseline="-25000" dirty="0">
                <a:latin typeface="+mn-lt"/>
              </a:rPr>
              <a:t>*</a:t>
            </a:r>
            <a:r>
              <a:rPr lang="pt-BR" dirty="0">
                <a:latin typeface="+mn-lt"/>
              </a:rPr>
              <a:t>v(o</a:t>
            </a:r>
            <a:r>
              <a:rPr lang="pt-BR" baseline="-25000" dirty="0">
                <a:latin typeface="+mn-lt"/>
              </a:rPr>
              <a:t>1</a:t>
            </a:r>
            <a:r>
              <a:rPr lang="pt-BR" dirty="0">
                <a:latin typeface="+mn-lt"/>
              </a:rPr>
              <a:t>) + p(o</a:t>
            </a:r>
            <a:r>
              <a:rPr lang="pt-BR" baseline="-25000" dirty="0">
                <a:latin typeface="+mn-lt"/>
              </a:rPr>
              <a:t>2</a:t>
            </a:r>
            <a:r>
              <a:rPr lang="pt-BR" dirty="0">
                <a:latin typeface="+mn-lt"/>
              </a:rPr>
              <a:t>)</a:t>
            </a:r>
            <a:r>
              <a:rPr lang="pt-BR" sz="3600" baseline="-25000" dirty="0">
                <a:latin typeface="+mn-lt"/>
              </a:rPr>
              <a:t>*</a:t>
            </a:r>
            <a:r>
              <a:rPr lang="pt-BR" dirty="0">
                <a:latin typeface="+mn-lt"/>
              </a:rPr>
              <a:t>v(o</a:t>
            </a:r>
            <a:r>
              <a:rPr lang="pt-BR" baseline="-25000" dirty="0">
                <a:latin typeface="+mn-lt"/>
              </a:rPr>
              <a:t>2</a:t>
            </a:r>
            <a:r>
              <a:rPr lang="pt-BR" dirty="0">
                <a:latin typeface="+mn-lt"/>
              </a:rPr>
              <a:t>) + ...+ p(o</a:t>
            </a:r>
            <a:r>
              <a:rPr lang="pt-BR" sz="2800" baseline="-25000" dirty="0">
                <a:latin typeface="+mn-lt"/>
              </a:rPr>
              <a:t>n</a:t>
            </a:r>
            <a:r>
              <a:rPr lang="pt-BR" dirty="0">
                <a:latin typeface="+mn-lt"/>
              </a:rPr>
              <a:t>)</a:t>
            </a:r>
            <a:r>
              <a:rPr lang="pt-BR" sz="3600" baseline="-25000" dirty="0">
                <a:latin typeface="+mn-lt"/>
              </a:rPr>
              <a:t>*</a:t>
            </a:r>
            <a:r>
              <a:rPr lang="pt-BR" dirty="0">
                <a:latin typeface="+mn-lt"/>
              </a:rPr>
              <a:t>v(o</a:t>
            </a:r>
            <a:r>
              <a:rPr lang="pt-BR" sz="2800" baseline="-25000" dirty="0">
                <a:latin typeface="+mn-lt"/>
              </a:rPr>
              <a:t>n</a:t>
            </a:r>
            <a:r>
              <a:rPr lang="pt-BR" dirty="0">
                <a:latin typeface="+mn-lt"/>
              </a:rPr>
              <a:t>)</a:t>
            </a:r>
          </a:p>
        </p:txBody>
      </p:sp>
      <p:sp>
        <p:nvSpPr>
          <p:cNvPr id="3" name="Retângulo de cantos arredondados 2"/>
          <p:cNvSpPr/>
          <p:nvPr/>
        </p:nvSpPr>
        <p:spPr>
          <a:xfrm>
            <a:off x="2684062" y="3330055"/>
            <a:ext cx="6878472" cy="805218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521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75857" y="1295400"/>
            <a:ext cx="10793356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Consideremos um modelo preditivo que dá uma estimativa de probabilidade de um exemplo com vetor de características x pertencer a uma classe “dos que respondem a uma oferta”.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probabilidade de x responder é p</a:t>
            </a:r>
            <a:r>
              <a:rPr 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(x), o valor obtido de uma resposta é vR e o valor obtido por nenhuma resposta é v</a:t>
            </a:r>
            <a:r>
              <a:rPr lang="pt-BR" sz="25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NR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Devemos decidir se direcionamos a oferta para um consumidor com vetor de características x.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325508" y="5091890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+mn-lt"/>
              </a:rPr>
              <a:t>Benefício esperado do direcionamento =</a:t>
            </a:r>
          </a:p>
          <a:p>
            <a:pPr algn="ctr"/>
            <a:r>
              <a:rPr lang="pt-BR" b="1" dirty="0">
                <a:solidFill>
                  <a:srgbClr val="0070C0"/>
                </a:solidFill>
                <a:latin typeface="+mn-lt"/>
              </a:rPr>
              <a:t>p</a:t>
            </a:r>
            <a:r>
              <a:rPr lang="pt-BR" b="1" baseline="-25000" dirty="0">
                <a:solidFill>
                  <a:srgbClr val="0070C0"/>
                </a:solidFill>
                <a:latin typeface="+mn-lt"/>
              </a:rPr>
              <a:t>R</a:t>
            </a:r>
            <a:r>
              <a:rPr lang="pt-BR" b="1" dirty="0">
                <a:solidFill>
                  <a:srgbClr val="0070C0"/>
                </a:solidFill>
                <a:latin typeface="+mn-lt"/>
              </a:rPr>
              <a:t>(x)</a:t>
            </a:r>
            <a:r>
              <a:rPr lang="pt-BR" sz="3600" b="1" baseline="-25000" dirty="0">
                <a:solidFill>
                  <a:srgbClr val="0070C0"/>
                </a:solidFill>
                <a:latin typeface="+mn-lt"/>
              </a:rPr>
              <a:t>*</a:t>
            </a:r>
            <a:r>
              <a:rPr lang="pt-BR" b="1" dirty="0">
                <a:solidFill>
                  <a:srgbClr val="0070C0"/>
                </a:solidFill>
                <a:latin typeface="+mn-lt"/>
              </a:rPr>
              <a:t>v</a:t>
            </a:r>
            <a:r>
              <a:rPr lang="pt-BR" b="1" baseline="-25000" dirty="0">
                <a:solidFill>
                  <a:srgbClr val="0070C0"/>
                </a:solidFill>
                <a:latin typeface="+mn-lt"/>
              </a:rPr>
              <a:t>R</a:t>
            </a:r>
            <a:r>
              <a:rPr lang="pt-BR" b="1" dirty="0">
                <a:solidFill>
                  <a:srgbClr val="0070C0"/>
                </a:solidFill>
                <a:latin typeface="+mn-lt"/>
              </a:rPr>
              <a:t> + [1 - p</a:t>
            </a:r>
            <a:r>
              <a:rPr lang="pt-BR" b="1" baseline="-25000" dirty="0">
                <a:solidFill>
                  <a:srgbClr val="0070C0"/>
                </a:solidFill>
                <a:latin typeface="+mn-lt"/>
              </a:rPr>
              <a:t>R</a:t>
            </a:r>
            <a:r>
              <a:rPr lang="pt-BR" b="1" dirty="0">
                <a:solidFill>
                  <a:srgbClr val="0070C0"/>
                </a:solidFill>
                <a:latin typeface="+mn-lt"/>
              </a:rPr>
              <a:t>(x)]</a:t>
            </a:r>
            <a:r>
              <a:rPr lang="pt-BR" sz="3600" b="1" baseline="-25000" dirty="0">
                <a:solidFill>
                  <a:srgbClr val="0070C0"/>
                </a:solidFill>
                <a:latin typeface="+mn-lt"/>
              </a:rPr>
              <a:t>*</a:t>
            </a:r>
            <a:r>
              <a:rPr lang="pt-BR" b="1" dirty="0">
                <a:solidFill>
                  <a:srgbClr val="0070C0"/>
                </a:solidFill>
                <a:latin typeface="+mn-lt"/>
              </a:rPr>
              <a:t>v</a:t>
            </a:r>
            <a:r>
              <a:rPr lang="pt-BR" b="1" baseline="-25000" dirty="0">
                <a:solidFill>
                  <a:srgbClr val="0070C0"/>
                </a:solidFill>
                <a:latin typeface="+mn-lt"/>
              </a:rPr>
              <a:t>NR</a:t>
            </a:r>
            <a:r>
              <a:rPr lang="pt-BR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228974" y="6027534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800" dirty="0">
                <a:solidFill>
                  <a:srgbClr val="00B050"/>
                </a:solidFill>
                <a:latin typeface="+mn-lt"/>
              </a:rPr>
              <a:t>p</a:t>
            </a:r>
            <a:r>
              <a:rPr lang="pt-BR" sz="1800" baseline="-25000" dirty="0">
                <a:solidFill>
                  <a:srgbClr val="00B050"/>
                </a:solidFill>
                <a:latin typeface="+mn-lt"/>
              </a:rPr>
              <a:t>NR</a:t>
            </a:r>
            <a:r>
              <a:rPr lang="pt-BR" sz="1800" dirty="0">
                <a:solidFill>
                  <a:srgbClr val="00B050"/>
                </a:solidFill>
                <a:latin typeface="+mn-lt"/>
              </a:rPr>
              <a:t>(x) </a:t>
            </a:r>
          </a:p>
        </p:txBody>
      </p:sp>
      <p:sp>
        <p:nvSpPr>
          <p:cNvPr id="2" name="Chave direita 1"/>
          <p:cNvSpPr/>
          <p:nvPr/>
        </p:nvSpPr>
        <p:spPr>
          <a:xfrm rot="5400000">
            <a:off x="6483351" y="5393834"/>
            <a:ext cx="220414" cy="1282889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79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31608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325508" y="1856983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+mn-lt"/>
              </a:rPr>
              <a:t>Benefício esperado do direcionamento =</a:t>
            </a:r>
          </a:p>
          <a:p>
            <a:pPr algn="ctr"/>
            <a:r>
              <a:rPr lang="pt-BR" dirty="0">
                <a:latin typeface="+mn-lt"/>
              </a:rPr>
              <a:t>p</a:t>
            </a:r>
            <a:r>
              <a:rPr lang="pt-BR" baseline="-25000" dirty="0">
                <a:latin typeface="+mn-lt"/>
              </a:rPr>
              <a:t>R</a:t>
            </a:r>
            <a:r>
              <a:rPr lang="pt-BR" dirty="0">
                <a:latin typeface="+mn-lt"/>
              </a:rPr>
              <a:t>(x)</a:t>
            </a:r>
            <a:r>
              <a:rPr lang="pt-BR" sz="3600" baseline="-25000" dirty="0">
                <a:latin typeface="+mn-lt"/>
              </a:rPr>
              <a:t>*</a:t>
            </a:r>
            <a:r>
              <a:rPr lang="pt-BR" dirty="0">
                <a:latin typeface="+mn-lt"/>
              </a:rPr>
              <a:t>v</a:t>
            </a:r>
            <a:r>
              <a:rPr lang="pt-BR" baseline="-25000" dirty="0">
                <a:latin typeface="+mn-lt"/>
              </a:rPr>
              <a:t>R</a:t>
            </a:r>
            <a:r>
              <a:rPr lang="pt-BR" dirty="0">
                <a:latin typeface="+mn-lt"/>
              </a:rPr>
              <a:t> + [1 - p</a:t>
            </a:r>
            <a:r>
              <a:rPr lang="pt-BR" baseline="-25000" dirty="0">
                <a:latin typeface="+mn-lt"/>
              </a:rPr>
              <a:t>R</a:t>
            </a:r>
            <a:r>
              <a:rPr lang="pt-BR" dirty="0">
                <a:latin typeface="+mn-lt"/>
              </a:rPr>
              <a:t>(x)]</a:t>
            </a:r>
            <a:r>
              <a:rPr lang="pt-BR" sz="3600" baseline="-25000" dirty="0">
                <a:latin typeface="+mn-lt"/>
              </a:rPr>
              <a:t>*</a:t>
            </a:r>
            <a:r>
              <a:rPr lang="pt-BR" dirty="0">
                <a:latin typeface="+mn-lt"/>
              </a:rPr>
              <a:t>v</a:t>
            </a:r>
            <a:r>
              <a:rPr lang="pt-BR" baseline="-25000" dirty="0">
                <a:latin typeface="+mn-lt"/>
              </a:rPr>
              <a:t>NR</a:t>
            </a:r>
            <a:r>
              <a:rPr lang="pt-BR" dirty="0">
                <a:latin typeface="+mn-lt"/>
              </a:rPr>
              <a:t> 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2334497" y="2968289"/>
            <a:ext cx="704612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+mn-lt"/>
              </a:rPr>
              <a:t>Digamos que se um cliente comprar o produto lucraremos 100,00 e que o envio da oferta custa 1,00 (custo de envio de um material de marketing).</a:t>
            </a:r>
          </a:p>
          <a:p>
            <a:endParaRPr lang="pt-BR" sz="500" dirty="0">
              <a:latin typeface="+mn-lt"/>
            </a:endParaRPr>
          </a:p>
          <a:p>
            <a:r>
              <a:rPr lang="pt-BR" sz="2000" dirty="0">
                <a:latin typeface="+mn-lt"/>
              </a:rPr>
              <a:t>Valerá a pena enviar a oferta se o benefício esperado do direcionamento &gt; 0.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237825" y="4725347"/>
            <a:ext cx="517802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latin typeface="+mn-lt"/>
              </a:rPr>
              <a:t>Ou seja:</a:t>
            </a:r>
          </a:p>
          <a:p>
            <a:pPr algn="ctr"/>
            <a:endParaRPr lang="pt-BR" sz="500" dirty="0">
              <a:latin typeface="+mn-lt"/>
            </a:endParaRPr>
          </a:p>
          <a:p>
            <a:pPr algn="ctr"/>
            <a:r>
              <a:rPr lang="pt-BR" sz="2000" dirty="0">
                <a:latin typeface="+mn-lt"/>
              </a:rPr>
              <a:t>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(x)*(100,00-1,00) + [1 - 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(x)]*(0-1,00) &gt; 0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173307" y="5703845"/>
            <a:ext cx="1157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>
                <a:solidFill>
                  <a:srgbClr val="00B050"/>
                </a:solidFill>
                <a:latin typeface="+mn-lt"/>
              </a:rPr>
              <a:t>Resultado de</a:t>
            </a:r>
          </a:p>
          <a:p>
            <a:pPr algn="ctr"/>
            <a:r>
              <a:rPr lang="pt-BR" sz="1200" dirty="0">
                <a:solidFill>
                  <a:srgbClr val="00B050"/>
                </a:solidFill>
                <a:latin typeface="+mn-lt"/>
              </a:rPr>
              <a:t>uma resposta </a:t>
            </a:r>
          </a:p>
        </p:txBody>
      </p:sp>
      <p:sp>
        <p:nvSpPr>
          <p:cNvPr id="10" name="Chave direita 9"/>
          <p:cNvSpPr/>
          <p:nvPr/>
        </p:nvSpPr>
        <p:spPr>
          <a:xfrm rot="5400000">
            <a:off x="4594395" y="4949824"/>
            <a:ext cx="220414" cy="1282889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5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751393" y="5687800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>
                <a:solidFill>
                  <a:srgbClr val="00B050"/>
                </a:solidFill>
                <a:latin typeface="+mn-lt"/>
              </a:rPr>
              <a:t>Resultado de</a:t>
            </a:r>
          </a:p>
          <a:p>
            <a:pPr algn="ctr"/>
            <a:r>
              <a:rPr lang="pt-BR" sz="1200" dirty="0">
                <a:solidFill>
                  <a:srgbClr val="00B050"/>
                </a:solidFill>
                <a:latin typeface="+mn-lt"/>
              </a:rPr>
              <a:t>uma não resposta </a:t>
            </a:r>
          </a:p>
        </p:txBody>
      </p:sp>
      <p:sp>
        <p:nvSpPr>
          <p:cNvPr id="12" name="Chave direita 11"/>
          <p:cNvSpPr/>
          <p:nvPr/>
        </p:nvSpPr>
        <p:spPr>
          <a:xfrm rot="5400000">
            <a:off x="7333584" y="5166400"/>
            <a:ext cx="216400" cy="845725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23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7" grpId="0"/>
      <p:bldP spid="8" grpId="0"/>
      <p:bldP spid="10" grpId="0" animBg="1"/>
      <p:bldP spid="11" grpId="0"/>
      <p:bldP spid="12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45114A22-518E-855A-55DE-5423B1EAF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608" y="1295400"/>
            <a:ext cx="1046889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672335" y="1536968"/>
            <a:ext cx="517802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sz="2000" dirty="0">
              <a:latin typeface="+mn-lt"/>
            </a:endParaRPr>
          </a:p>
          <a:p>
            <a:pPr algn="ctr"/>
            <a:endParaRPr lang="pt-BR" sz="500" dirty="0">
              <a:latin typeface="+mn-lt"/>
            </a:endParaRPr>
          </a:p>
          <a:p>
            <a:pPr algn="ctr"/>
            <a:r>
              <a:rPr lang="pt-BR" sz="2000" dirty="0">
                <a:latin typeface="+mn-lt"/>
              </a:rPr>
              <a:t>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(x)*(100,00-1,00) + [1 - 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(x)]*(0-1,00) &gt; 0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2672335" y="2050318"/>
            <a:ext cx="342754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sz="2000" dirty="0">
              <a:latin typeface="+mn-lt"/>
            </a:endParaRPr>
          </a:p>
          <a:p>
            <a:pPr algn="ctr"/>
            <a:endParaRPr lang="pt-BR" sz="500" dirty="0">
              <a:latin typeface="+mn-lt"/>
            </a:endParaRPr>
          </a:p>
          <a:p>
            <a:pPr algn="ctr"/>
            <a:r>
              <a:rPr lang="pt-BR" sz="2000" dirty="0">
                <a:latin typeface="+mn-lt"/>
              </a:rPr>
              <a:t>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(x)*99 + [1 - 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(x)]*(-1) &gt; 0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2750882" y="2539604"/>
            <a:ext cx="264687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sz="2000" dirty="0">
              <a:latin typeface="+mn-lt"/>
            </a:endParaRPr>
          </a:p>
          <a:p>
            <a:pPr algn="ctr"/>
            <a:endParaRPr lang="pt-BR" sz="500" dirty="0">
              <a:latin typeface="+mn-lt"/>
            </a:endParaRPr>
          </a:p>
          <a:p>
            <a:pPr algn="ctr"/>
            <a:r>
              <a:rPr lang="pt-BR" sz="2000" dirty="0">
                <a:latin typeface="+mn-lt"/>
              </a:rPr>
              <a:t>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(x)*99 -1 + 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 &gt; 0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672336" y="3016862"/>
            <a:ext cx="200728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sz="2000" dirty="0">
              <a:latin typeface="+mn-lt"/>
            </a:endParaRPr>
          </a:p>
          <a:p>
            <a:pPr algn="ctr"/>
            <a:endParaRPr lang="pt-BR" sz="500" dirty="0">
              <a:latin typeface="+mn-lt"/>
            </a:endParaRPr>
          </a:p>
          <a:p>
            <a:pPr algn="ctr"/>
            <a:r>
              <a:rPr lang="pt-BR" sz="2000" dirty="0">
                <a:latin typeface="+mn-lt"/>
              </a:rPr>
              <a:t>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(x)*100 -1 &gt; 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2672335" y="3506150"/>
            <a:ext cx="170912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sz="2000" dirty="0">
              <a:latin typeface="+mn-lt"/>
            </a:endParaRPr>
          </a:p>
          <a:p>
            <a:pPr algn="ctr"/>
            <a:endParaRPr lang="pt-BR" sz="500" dirty="0">
              <a:latin typeface="+mn-lt"/>
            </a:endParaRPr>
          </a:p>
          <a:p>
            <a:pPr algn="ctr"/>
            <a:r>
              <a:rPr lang="pt-BR" sz="2000" dirty="0">
                <a:latin typeface="+mn-lt"/>
              </a:rPr>
              <a:t>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(x)*100 &gt; 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2672335" y="3959344"/>
            <a:ext cx="168026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sz="2000" dirty="0">
              <a:latin typeface="+mn-lt"/>
            </a:endParaRPr>
          </a:p>
          <a:p>
            <a:pPr algn="ctr"/>
            <a:endParaRPr lang="pt-BR" sz="500" dirty="0">
              <a:latin typeface="+mn-lt"/>
            </a:endParaRPr>
          </a:p>
          <a:p>
            <a:pPr algn="ctr"/>
            <a:r>
              <a:rPr lang="pt-BR" sz="2000" dirty="0">
                <a:latin typeface="+mn-lt"/>
              </a:rPr>
              <a:t>p</a:t>
            </a:r>
            <a:r>
              <a:rPr lang="pt-BR" sz="2000" baseline="-25000" dirty="0">
                <a:latin typeface="+mn-lt"/>
              </a:rPr>
              <a:t>R</a:t>
            </a:r>
            <a:r>
              <a:rPr lang="pt-BR" sz="2000" dirty="0">
                <a:latin typeface="+mn-lt"/>
              </a:rPr>
              <a:t>(x) &gt; 1/100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3068423" y="4975639"/>
            <a:ext cx="6398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  <a:latin typeface="+mn-lt"/>
              </a:rPr>
              <a:t>Portanto, devemos direcionar a oferta ao consumidor x se a probabilidade de ele responder for maior que 1%</a:t>
            </a:r>
          </a:p>
        </p:txBody>
      </p:sp>
    </p:spTree>
    <p:extLst>
      <p:ext uri="{BB962C8B-B14F-4D97-AF65-F5344CB8AC3E}">
        <p14:creationId xmlns:p14="http://schemas.microsoft.com/office/powerpoint/2010/main" val="216695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62" y="1882096"/>
            <a:ext cx="5544798" cy="4724793"/>
          </a:xfrm>
          <a:prstGeom prst="rect">
            <a:avLst/>
          </a:prstGeom>
        </p:spPr>
      </p:pic>
      <p:sp>
        <p:nvSpPr>
          <p:cNvPr id="3" name="Retângulo de cantos arredondados 2"/>
          <p:cNvSpPr/>
          <p:nvPr/>
        </p:nvSpPr>
        <p:spPr>
          <a:xfrm>
            <a:off x="2465697" y="1882096"/>
            <a:ext cx="3029803" cy="2467795"/>
          </a:xfrm>
          <a:prstGeom prst="roundRect">
            <a:avLst>
              <a:gd name="adj" fmla="val 837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7567602" y="2563916"/>
            <a:ext cx="30877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1 - Geramos um modelo,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separando um conjunto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de dados de retenção.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103428" y="3813605"/>
            <a:ext cx="8290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rgbClr val="FF0000"/>
                </a:solidFill>
              </a:rPr>
              <a:t>Conjunto</a:t>
            </a:r>
          </a:p>
          <a:p>
            <a:r>
              <a:rPr lang="pt-BR" sz="1100" dirty="0">
                <a:solidFill>
                  <a:srgbClr val="FF0000"/>
                </a:solidFill>
              </a:rPr>
              <a:t>de retenção</a:t>
            </a:r>
          </a:p>
        </p:txBody>
      </p:sp>
      <p:cxnSp>
        <p:nvCxnSpPr>
          <p:cNvPr id="8" name="Conector reto 7"/>
          <p:cNvCxnSpPr/>
          <p:nvPr/>
        </p:nvCxnSpPr>
        <p:spPr>
          <a:xfrm>
            <a:off x="3284561" y="3326308"/>
            <a:ext cx="818866" cy="5592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>
            <a:extLst>
              <a:ext uri="{FF2B5EF4-FFF2-40B4-BE49-F238E27FC236}">
                <a16:creationId xmlns:a16="http://schemas.microsoft.com/office/drawing/2014/main" id="{2A491C3C-C5BC-DEAE-2218-213382C3C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105" y="1162777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4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</p:txBody>
      </p:sp>
    </p:spTree>
    <p:extLst>
      <p:ext uri="{BB962C8B-B14F-4D97-AF65-F5344CB8AC3E}">
        <p14:creationId xmlns:p14="http://schemas.microsoft.com/office/powerpoint/2010/main" val="373480043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62" y="1749364"/>
            <a:ext cx="5544798" cy="4724793"/>
          </a:xfrm>
          <a:prstGeom prst="rect">
            <a:avLst/>
          </a:prstGeom>
        </p:spPr>
      </p:pic>
      <p:sp>
        <p:nvSpPr>
          <p:cNvPr id="3" name="Retângulo de cantos arredondados 2"/>
          <p:cNvSpPr/>
          <p:nvPr/>
        </p:nvSpPr>
        <p:spPr>
          <a:xfrm>
            <a:off x="2247331" y="4353636"/>
            <a:ext cx="2019870" cy="2019870"/>
          </a:xfrm>
          <a:prstGeom prst="roundRect">
            <a:avLst>
              <a:gd name="adj" fmla="val 837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7537005" y="2147880"/>
            <a:ext cx="3708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2 – Aplicamos o modelo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nos dados de retenção,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registrando o resultado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em uma matriz de confusão.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8142757" y="3546411"/>
            <a:ext cx="29776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Suponhamos que o conjunto</a:t>
            </a:r>
          </a:p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de retenção tenha 110 exemplos e que a matriz de</a:t>
            </a:r>
          </a:p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confusão resultante tenha ficado assim: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46" y="4771094"/>
            <a:ext cx="1396229" cy="152712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9173652" y="501424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B050"/>
                </a:solidFill>
              </a:rPr>
              <a:t>56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9749136" y="501652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9246442" y="552376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9689799" y="551335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B050"/>
                </a:solidFill>
              </a:rPr>
              <a:t>42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7F0C39E-880C-E393-5241-179182EC6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105" y="1162777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5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</p:txBody>
      </p:sp>
    </p:spTree>
    <p:extLst>
      <p:ext uri="{BB962C8B-B14F-4D97-AF65-F5344CB8AC3E}">
        <p14:creationId xmlns:p14="http://schemas.microsoft.com/office/powerpoint/2010/main" val="415105347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62" y="1749364"/>
            <a:ext cx="5544798" cy="4724793"/>
          </a:xfrm>
          <a:prstGeom prst="rect">
            <a:avLst/>
          </a:prstGeom>
        </p:spPr>
      </p:pic>
      <p:sp>
        <p:nvSpPr>
          <p:cNvPr id="3" name="Retângulo de cantos arredondados 2"/>
          <p:cNvSpPr/>
          <p:nvPr/>
        </p:nvSpPr>
        <p:spPr>
          <a:xfrm>
            <a:off x="4390031" y="4408228"/>
            <a:ext cx="1842446" cy="2060815"/>
          </a:xfrm>
          <a:prstGeom prst="roundRect">
            <a:avLst>
              <a:gd name="adj" fmla="val 837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7511985" y="2136505"/>
            <a:ext cx="36013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3 - Agora, apuramos as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probabilidades estimadas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de cada valor da matriz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de confusão, chegando na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matriz de probabilidades.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8775943" y="3683374"/>
            <a:ext cx="17541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No nosso exemplo:</a:t>
            </a:r>
          </a:p>
          <a:p>
            <a:endParaRPr lang="pt-BR" sz="400" dirty="0">
              <a:solidFill>
                <a:srgbClr val="FF0000"/>
              </a:solidFill>
              <a:latin typeface="+mj-lt"/>
            </a:endParaRPr>
          </a:p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56 / 110 = 0,51 </a:t>
            </a:r>
          </a:p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7 / 110 = 0,06</a:t>
            </a:r>
          </a:p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5 / 110 = 0,05</a:t>
            </a:r>
          </a:p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42 / 110 = 0,38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648" y="5182075"/>
            <a:ext cx="1396229" cy="1527125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9033207" y="5479822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0,51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9540451" y="5468449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0,06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9037757" y="5989341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0,05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9549354" y="5992574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B050"/>
                </a:solidFill>
              </a:rPr>
              <a:t>0,38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F985DA1-B289-17B2-93F3-70F29DB33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105" y="1162777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5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6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</p:txBody>
      </p:sp>
    </p:spTree>
    <p:extLst>
      <p:ext uri="{BB962C8B-B14F-4D97-AF65-F5344CB8AC3E}">
        <p14:creationId xmlns:p14="http://schemas.microsoft.com/office/powerpoint/2010/main" val="402932394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62" y="1749364"/>
            <a:ext cx="5544798" cy="4724793"/>
          </a:xfrm>
          <a:prstGeom prst="rect">
            <a:avLst/>
          </a:prstGeom>
        </p:spPr>
      </p:pic>
      <p:sp>
        <p:nvSpPr>
          <p:cNvPr id="3" name="Retângulo de cantos arredondados 2"/>
          <p:cNvSpPr/>
          <p:nvPr/>
        </p:nvSpPr>
        <p:spPr>
          <a:xfrm>
            <a:off x="5550093" y="1815151"/>
            <a:ext cx="1842446" cy="1978928"/>
          </a:xfrm>
          <a:prstGeom prst="roundRect">
            <a:avLst>
              <a:gd name="adj" fmla="val 837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7607521" y="2040968"/>
            <a:ext cx="37620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4 – Os custos / benefícios de cada situação da matriz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de confusão são definidos,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com base em aspectos de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negócio.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8578931" y="4202169"/>
            <a:ext cx="18920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Custos = valores negativos.</a:t>
            </a:r>
          </a:p>
          <a:p>
            <a:endParaRPr lang="pt-BR" sz="400" dirty="0">
              <a:solidFill>
                <a:srgbClr val="FF0000"/>
              </a:solidFill>
              <a:latin typeface="+mj-lt"/>
            </a:endParaRPr>
          </a:p>
          <a:p>
            <a:r>
              <a:rPr lang="pt-BR" sz="1400" dirty="0">
                <a:solidFill>
                  <a:srgbClr val="00B050"/>
                </a:solidFill>
                <a:latin typeface="+mj-lt"/>
              </a:rPr>
              <a:t>Benefícios = valores positivos.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B6C832B-1972-7ED4-138E-CFA9435BE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001" y="495302"/>
            <a:ext cx="10272000" cy="667475"/>
          </a:xfrm>
        </p:spPr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08AD2A6-4FB2-6929-B9F7-AEE228DA3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105" y="1162777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4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</p:txBody>
      </p:sp>
    </p:spTree>
    <p:extLst>
      <p:ext uri="{BB962C8B-B14F-4D97-AF65-F5344CB8AC3E}">
        <p14:creationId xmlns:p14="http://schemas.microsoft.com/office/powerpoint/2010/main" val="344231871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62" y="1749364"/>
            <a:ext cx="5544798" cy="4724793"/>
          </a:xfrm>
          <a:prstGeom prst="rect">
            <a:avLst/>
          </a:prstGeom>
        </p:spPr>
      </p:pic>
      <p:sp>
        <p:nvSpPr>
          <p:cNvPr id="3" name="Retângulo de cantos arredondados 2"/>
          <p:cNvSpPr/>
          <p:nvPr/>
        </p:nvSpPr>
        <p:spPr>
          <a:xfrm>
            <a:off x="6123300" y="4899546"/>
            <a:ext cx="1764361" cy="750627"/>
          </a:xfrm>
          <a:prstGeom prst="roundRect">
            <a:avLst>
              <a:gd name="adj" fmla="val 837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703057" y="2095556"/>
            <a:ext cx="35699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5 – Finalmente então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podemos aplicar a fórmula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do valor esperado.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Multiplicaremos cada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probabilidade por seu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correspondente custo / 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benefício, totalizando o</a:t>
            </a:r>
          </a:p>
          <a:p>
            <a:r>
              <a:rPr lang="pt-BR" sz="1800" dirty="0">
                <a:solidFill>
                  <a:srgbClr val="FF0000"/>
                </a:solidFill>
                <a:latin typeface="+mj-lt"/>
              </a:rPr>
              <a:t>resultado.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8671E62-3BD8-40D9-06E2-4138BCAAD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105" y="1162777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4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</p:txBody>
      </p:sp>
    </p:spTree>
    <p:extLst>
      <p:ext uri="{BB962C8B-B14F-4D97-AF65-F5344CB8AC3E}">
        <p14:creationId xmlns:p14="http://schemas.microsoft.com/office/powerpoint/2010/main" val="237712739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62" y="1749364"/>
            <a:ext cx="5544798" cy="4724793"/>
          </a:xfrm>
          <a:prstGeom prst="rect">
            <a:avLst/>
          </a:prstGeom>
        </p:spPr>
      </p:pic>
      <p:sp>
        <p:nvSpPr>
          <p:cNvPr id="3" name="Retângulo de cantos arredondados 2"/>
          <p:cNvSpPr/>
          <p:nvPr/>
        </p:nvSpPr>
        <p:spPr>
          <a:xfrm>
            <a:off x="6123300" y="4899546"/>
            <a:ext cx="1764361" cy="750627"/>
          </a:xfrm>
          <a:prstGeom prst="roundRect">
            <a:avLst>
              <a:gd name="adj" fmla="val 837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976014" y="2342320"/>
            <a:ext cx="3189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70C0"/>
                </a:solidFill>
                <a:latin typeface="+mj-lt"/>
              </a:rPr>
              <a:t>Apuramos o valor</a:t>
            </a:r>
          </a:p>
          <a:p>
            <a:r>
              <a:rPr lang="pt-BR" sz="1800" dirty="0">
                <a:solidFill>
                  <a:srgbClr val="0070C0"/>
                </a:solidFill>
                <a:latin typeface="+mj-lt"/>
              </a:rPr>
              <a:t>esperado para várias</a:t>
            </a:r>
          </a:p>
          <a:p>
            <a:r>
              <a:rPr lang="pt-BR" sz="1800" dirty="0">
                <a:solidFill>
                  <a:srgbClr val="0070C0"/>
                </a:solidFill>
                <a:latin typeface="+mj-lt"/>
              </a:rPr>
              <a:t>versões de modelos, comparando-os</a:t>
            </a:r>
          </a:p>
          <a:p>
            <a:r>
              <a:rPr lang="pt-BR" sz="1800" dirty="0">
                <a:solidFill>
                  <a:srgbClr val="0070C0"/>
                </a:solidFill>
                <a:latin typeface="+mj-lt"/>
              </a:rPr>
              <a:t>e chegando então no</a:t>
            </a:r>
          </a:p>
          <a:p>
            <a:r>
              <a:rPr lang="pt-BR" sz="1800" dirty="0">
                <a:solidFill>
                  <a:srgbClr val="0070C0"/>
                </a:solidFill>
                <a:latin typeface="+mj-lt"/>
              </a:rPr>
              <a:t>classificador mais</a:t>
            </a:r>
          </a:p>
          <a:p>
            <a:r>
              <a:rPr lang="pt-BR" sz="1800" dirty="0">
                <a:solidFill>
                  <a:srgbClr val="0070C0"/>
                </a:solidFill>
                <a:latin typeface="+mj-lt"/>
              </a:rPr>
              <a:t>vantajoso.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4DE537B-0E73-DDD1-495C-ABF544397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105" y="1162777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4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5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Valor esperado para usar um classificador</a:t>
            </a:r>
          </a:p>
        </p:txBody>
      </p:sp>
    </p:spTree>
    <p:extLst>
      <p:ext uri="{BB962C8B-B14F-4D97-AF65-F5344CB8AC3E}">
        <p14:creationId xmlns:p14="http://schemas.microsoft.com/office/powerpoint/2010/main" val="2207178926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22358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Outras métricas fundamentais de avaliação de modelos</a:t>
            </a:r>
          </a:p>
          <a:p>
            <a:pPr eaLnBrk="1" hangingPunct="1"/>
            <a:endParaRPr lang="pt-BR" sz="2500" kern="0" dirty="0"/>
          </a:p>
          <a:p>
            <a:pPr marL="914400" lvl="2" indent="0" eaLnBrk="1" hangingPunct="1">
              <a:buNone/>
            </a:pPr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2172703" y="3403020"/>
            <a:ext cx="1396229" cy="1527125"/>
            <a:chOff x="648702" y="2898046"/>
            <a:chExt cx="1396229" cy="1527125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702" y="2898046"/>
              <a:ext cx="1396229" cy="1527125"/>
            </a:xfrm>
            <a:prstGeom prst="rect">
              <a:avLst/>
            </a:prstGeom>
          </p:spPr>
        </p:pic>
        <p:sp>
          <p:nvSpPr>
            <p:cNvPr id="5" name="CaixaDeTexto 4"/>
            <p:cNvSpPr txBox="1"/>
            <p:nvPr/>
          </p:nvSpPr>
          <p:spPr>
            <a:xfrm>
              <a:off x="922613" y="3141198"/>
              <a:ext cx="5132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solidFill>
                    <a:srgbClr val="00B050"/>
                  </a:solidFill>
                </a:rPr>
                <a:t>VP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1484449" y="3143473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solidFill>
                    <a:srgbClr val="FF0000"/>
                  </a:solidFill>
                </a:rPr>
                <a:t>FP</a:t>
              </a:r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940811" y="3650717"/>
              <a:ext cx="5132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solidFill>
                    <a:srgbClr val="FF0000"/>
                  </a:solidFill>
                </a:rPr>
                <a:t>FN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1397816" y="3653950"/>
              <a:ext cx="5565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solidFill>
                    <a:srgbClr val="00B050"/>
                  </a:solidFill>
                </a:rPr>
                <a:t>VN</a:t>
              </a:r>
            </a:p>
          </p:txBody>
        </p:sp>
      </p:grpSp>
      <p:sp>
        <p:nvSpPr>
          <p:cNvPr id="2" name="CaixaDeTexto 1"/>
          <p:cNvSpPr txBox="1"/>
          <p:nvPr/>
        </p:nvSpPr>
        <p:spPr>
          <a:xfrm>
            <a:off x="3912357" y="2395120"/>
            <a:ext cx="59538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Taxa de verdadeiros positivos = VP / (VP+FN)</a:t>
            </a:r>
          </a:p>
          <a:p>
            <a:r>
              <a:rPr lang="pt-BR" sz="1900" dirty="0"/>
              <a:t>(conhecida também por </a:t>
            </a:r>
            <a:r>
              <a:rPr lang="pt-BR" sz="1900" b="1" dirty="0"/>
              <a:t>Sensibilidade</a:t>
            </a:r>
            <a:r>
              <a:rPr lang="pt-BR" sz="1900" dirty="0"/>
              <a:t> ou </a:t>
            </a:r>
            <a:r>
              <a:rPr lang="pt-BR" sz="1900" b="1" dirty="0"/>
              <a:t>Recall</a:t>
            </a:r>
            <a:r>
              <a:rPr lang="pt-BR" sz="1900" dirty="0"/>
              <a:t>)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912357" y="3721234"/>
            <a:ext cx="5382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Taxa de falsos negativos = FN / (VP+FN)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912357" y="4405903"/>
            <a:ext cx="6083910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Taxa de verdadeiros negativos = VN / (FP+VN)</a:t>
            </a:r>
          </a:p>
          <a:p>
            <a:r>
              <a:rPr lang="pt-BR" sz="1900" dirty="0"/>
              <a:t>(conhecida também por </a:t>
            </a:r>
            <a:r>
              <a:rPr lang="pt-BR" sz="1900" b="1" dirty="0"/>
              <a:t>Especificidade</a:t>
            </a:r>
            <a:r>
              <a:rPr lang="pt-BR" sz="1900" dirty="0"/>
              <a:t>)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3912357" y="5374895"/>
            <a:ext cx="5191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Taxa de falsos positivos = FP / (FP+VN)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945632" y="3092209"/>
            <a:ext cx="5359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1" dirty="0">
                <a:solidFill>
                  <a:srgbClr val="0070C0"/>
                </a:solidFill>
              </a:rPr>
              <a:t>Recall: situação de classes altamente desbalanceadas</a:t>
            </a:r>
          </a:p>
        </p:txBody>
      </p:sp>
    </p:spTree>
    <p:extLst>
      <p:ext uri="{BB962C8B-B14F-4D97-AF65-F5344CB8AC3E}">
        <p14:creationId xmlns:p14="http://schemas.microsoft.com/office/powerpoint/2010/main" val="187146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8829FA3F-E36C-F5B0-D1A8-BD401513E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58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Outras métricas fundamentais de avaliação de modelos</a:t>
            </a:r>
          </a:p>
          <a:p>
            <a:pPr eaLnBrk="1" hangingPunct="1"/>
            <a:endParaRPr lang="pt-BR" sz="2500" kern="0" dirty="0"/>
          </a:p>
          <a:p>
            <a:pPr marL="914400" lvl="2" indent="0" eaLnBrk="1" hangingPunct="1">
              <a:buNone/>
            </a:pPr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150352" y="2273431"/>
            <a:ext cx="3285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Precisão = VP / (VP+FP)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150352" y="5051897"/>
            <a:ext cx="1819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F1-score =  2</a:t>
            </a:r>
          </a:p>
        </p:txBody>
      </p:sp>
      <p:cxnSp>
        <p:nvCxnSpPr>
          <p:cNvPr id="17" name="Conector reto 16"/>
          <p:cNvCxnSpPr/>
          <p:nvPr/>
        </p:nvCxnSpPr>
        <p:spPr>
          <a:xfrm>
            <a:off x="6273420" y="5322630"/>
            <a:ext cx="32100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911759" y="513605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*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362136" y="4835805"/>
            <a:ext cx="3190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Precisão * Sensibilidade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378056" y="5329404"/>
            <a:ext cx="3209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Precisão + Sensibilidade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150352" y="3502957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Acurácia = 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428383" y="3265255"/>
            <a:ext cx="1334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VP + VN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793473" y="3762184"/>
            <a:ext cx="2714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VP + VN + FP + FN</a:t>
            </a:r>
          </a:p>
        </p:txBody>
      </p:sp>
      <p:cxnSp>
        <p:nvCxnSpPr>
          <p:cNvPr id="15" name="Conector reto 14"/>
          <p:cNvCxnSpPr>
            <a:stCxn id="21" idx="3"/>
          </p:cNvCxnSpPr>
          <p:nvPr/>
        </p:nvCxnSpPr>
        <p:spPr>
          <a:xfrm>
            <a:off x="5771308" y="3733789"/>
            <a:ext cx="28745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upo 24"/>
          <p:cNvGrpSpPr/>
          <p:nvPr/>
        </p:nvGrpSpPr>
        <p:grpSpPr>
          <a:xfrm>
            <a:off x="2172703" y="3198302"/>
            <a:ext cx="1396229" cy="1527125"/>
            <a:chOff x="648702" y="2898046"/>
            <a:chExt cx="1396229" cy="1527125"/>
          </a:xfrm>
        </p:grpSpPr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702" y="2898046"/>
              <a:ext cx="1396229" cy="1527125"/>
            </a:xfrm>
            <a:prstGeom prst="rect">
              <a:avLst/>
            </a:prstGeom>
          </p:spPr>
        </p:pic>
        <p:sp>
          <p:nvSpPr>
            <p:cNvPr id="27" name="CaixaDeTexto 26"/>
            <p:cNvSpPr txBox="1"/>
            <p:nvPr/>
          </p:nvSpPr>
          <p:spPr>
            <a:xfrm>
              <a:off x="922613" y="3141198"/>
              <a:ext cx="5132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solidFill>
                    <a:srgbClr val="00B050"/>
                  </a:solidFill>
                </a:rPr>
                <a:t>VP</a:t>
              </a: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1484449" y="3143473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solidFill>
                    <a:srgbClr val="FF0000"/>
                  </a:solidFill>
                </a:rPr>
                <a:t>FP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940811" y="3650717"/>
              <a:ext cx="5132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solidFill>
                    <a:srgbClr val="FF0000"/>
                  </a:solidFill>
                </a:rPr>
                <a:t>FN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1397816" y="3653950"/>
              <a:ext cx="5565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>
                  <a:solidFill>
                    <a:srgbClr val="00B050"/>
                  </a:solidFill>
                </a:rPr>
                <a:t>VN</a:t>
              </a:r>
            </a:p>
          </p:txBody>
        </p:sp>
      </p:grpSp>
      <p:sp>
        <p:nvSpPr>
          <p:cNvPr id="31" name="Retângulo 30"/>
          <p:cNvSpPr/>
          <p:nvPr/>
        </p:nvSpPr>
        <p:spPr>
          <a:xfrm>
            <a:off x="4150351" y="5761901"/>
            <a:ext cx="621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1" dirty="0">
                <a:solidFill>
                  <a:srgbClr val="0070C0"/>
                </a:solidFill>
              </a:rPr>
              <a:t>F1-score: situação de classes moderadamente desbalanceadas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4150352" y="4168109"/>
            <a:ext cx="4288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1" dirty="0">
                <a:solidFill>
                  <a:srgbClr val="0070C0"/>
                </a:solidFill>
              </a:rPr>
              <a:t>Acurácia: situação de classes balanceadas</a:t>
            </a:r>
          </a:p>
        </p:txBody>
      </p:sp>
      <p:sp>
        <p:nvSpPr>
          <p:cNvPr id="33" name="Retângulo 32"/>
          <p:cNvSpPr/>
          <p:nvPr/>
        </p:nvSpPr>
        <p:spPr>
          <a:xfrm>
            <a:off x="4150351" y="2723717"/>
            <a:ext cx="5573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1" dirty="0">
                <a:solidFill>
                  <a:srgbClr val="0070C0"/>
                </a:solidFill>
              </a:rPr>
              <a:t>Precisão: situação de classes altamente desbalanceadas</a:t>
            </a:r>
          </a:p>
        </p:txBody>
      </p:sp>
    </p:spTree>
    <p:extLst>
      <p:ext uri="{BB962C8B-B14F-4D97-AF65-F5344CB8AC3E}">
        <p14:creationId xmlns:p14="http://schemas.microsoft.com/office/powerpoint/2010/main" val="192760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31" grpId="0"/>
      <p:bldP spid="32" grpId="0"/>
      <p:bldP spid="33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963302" y="1295400"/>
            <a:ext cx="830421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Uso das métricas de avaliação de modelos</a:t>
            </a:r>
          </a:p>
          <a:p>
            <a:pPr eaLnBrk="1" hangingPunct="1"/>
            <a:endParaRPr lang="pt-BR" sz="2500" kern="0" dirty="0"/>
          </a:p>
          <a:p>
            <a:pPr marL="914400" lvl="2" indent="0" eaLnBrk="1" hangingPunct="1">
              <a:buNone/>
            </a:pPr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942" y="2020300"/>
            <a:ext cx="8525810" cy="3377321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3173015" y="5506804"/>
            <a:ext cx="61865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rgbClr val="FF0000"/>
                </a:solidFill>
              </a:rPr>
              <a:t>Atenção: </a:t>
            </a:r>
            <a:r>
              <a:rPr lang="pt-BR" sz="2000" b="1" dirty="0">
                <a:solidFill>
                  <a:srgbClr val="FF0000"/>
                </a:solidFill>
              </a:rPr>
              <a:t>Recall</a:t>
            </a:r>
            <a:r>
              <a:rPr lang="pt-BR" sz="2000" dirty="0">
                <a:solidFill>
                  <a:srgbClr val="FF0000"/>
                </a:solidFill>
              </a:rPr>
              <a:t> e </a:t>
            </a:r>
            <a:r>
              <a:rPr lang="pt-BR" sz="2000" b="1" dirty="0">
                <a:solidFill>
                  <a:srgbClr val="FF0000"/>
                </a:solidFill>
              </a:rPr>
              <a:t>Precisão</a:t>
            </a:r>
            <a:r>
              <a:rPr lang="pt-BR" sz="2000" dirty="0">
                <a:solidFill>
                  <a:srgbClr val="FF0000"/>
                </a:solidFill>
              </a:rPr>
              <a:t> aplicam-se a classes altamente</a:t>
            </a:r>
          </a:p>
          <a:p>
            <a:pPr algn="ctr"/>
            <a:r>
              <a:rPr lang="pt-BR" sz="2000" dirty="0">
                <a:solidFill>
                  <a:srgbClr val="FF0000"/>
                </a:solidFill>
              </a:rPr>
              <a:t>desbalanceadas, mas em cenários diferentes!</a:t>
            </a:r>
          </a:p>
        </p:txBody>
      </p:sp>
    </p:spTree>
    <p:extLst>
      <p:ext uri="{BB962C8B-B14F-4D97-AF65-F5344CB8AC3E}">
        <p14:creationId xmlns:p14="http://schemas.microsoft.com/office/powerpoint/2010/main" val="261357489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058838" y="1295400"/>
            <a:ext cx="1017316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Base de comparação para modelos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Vimos como comparar modelos entre si, mas é importante termos uma base razoável para comparar os modelos com ela.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Uma possibilidade é simular um modelo completamente aleatório e apurar seu desempenho, embora ser superior a um modelo assim possa não ser interessante nem informativo.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914400" lvl="2" indent="0" eaLnBrk="1" hangingPunct="1">
              <a:buNone/>
            </a:pPr>
            <a:endParaRPr lang="pt-BR" sz="2500" kern="0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318932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450" y="1640590"/>
            <a:ext cx="5244907" cy="4978708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7733744" y="4731743"/>
            <a:ext cx="2989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Taxa de verdadeiros positivos </a:t>
            </a:r>
          </a:p>
          <a:p>
            <a:r>
              <a:rPr lang="pt-BR" sz="1800" dirty="0"/>
              <a:t>= VP / (VP+FN)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733743" y="5405041"/>
            <a:ext cx="2451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Taxa de falsos positivos </a:t>
            </a:r>
          </a:p>
          <a:p>
            <a:r>
              <a:rPr lang="pt-BR" sz="1800" dirty="0"/>
              <a:t>= FP / (FP+VN)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921" y="3242093"/>
            <a:ext cx="1396229" cy="1527125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8560831" y="3485247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B050"/>
                </a:solidFill>
              </a:rPr>
              <a:t>VP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9122667" y="3487522"/>
            <a:ext cx="470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FP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8579029" y="3994766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FN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9036035" y="3997999"/>
            <a:ext cx="556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B050"/>
                </a:solidFill>
              </a:rPr>
              <a:t>VN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638210" y="1950779"/>
            <a:ext cx="2893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</a:rPr>
              <a:t>Os pontos de A a E são os classificadores em avaliação, cada um com sua matriz de confusão.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841805-FD07-52FF-6530-AA56C294BA18}"/>
              </a:ext>
            </a:extLst>
          </p:cNvPr>
          <p:cNvSpPr txBox="1"/>
          <p:nvPr/>
        </p:nvSpPr>
        <p:spPr>
          <a:xfrm>
            <a:off x="1061887" y="1142836"/>
            <a:ext cx="6496303" cy="53244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25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Gráfico ROC </a:t>
            </a:r>
            <a:r>
              <a:rPr lang="pt-BR" sz="25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(Receiver Operating Characteristic)</a:t>
            </a:r>
          </a:p>
        </p:txBody>
      </p:sp>
    </p:spTree>
    <p:extLst>
      <p:ext uri="{BB962C8B-B14F-4D97-AF65-F5344CB8AC3E}">
        <p14:creationId xmlns:p14="http://schemas.microsoft.com/office/powerpoint/2010/main" val="36521490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450" y="1296537"/>
            <a:ext cx="5244907" cy="4978708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7488076" y="4377221"/>
            <a:ext cx="2893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</a:rPr>
              <a:t>Zona ruim do gráfico</a:t>
            </a:r>
          </a:p>
          <a:p>
            <a:r>
              <a:rPr lang="pt-BR" sz="1800" dirty="0">
                <a:solidFill>
                  <a:srgbClr val="FF0000"/>
                </a:solidFill>
              </a:rPr>
              <a:t>(pior que um desempenho</a:t>
            </a:r>
          </a:p>
          <a:p>
            <a:r>
              <a:rPr lang="pt-BR" sz="1800" dirty="0">
                <a:solidFill>
                  <a:srgbClr val="FF0000"/>
                </a:solidFill>
              </a:rPr>
              <a:t>aleatório)</a:t>
            </a:r>
          </a:p>
        </p:txBody>
      </p:sp>
      <p:cxnSp>
        <p:nvCxnSpPr>
          <p:cNvPr id="4" name="Conector de seta reta 3"/>
          <p:cNvCxnSpPr>
            <a:stCxn id="22" idx="1"/>
          </p:cNvCxnSpPr>
          <p:nvPr/>
        </p:nvCxnSpPr>
        <p:spPr>
          <a:xfrm flipH="1" flipV="1">
            <a:off x="5536443" y="4230806"/>
            <a:ext cx="1951633" cy="6080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7474428" y="2457634"/>
            <a:ext cx="2454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70C0"/>
                </a:solidFill>
              </a:rPr>
              <a:t>Linha de desempenho</a:t>
            </a:r>
          </a:p>
          <a:p>
            <a:r>
              <a:rPr lang="pt-BR" sz="1800" dirty="0">
                <a:solidFill>
                  <a:srgbClr val="0070C0"/>
                </a:solidFill>
              </a:rPr>
              <a:t>aleatório </a:t>
            </a:r>
          </a:p>
        </p:txBody>
      </p:sp>
      <p:cxnSp>
        <p:nvCxnSpPr>
          <p:cNvPr id="7" name="Conector de seta reta 6"/>
          <p:cNvCxnSpPr/>
          <p:nvPr/>
        </p:nvCxnSpPr>
        <p:spPr>
          <a:xfrm flipH="1" flipV="1">
            <a:off x="6484963" y="1978925"/>
            <a:ext cx="975817" cy="74728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67368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450" y="1296537"/>
            <a:ext cx="5244907" cy="4978708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3966947" y="4742007"/>
            <a:ext cx="2183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>
                <a:solidFill>
                  <a:srgbClr val="00B050"/>
                </a:solidFill>
                <a:latin typeface="+mn-lt"/>
              </a:rPr>
              <a:t>Classificadores “conservadores”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585885" y="2524608"/>
            <a:ext cx="2975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70C0"/>
                </a:solidFill>
              </a:rPr>
              <a:t>No gráfico ROC, um modelo é superior a outro se estiver a noroeste do primeiro.</a:t>
            </a:r>
          </a:p>
        </p:txBody>
      </p:sp>
      <p:sp>
        <p:nvSpPr>
          <p:cNvPr id="3" name="Elipse 2"/>
          <p:cNvSpPr/>
          <p:nvPr/>
        </p:nvSpPr>
        <p:spPr>
          <a:xfrm>
            <a:off x="2342864" y="4513701"/>
            <a:ext cx="1583140" cy="11774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5675195" y="1460310"/>
            <a:ext cx="1583140" cy="10781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7340225" y="1605285"/>
            <a:ext cx="2183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dirty="0">
                <a:solidFill>
                  <a:srgbClr val="FF0000"/>
                </a:solidFill>
                <a:latin typeface="+mn-lt"/>
              </a:rPr>
              <a:t>Classificadores “permissivos”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585884" y="3495875"/>
            <a:ext cx="338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B050"/>
                </a:solidFill>
              </a:rPr>
              <a:t>Classificadores “conservadores”:</a:t>
            </a:r>
          </a:p>
          <a:p>
            <a:r>
              <a:rPr lang="pt-BR" sz="1800" dirty="0">
                <a:solidFill>
                  <a:srgbClr val="00B050"/>
                </a:solidFill>
              </a:rPr>
              <a:t>classificam positivamente somente com fortes evidências. Geram então poucos VPs e poucos FPs.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585884" y="4740096"/>
            <a:ext cx="3382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FF0000"/>
                </a:solidFill>
              </a:rPr>
              <a:t>Classificadores “permissivos”:</a:t>
            </a:r>
          </a:p>
          <a:p>
            <a:r>
              <a:rPr lang="pt-BR" sz="1800" dirty="0">
                <a:solidFill>
                  <a:srgbClr val="FF0000"/>
                </a:solidFill>
              </a:rPr>
              <a:t>classificam positivamente com fracas evidências. Classificam corretamente então quase todos os VPs, mas com altas taxas de  FPs.</a:t>
            </a:r>
          </a:p>
        </p:txBody>
      </p:sp>
    </p:spTree>
    <p:extLst>
      <p:ext uri="{BB962C8B-B14F-4D97-AF65-F5344CB8AC3E}">
        <p14:creationId xmlns:p14="http://schemas.microsoft.com/office/powerpoint/2010/main" val="253727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12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593" y="1351515"/>
            <a:ext cx="5241877" cy="497780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7394810" y="1901357"/>
            <a:ext cx="357799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70C0"/>
                </a:solidFill>
                <a:latin typeface="+mn-lt"/>
              </a:rPr>
              <a:t>Para cada limiar de um conjunto de dados de treinamento de um classificador, obtemos uma matriz de confusão específica (cada uma com seus VPs e FNs).</a:t>
            </a:r>
          </a:p>
          <a:p>
            <a:endParaRPr lang="pt-BR" sz="600" dirty="0">
              <a:solidFill>
                <a:srgbClr val="0070C0"/>
              </a:solidFill>
              <a:latin typeface="+mn-lt"/>
            </a:endParaRPr>
          </a:p>
          <a:p>
            <a:r>
              <a:rPr lang="pt-BR" sz="1800" dirty="0">
                <a:solidFill>
                  <a:srgbClr val="0070C0"/>
                </a:solidFill>
                <a:latin typeface="+mn-lt"/>
              </a:rPr>
              <a:t>Cada resultado ocupa então um ponto diferente do espaço ROC.</a:t>
            </a:r>
          </a:p>
          <a:p>
            <a:endParaRPr lang="pt-BR" sz="600" dirty="0">
              <a:solidFill>
                <a:srgbClr val="0070C0"/>
              </a:solidFill>
              <a:latin typeface="+mn-lt"/>
            </a:endParaRPr>
          </a:p>
          <a:p>
            <a:r>
              <a:rPr lang="pt-BR" sz="1800" dirty="0">
                <a:solidFill>
                  <a:srgbClr val="2B621C"/>
                </a:solidFill>
                <a:latin typeface="+mn-lt"/>
              </a:rPr>
              <a:t>A área sob a Curva ROC (denominada </a:t>
            </a:r>
            <a:r>
              <a:rPr lang="pt-BR" sz="1800" b="1" dirty="0">
                <a:solidFill>
                  <a:srgbClr val="2B621C"/>
                </a:solidFill>
                <a:latin typeface="+mn-lt"/>
              </a:rPr>
              <a:t>AUC</a:t>
            </a:r>
            <a:r>
              <a:rPr lang="pt-BR" sz="1800" dirty="0">
                <a:solidFill>
                  <a:srgbClr val="2B621C"/>
                </a:solidFill>
                <a:latin typeface="+mn-lt"/>
              </a:rPr>
              <a:t>) é um indicador geral de desempenho do modelo. A AUC varia de 0 a 1.</a:t>
            </a:r>
          </a:p>
        </p:txBody>
      </p:sp>
    </p:spTree>
    <p:extLst>
      <p:ext uri="{BB962C8B-B14F-4D97-AF65-F5344CB8AC3E}">
        <p14:creationId xmlns:p14="http://schemas.microsoft.com/office/powerpoint/2010/main" val="324177781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881AA-F5B6-EF26-A8D4-441BFD01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3E078075-6867-1BAE-136A-F72CF053C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38" y="1295400"/>
            <a:ext cx="1017316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de modelos com dados de retenção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Situação ideal: treino e retenção com indicadores de desempenho bons e parecidos: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18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Sintoma de sobreajuste: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914400" lvl="2" indent="0" eaLnBrk="1" hangingPunct="1">
              <a:buNone/>
            </a:pPr>
            <a:endParaRPr lang="pt-BR" sz="2500" kern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7FD81F-C0FC-8344-0231-75A1AEEAB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4E7C217-9C08-C439-D78A-D9D411C88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140" y="2697024"/>
            <a:ext cx="7573996" cy="16945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1AEDDFF-CD4F-1FA6-22E4-0B192E18B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3633" y="5141131"/>
            <a:ext cx="6792295" cy="114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2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AD4C-4617-016F-8F02-89136C96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2F43C94D-55F8-77EA-82F1-277696168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38" y="1295400"/>
            <a:ext cx="1017316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de modelos com dados de retenção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Sintoma de modelagem que não capturou um padrão (indicadores ruins em ambos os conjuntos):</a:t>
            </a: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18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914400" lvl="2" indent="0" eaLnBrk="1" hangingPunct="1">
              <a:buNone/>
            </a:pPr>
            <a:endParaRPr lang="pt-BR" sz="2500" kern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EBAAD-566D-459F-F148-31074DE7A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Avaliação de modelos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7DED78-6DCF-D8B6-1D32-5D687ACF9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9851" y="2969773"/>
            <a:ext cx="7396382" cy="113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5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46480-E48F-5BEF-9B91-8D5C1E6E3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C42B53C-C5C7-5CC5-CA86-F63054822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24D93B95-B7D7-E631-D785-A025F8E3A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999" y="1162777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Avaliação da eficácia de um modelo de regressão logística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Tal como em uma árvore de decisão ou qualquer método supervisionado, na regressão logística: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Fazemos uso de dados de retenção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Construímos matriz de confusão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Apuramos indicadores e curva ROC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Todavia, temos que a regressão logística já fornece a </a:t>
            </a:r>
            <a:r>
              <a:rPr lang="pt-BR" altLang="pt-BR" sz="26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probabilidade de classe 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diretamente, e não a </a:t>
            </a:r>
            <a:r>
              <a:rPr lang="pt-BR" altLang="pt-BR" sz="26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predição de classe 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antes, como no caso de uma árvore de decisão.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Então, devemos usar </a:t>
            </a: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limiares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para arbitrar a predição gerada na regressão logística.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154709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6865A-4913-CBD7-2A92-04AB9BF5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9E9F0B8-81CC-1650-823A-7B8B0D28CB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05485992-441C-534C-D6B7-DA727A8D6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Uso dos limiares para determinar a classe predita na regressão logística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mais comum é adotar um limiar de 0,5, ou seja: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p≥0,5 → prevê classe 1.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p&lt;0,5 → prevê classe 0.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301477534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B6B4-528C-F42A-D638-E9B86F27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11958EC-48C1-2AA2-F03C-20648EB9C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2CD9E768-68D8-0AA3-C6E4-9D7483E31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 exemplo: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8F74D0-2291-6CBE-5D0A-59F29AB5C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7152" y="1707281"/>
            <a:ext cx="7871078" cy="478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6194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065A-CFA3-DB43-6510-5F790C42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F56C1ED-ECB3-2232-E842-5C5C7B5EE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42F51956-EE8C-8A98-7086-DF98F2CDB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 isto, podemos criar a matriz de confusão e as métricas 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F6E952-D014-A981-380C-85AA7B22D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169" y="1853468"/>
            <a:ext cx="5471579" cy="1499274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2F827967-7896-8FAD-79DA-62EB3A1721CE}"/>
              </a:ext>
            </a:extLst>
          </p:cNvPr>
          <p:cNvGrpSpPr/>
          <p:nvPr/>
        </p:nvGrpSpPr>
        <p:grpSpPr>
          <a:xfrm>
            <a:off x="2136023" y="3865738"/>
            <a:ext cx="8021230" cy="1620156"/>
            <a:chOff x="2793745" y="3576982"/>
            <a:chExt cx="8021230" cy="1620156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6E4EAE8-1570-F47B-46AB-01EEB21B9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56202" y="3576982"/>
              <a:ext cx="5758773" cy="1620156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12CC4FD-5FAC-9595-73AF-87B67ACC2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93745" y="3664362"/>
              <a:ext cx="2273091" cy="1499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131874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D56D3-8284-0B47-C190-30B170CB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096D618-8F66-CD0B-F9F8-41F35082E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0F8E567E-C912-74B9-3410-9F254BAB1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 isto, podemos criar a matriz de confusão e as métricas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E278A29-B06F-6D45-4F9B-3D83ADFF3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138" y="2204165"/>
            <a:ext cx="5397506" cy="95612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709D913-2022-D236-0737-801787B322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3354" y="2204165"/>
            <a:ext cx="4364269" cy="95612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5360E27-5872-9241-0DB4-24E0666A69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3354" y="3436190"/>
            <a:ext cx="4560896" cy="127705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E4FAE56-501C-8151-B433-AB9FF1A7BE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0263" y="3386304"/>
            <a:ext cx="5180327" cy="98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06288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7890-73ED-1C96-497A-74C53493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9D48C2C-D22A-B299-B091-B81E640E8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D116DD20-F12D-F66D-E5F4-61377A348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utilizarmos limiar = 0,7: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1575D62-DB86-BA80-529B-DF0BC9297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751" y="1763578"/>
            <a:ext cx="7451378" cy="452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6772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0DB8-9474-78B7-4C2D-24C7FB07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6FD2439-679D-23E2-19D1-2F225CE55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295C9FCB-F90F-D8CD-7020-6297C8F01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424" y="1195690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Neste caso, temos: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Escolhemos o limiar que produz o melhor equilíbrio entre falsos positivos (FP) e falsos negativos (FN).</a:t>
            </a: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65A8214-1D11-C15E-E7F0-8D8C06F83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908" y="1827030"/>
            <a:ext cx="1035416" cy="1585480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8907CDDD-AEDD-7A82-AC36-B2BFE9A613D0}"/>
              </a:ext>
            </a:extLst>
          </p:cNvPr>
          <p:cNvGrpSpPr/>
          <p:nvPr/>
        </p:nvGrpSpPr>
        <p:grpSpPr>
          <a:xfrm>
            <a:off x="2983831" y="1515400"/>
            <a:ext cx="7978895" cy="2012748"/>
            <a:chOff x="2887579" y="1691862"/>
            <a:chExt cx="7978895" cy="2012748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1CA581B1-05BF-E363-DE0F-B0E41B271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63471" y="1691862"/>
              <a:ext cx="5503003" cy="1961278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EACE9874-0662-275F-22CE-56DA204F5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87579" y="1766294"/>
              <a:ext cx="2486526" cy="1938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992572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A367-8F8C-39EC-D05A-0F285A16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B9165001-2543-E894-FC95-51F8C7E88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332FD9DE-F324-2189-C6F0-340DA7447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Testando vários limiares:</a:t>
            </a: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57E7E1-3A66-0E08-4BE7-55B9F0C1C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764" y="1874734"/>
            <a:ext cx="9674471" cy="357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9107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BE4B3-B5C9-F7FD-2FBB-E6457FFE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46B00C4-B9C5-56F0-BBC8-9167AB57F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4000" dirty="0"/>
              <a:t>Avaliação de modelos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1E4CA449-F758-A992-92C7-5CD6F3CDF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596" y="1206912"/>
            <a:ext cx="10527887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escolha do limiar para predizer a classe na regressão logística também </a:t>
            </a: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depende do cenário de negócio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0,5: ponto de partida e padrão quando os custos dos erros são semelhantes.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Limiar menor (0,3–0,4): aumenta o Recall (encontra mais casos positivos), mas também aumenta os falsos positivos. Melhor, por exemplo, no caso de detecção de doenças graves (classe positiva: com  a doença).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Limiar maior (0,6–0,9): aumenta a Precisão (menos falsos positivos), mas deixa escapar mais casos positivos. Melhor, por exemplo, na concessão de empréstimos de valor elevado (classe positiva = bom pagador).</a:t>
            </a: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400050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300" baseline="30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alt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pt-BR" altLang="pt-BR" sz="2500" kern="0" dirty="0"/>
          </a:p>
          <a:p>
            <a:pPr eaLnBrk="1" hangingPunct="1"/>
            <a:endParaRPr lang="pt-BR" altLang="pt-BR" sz="2500" kern="0" dirty="0"/>
          </a:p>
          <a:p>
            <a:pPr marL="1371600" lvl="3" indent="0" eaLnBrk="1" hangingPunct="1">
              <a:buNone/>
            </a:pPr>
            <a:endParaRPr lang="pt-BR" altLang="pt-BR" sz="2500" kern="0" dirty="0"/>
          </a:p>
          <a:p>
            <a:pPr lvl="1" eaLnBrk="1" hangingPunct="1"/>
            <a:endParaRPr lang="pt-BR" altLang="pt-BR" sz="2500" kern="0" dirty="0"/>
          </a:p>
        </p:txBody>
      </p:sp>
    </p:spTree>
    <p:extLst>
      <p:ext uri="{BB962C8B-B14F-4D97-AF65-F5344CB8AC3E}">
        <p14:creationId xmlns:p14="http://schemas.microsoft.com/office/powerpoint/2010/main" val="225829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A301C-62D3-5044-BEC5-719B0E32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DDADECC4-83DE-E946-E1AE-F0783431A0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55" r="12955"/>
          <a:stretch/>
        </p:blipFill>
        <p:spPr/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F015C74-884B-3FF9-78A8-F47DDC12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Módulo 5 – Consolidação de modelagens</a:t>
            </a:r>
            <a:r>
              <a:rPr lang="pt-BR" sz="4000" i="1" dirty="0"/>
              <a:t> (Ensemble)</a:t>
            </a:r>
          </a:p>
        </p:txBody>
      </p:sp>
    </p:spTree>
    <p:extLst>
      <p:ext uri="{BB962C8B-B14F-4D97-AF65-F5344CB8AC3E}">
        <p14:creationId xmlns:p14="http://schemas.microsoft.com/office/powerpoint/2010/main" val="160546606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3EBA-721C-54A3-C177-1EC6DC79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E108BCE7-C3A8-F5D9-3635-068070844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39" y="1192163"/>
            <a:ext cx="9913809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Depois de treinar um modelo normalmente perguntamos: "Existe alguma forma de deixá-lo ainda melhor?“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8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Caminhos: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Melhorar os dados (preparar / ampliar)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Ajustar os parâmetros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Combinar vários modelos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7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Essa terceira estratégia é chamada de </a:t>
            </a:r>
            <a:r>
              <a:rPr lang="pt-BR" sz="27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Ensemble Learning</a:t>
            </a:r>
            <a:r>
              <a:rPr lang="pt-BR" sz="27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7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termo “ensemble” significa “conjunto”, “grupo” ou “reunião de elementos”.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8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7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EFAA59-AC0B-80A7-25CE-9ACE76922A93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Consolidação de modelagens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250422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A1AD-AA19-DCA7-90BF-41CF4464C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8B7553E-D5AB-3FEA-DE63-AA7C64FB6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39" y="1192163"/>
            <a:ext cx="10158261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</a:t>
            </a:r>
            <a:r>
              <a:rPr 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Ensemble Learning </a:t>
            </a: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um conjunto de técnicas que </a:t>
            </a:r>
            <a:r>
              <a:rPr lang="pt-BR" sz="26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combinam múltiplos modelos </a:t>
            </a: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produzir um modelo mais robusto.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Imaginemos três médicos avaliando um paciente. Um deles pode errar, mas a chance de os três errarem exatamente da mesma forma é muito menor. Assim, tomar uma decisão baseada na opinião dos três costuma produzir melhores resultados.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mesmo ocorre em Machine Learning. Em vez de usar apenas um modelo, utilizamos vários. Cada modelo produz uma previsão. Depois essas previsões são combinadas. O resultado normalmente é melhor.</a:t>
            </a: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7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D582A37-B88F-C164-A246-B02F14FFBFC6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Ensemble Learning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148996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50C1-1869-4326-2C6A-EC7A835D0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14B9FA4-3F6C-5944-39E6-8C3CC8354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39" y="1192163"/>
            <a:ext cx="1051849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Vantagens do Ensemble Learning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Maior precisão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Menor variância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Menor risco de sobreajuste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Maior robustez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7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Grandes famílias de Ensemble Learning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Bagging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Boosting</a:t>
            </a:r>
          </a:p>
          <a:p>
            <a:pPr marL="0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7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CA887D-E015-90B6-5965-6B50D5B2E4F8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Ensemble Learning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346688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46C74-35F7-97FF-AE83-9B0E4C9C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83C12D32-6967-AF91-5DC3-AC78E86B0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Ideia principal do </a:t>
            </a:r>
            <a:r>
              <a:rPr lang="pt-BR" sz="26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Bagging</a:t>
            </a: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é: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Treinar vários modelos de forma independente.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Cada modelo recebe uma amostra diferente do conjunto de treinamento.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Depois todos “votam”, ou seja, é verificado qual o resultado que aparece na maioria dos modelos para um indivíduo novo submetido.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Algoritmo mais famoso: </a:t>
            </a: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Floresta Aleatória (</a:t>
            </a:r>
            <a:r>
              <a:rPr lang="pt-BR" sz="25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Random Forest</a:t>
            </a: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7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D05F1B-00BF-0077-959A-71757B14B178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Bagging </a:t>
            </a:r>
            <a:r>
              <a:rPr lang="pt-BR" altLang="pt-BR" sz="4000" i="1" dirty="0"/>
              <a:t>(Bootstrap Aggregating)</a:t>
            </a:r>
          </a:p>
        </p:txBody>
      </p:sp>
    </p:spTree>
    <p:extLst>
      <p:ext uri="{BB962C8B-B14F-4D97-AF65-F5344CB8AC3E}">
        <p14:creationId xmlns:p14="http://schemas.microsoft.com/office/powerpoint/2010/main" val="124145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5159-353E-A381-FCDE-5B4BD322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D581821D-28D9-5CF2-E1B1-F18CC70BA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3204EBB-66FE-83AD-7B05-B86B9DB66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</a:t>
            </a: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Floresta Aleatória (</a:t>
            </a:r>
            <a:r>
              <a:rPr lang="pt-BR" altLang="pt-BR" sz="26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Random Forest</a:t>
            </a:r>
            <a:r>
              <a:rPr lang="pt-BR" alt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é uma técnica de aprendizado supervisionado utilizada tanto para classificação quanto para regressão.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Ela é considerada uma evolução das árvores de decisão, pois reduz um dos principais problemas delas: o sobrejauste.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ideia básica é: em vez de confiar em uma única árvore de decisão, constrói-se uma "floresta" composta por dezenas ou centenas de árvores, e todas “votam” na resposta final.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20996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976D-47FC-E3EA-1CB7-294DD1BC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BCE64CAD-8719-946F-5359-5B611EF02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0B2C903-5DDD-4DD2-5100-36E6F4006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Etapas do algoritmo de Random Forest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 – Criar diversos grupos de dados (amostras) para treinamento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 exemplo, em um conjunto com 10 clientes, criar: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1,2,3,4,5,6,7,8,9,10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1,2,2,4,5,6,7,8,9,10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2,3,4,4,5,6,7,8,9,10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Observar que indivíduos podem aparecer repetidos em algumas amostras e em outras nem aparecer.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Este processo de sorteios com reposição chama-se </a:t>
            </a:r>
            <a:r>
              <a:rPr lang="pt-BR" altLang="pt-BR" sz="2400" i="1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bootstrap sampling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cada conjunto, será construída sua árvore.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43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6B61-7270-086C-3AD7-AB6F2B67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4981917-C6F4-FC73-838F-B7C1E5BE5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AEF572C-8AD5-50A1-A1EE-2876CAFE0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Etapas do algoritmo de Random Forest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 – Escolher variáveis aleatórias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cada nó de uma árvore, são </a:t>
            </a:r>
            <a:r>
              <a:rPr lang="pt-BR" altLang="pt-BR" sz="24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sorteadas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apenas </a:t>
            </a:r>
            <a:r>
              <a:rPr lang="pt-BR" altLang="pt-BR" sz="24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algumas variáveis 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(atributos) para verificação de qual contribui mais para a próxima divisão.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Isto aumenta a diversidade das árvores.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Em uma divisão tradicional, todas as variáveis disponíveis no nível são testadas. Aqui isto não ocorre.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36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378B8-E2DB-FDB8-C077-BFF8E74C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6591137-2050-D22E-F8C1-811D2C4E8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65CE0467-289F-E7DA-422A-62862B37D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Etapas do algoritmo de Random Forest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3 – Construir as árvores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Cada árvore é desenvolvida conforme seu algoritmo (entropia, Gini).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Random Forest clássica, normalmente deixamos todas as árvores crescerem até quase o máximo possível, sem realizar poda (</a:t>
            </a:r>
            <a:r>
              <a:rPr lang="pt-BR" alt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pruning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), Definir uma profundidade máxima é aceitável.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controle do sobreajuste vem principalmente da agregação de muitas árvores diferentes, e não da limitação da profundidade de cada uma.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As árvores finais da “floresta” poderão ter profundidades diferentes, pois cada uma teve um </a:t>
            </a:r>
            <a:r>
              <a:rPr lang="pt-BR" alt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bootstrap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diferente.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03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C21C-B49B-8C9C-95F1-CB860245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4BAE71E7-98BA-4B94-4737-D92D9DC162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9FB0965-393C-984F-CAC8-A9814C9CC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Etapas do algoritmo de Random Forest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4 – Submeter um indivíduo novo a todas as árvores e realizar “votação”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Cada árvore gerada pode predizer uma classe (por exemplo: “bom pagador” ou “mal pagador”).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 por exemplo, se para 500 árvores tivermos: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412 predições como “bom pagador”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88 predições como “mal pagador”</a:t>
            </a: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   o resultado final é “bom pagador” (</a:t>
            </a:r>
            <a:r>
              <a:rPr lang="pt-BR" alt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votação majoritária</a:t>
            </a:r>
            <a:r>
              <a:rPr lang="pt-BR" alt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48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35444-ECDF-1883-36D5-80235B31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C1820AF-D0E8-EB51-5245-656C188C8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B504B23-F7BA-CFA8-034E-DE62E2B23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Parâmetros da modelagem de Random Forest (biblioteca 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scikit-learn</a:t>
            </a: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</a:t>
            </a:r>
            <a:endParaRPr lang="pt-BR" altLang="pt-BR" sz="2600" i="1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2228D5-C083-1AE0-DFAE-A95373CE7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210" y="1812124"/>
            <a:ext cx="8771668" cy="444119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745B947-3B97-24D1-D13C-85894C06B838}"/>
              </a:ext>
            </a:extLst>
          </p:cNvPr>
          <p:cNvSpPr txBox="1"/>
          <p:nvPr/>
        </p:nvSpPr>
        <p:spPr>
          <a:xfrm>
            <a:off x="7822315" y="4312939"/>
            <a:ext cx="3179561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Antes da divisão,  checa se pode fazê-la.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5849F7-E57D-B98E-CDD9-8C0E7CC39CC4}"/>
              </a:ext>
            </a:extLst>
          </p:cNvPr>
          <p:cNvSpPr txBox="1"/>
          <p:nvPr/>
        </p:nvSpPr>
        <p:spPr>
          <a:xfrm>
            <a:off x="7540092" y="4768245"/>
            <a:ext cx="3950478" cy="503590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spcBef>
                <a:spcPts val="0"/>
              </a:spcBef>
            </a:pPr>
            <a:r>
              <a:rPr lang="pt-BR" sz="1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Depois da divisão,  checa se ela é aceitável (senão,</a:t>
            </a:r>
          </a:p>
          <a:p>
            <a:pPr>
              <a:spcBef>
                <a:spcPts val="0"/>
              </a:spcBef>
            </a:pPr>
            <a:r>
              <a:rPr lang="pt-BR" sz="1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algoritmo busca outra).</a:t>
            </a:r>
          </a:p>
        </p:txBody>
      </p:sp>
    </p:spTree>
    <p:extLst>
      <p:ext uri="{BB962C8B-B14F-4D97-AF65-F5344CB8AC3E}">
        <p14:creationId xmlns:p14="http://schemas.microsoft.com/office/powerpoint/2010/main" val="1957099750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524B9-4D76-2606-ABBD-C57C97776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35A142A3-CD9B-FF8D-9B8B-65832BFD3A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165EE31-C72D-9751-96FE-99E46F40D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Vantagens da Random Forest</a:t>
            </a:r>
            <a:endParaRPr lang="pt-BR" altLang="pt-BR" sz="2600" i="1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Alta precisão em muitos problemas.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Reduz bastante o sobreajuste em relação a uma árvore isolada.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Funciona bem com muitas variáveis.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Captura relações não lineares.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robusta a ruídos e valores extremos.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Estima automaticamente a importância das variáveis (</a:t>
            </a:r>
            <a:r>
              <a:rPr lang="pt-BR" alt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feature importance)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Exige pouca preparação dos dados (não requer </a:t>
            </a:r>
            <a:r>
              <a:rPr lang="pt-BR" altLang="pt-BR" sz="25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normalização</a:t>
            </a: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</a:t>
            </a: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3E97-CD07-3AE2-0437-666734310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BFC56E0-1588-57D8-003B-756C88B3E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D3BFA9B-2DDD-659E-2B8D-7D649389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295400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Desvantagens da Random Forest</a:t>
            </a:r>
            <a:endParaRPr lang="pt-BR" altLang="pt-BR" sz="2600" i="1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menos interpretável do que uma árvore de decisão única.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Pode consumir bastante memória e processamento quando há muitas árvores.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tempo de treinamento aumenta com o número de árvores.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modelo final pode ocupar bastante espaço em disco.</a:t>
            </a:r>
            <a:endParaRPr lang="pt-BR" alt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3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4EC51-EA04-1950-43D5-739E947C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C357831B-F919-AD2B-4431-4646E114AA74}"/>
              </a:ext>
            </a:extLst>
          </p:cNvPr>
          <p:cNvSpPr/>
          <p:nvPr/>
        </p:nvSpPr>
        <p:spPr>
          <a:xfrm>
            <a:off x="620793" y="5986202"/>
            <a:ext cx="9931027" cy="386107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rgbClr val="FFFF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822999-E714-FC05-7996-D1F2B706A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dirty="0"/>
              <a:t>Modelagem de Floresta Aleatória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25EF3F8-5E4A-41A2-3A5C-3D9163C76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46" y="1133172"/>
            <a:ext cx="10483644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alt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Random Forest</a:t>
            </a:r>
            <a:r>
              <a:rPr lang="pt-BR" alt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resumo esquemático do algoritmo</a:t>
            </a:r>
          </a:p>
        </p:txBody>
      </p:sp>
      <p:sp>
        <p:nvSpPr>
          <p:cNvPr id="2" name="Fluxograma: Documento 1">
            <a:extLst>
              <a:ext uri="{FF2B5EF4-FFF2-40B4-BE49-F238E27FC236}">
                <a16:creationId xmlns:a16="http://schemas.microsoft.com/office/drawing/2014/main" id="{39ADE1D9-23DA-8500-784A-369E52E1E0C1}"/>
              </a:ext>
            </a:extLst>
          </p:cNvPr>
          <p:cNvSpPr/>
          <p:nvPr/>
        </p:nvSpPr>
        <p:spPr>
          <a:xfrm>
            <a:off x="1085137" y="1761094"/>
            <a:ext cx="1327355" cy="6674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43AF73-A218-E516-54AE-3908EDEF01ED}"/>
              </a:ext>
            </a:extLst>
          </p:cNvPr>
          <p:cNvSpPr txBox="1"/>
          <p:nvPr/>
        </p:nvSpPr>
        <p:spPr>
          <a:xfrm>
            <a:off x="10162962" y="1844891"/>
            <a:ext cx="1870421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 sampling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E2CE084-434A-E891-AABD-C96357E6E399}"/>
              </a:ext>
            </a:extLst>
          </p:cNvPr>
          <p:cNvSpPr/>
          <p:nvPr/>
        </p:nvSpPr>
        <p:spPr>
          <a:xfrm>
            <a:off x="789057" y="2905470"/>
            <a:ext cx="1919515" cy="2580932"/>
          </a:xfrm>
          <a:prstGeom prst="roundRect">
            <a:avLst>
              <a:gd name="adj" fmla="val 10727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Construção da árvore 1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 1</a:t>
            </a:r>
          </a:p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 2.1   Nó 2.2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Até completar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divisões</a:t>
            </a:r>
          </a:p>
        </p:txBody>
      </p:sp>
      <p:sp>
        <p:nvSpPr>
          <p:cNvPr id="19" name="Fluxograma: Documento 18">
            <a:extLst>
              <a:ext uri="{FF2B5EF4-FFF2-40B4-BE49-F238E27FC236}">
                <a16:creationId xmlns:a16="http://schemas.microsoft.com/office/drawing/2014/main" id="{DEFD41DB-2E4E-BA1D-3385-0DDED5B7116E}"/>
              </a:ext>
            </a:extLst>
          </p:cNvPr>
          <p:cNvSpPr/>
          <p:nvPr/>
        </p:nvSpPr>
        <p:spPr>
          <a:xfrm>
            <a:off x="3376050" y="1761094"/>
            <a:ext cx="1327355" cy="6674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2</a:t>
            </a:r>
          </a:p>
        </p:txBody>
      </p:sp>
      <p:sp>
        <p:nvSpPr>
          <p:cNvPr id="21" name="Fluxograma: Documento 20">
            <a:extLst>
              <a:ext uri="{FF2B5EF4-FFF2-40B4-BE49-F238E27FC236}">
                <a16:creationId xmlns:a16="http://schemas.microsoft.com/office/drawing/2014/main" id="{5849B4A9-F000-E387-4B42-4C808CF16194}"/>
              </a:ext>
            </a:extLst>
          </p:cNvPr>
          <p:cNvSpPr/>
          <p:nvPr/>
        </p:nvSpPr>
        <p:spPr>
          <a:xfrm>
            <a:off x="5682938" y="1761094"/>
            <a:ext cx="1327355" cy="6674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3</a:t>
            </a:r>
          </a:p>
        </p:txBody>
      </p:sp>
      <p:sp>
        <p:nvSpPr>
          <p:cNvPr id="23" name="Fluxograma: Documento 22">
            <a:extLst>
              <a:ext uri="{FF2B5EF4-FFF2-40B4-BE49-F238E27FC236}">
                <a16:creationId xmlns:a16="http://schemas.microsoft.com/office/drawing/2014/main" id="{B4A09372-B771-1FBD-27E1-ADCB97A12398}"/>
              </a:ext>
            </a:extLst>
          </p:cNvPr>
          <p:cNvSpPr/>
          <p:nvPr/>
        </p:nvSpPr>
        <p:spPr>
          <a:xfrm>
            <a:off x="8582941" y="1761094"/>
            <a:ext cx="1327355" cy="6674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N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0DE8279-6CB1-F126-8437-4CF8B3A15E60}"/>
              </a:ext>
            </a:extLst>
          </p:cNvPr>
          <p:cNvSpPr txBox="1"/>
          <p:nvPr/>
        </p:nvSpPr>
        <p:spPr>
          <a:xfrm>
            <a:off x="7561513" y="1585491"/>
            <a:ext cx="525886" cy="649015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3200" b="1" dirty="0">
                <a:solidFill>
                  <a:srgbClr val="0070C0"/>
                </a:solidFill>
              </a:rPr>
              <a:t>...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DC48E96-A8E2-79B2-E96C-576AB108FBEA}"/>
              </a:ext>
            </a:extLst>
          </p:cNvPr>
          <p:cNvCxnSpPr>
            <a:cxnSpLocks/>
          </p:cNvCxnSpPr>
          <p:nvPr/>
        </p:nvCxnSpPr>
        <p:spPr>
          <a:xfrm flipH="1">
            <a:off x="1391262" y="3628106"/>
            <a:ext cx="245807" cy="4375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F3382626-A665-0085-74E0-6226A4ED591B}"/>
              </a:ext>
            </a:extLst>
          </p:cNvPr>
          <p:cNvCxnSpPr>
            <a:cxnSpLocks/>
          </p:cNvCxnSpPr>
          <p:nvPr/>
        </p:nvCxnSpPr>
        <p:spPr>
          <a:xfrm>
            <a:off x="1818965" y="3633026"/>
            <a:ext cx="245807" cy="4375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5B1681C-2063-FCD4-CC5E-237BB33E4B78}"/>
              </a:ext>
            </a:extLst>
          </p:cNvPr>
          <p:cNvSpPr txBox="1"/>
          <p:nvPr/>
        </p:nvSpPr>
        <p:spPr>
          <a:xfrm>
            <a:off x="2109016" y="3490975"/>
            <a:ext cx="776532" cy="533470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Algumas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variáveis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EFB935C-F2C5-46B4-D544-5728FD1F3903}"/>
              </a:ext>
            </a:extLst>
          </p:cNvPr>
          <p:cNvSpPr/>
          <p:nvPr/>
        </p:nvSpPr>
        <p:spPr>
          <a:xfrm>
            <a:off x="3079970" y="2925136"/>
            <a:ext cx="1919515" cy="2580932"/>
          </a:xfrm>
          <a:prstGeom prst="roundRect">
            <a:avLst>
              <a:gd name="adj" fmla="val 10727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Construção da árvore 2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 1</a:t>
            </a:r>
          </a:p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 2.1   Nó 2.2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Até completar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divisões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6FAD3EFC-FF90-F808-72FC-C8A8246B55DB}"/>
              </a:ext>
            </a:extLst>
          </p:cNvPr>
          <p:cNvCxnSpPr>
            <a:cxnSpLocks/>
          </p:cNvCxnSpPr>
          <p:nvPr/>
        </p:nvCxnSpPr>
        <p:spPr>
          <a:xfrm flipH="1">
            <a:off x="3682175" y="3647772"/>
            <a:ext cx="245807" cy="4375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C04072AF-BD8E-DED7-65BA-C8BD4261F259}"/>
              </a:ext>
            </a:extLst>
          </p:cNvPr>
          <p:cNvCxnSpPr>
            <a:cxnSpLocks/>
          </p:cNvCxnSpPr>
          <p:nvPr/>
        </p:nvCxnSpPr>
        <p:spPr>
          <a:xfrm>
            <a:off x="4109878" y="3652692"/>
            <a:ext cx="245807" cy="4375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6C4F1D3-A478-65E7-7158-56069278FC62}"/>
              </a:ext>
            </a:extLst>
          </p:cNvPr>
          <p:cNvSpPr txBox="1"/>
          <p:nvPr/>
        </p:nvSpPr>
        <p:spPr>
          <a:xfrm>
            <a:off x="4399929" y="3510641"/>
            <a:ext cx="776532" cy="533470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Algumas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variáveis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FE94E76-D39B-4D7A-2FF1-C87D526CCF3A}"/>
              </a:ext>
            </a:extLst>
          </p:cNvPr>
          <p:cNvSpPr/>
          <p:nvPr/>
        </p:nvSpPr>
        <p:spPr>
          <a:xfrm>
            <a:off x="5386858" y="2939886"/>
            <a:ext cx="1919515" cy="2580932"/>
          </a:xfrm>
          <a:prstGeom prst="roundRect">
            <a:avLst>
              <a:gd name="adj" fmla="val 10727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Construção da árvore 3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 1</a:t>
            </a:r>
          </a:p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 2.1   Nó 2.2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Até completar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divisões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411A679E-4270-C284-2669-2DE11064EEA4}"/>
              </a:ext>
            </a:extLst>
          </p:cNvPr>
          <p:cNvCxnSpPr>
            <a:cxnSpLocks/>
          </p:cNvCxnSpPr>
          <p:nvPr/>
        </p:nvCxnSpPr>
        <p:spPr>
          <a:xfrm flipH="1">
            <a:off x="5968173" y="3662522"/>
            <a:ext cx="245807" cy="4375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C2157971-D927-D1E1-D1EE-B03F7D9E5901}"/>
              </a:ext>
            </a:extLst>
          </p:cNvPr>
          <p:cNvCxnSpPr>
            <a:cxnSpLocks/>
          </p:cNvCxnSpPr>
          <p:nvPr/>
        </p:nvCxnSpPr>
        <p:spPr>
          <a:xfrm>
            <a:off x="6395876" y="3667442"/>
            <a:ext cx="245807" cy="4375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E5A4B56-1C41-3435-81F8-84EB7D54535E}"/>
              </a:ext>
            </a:extLst>
          </p:cNvPr>
          <p:cNvSpPr txBox="1"/>
          <p:nvPr/>
        </p:nvSpPr>
        <p:spPr>
          <a:xfrm>
            <a:off x="6685927" y="3525391"/>
            <a:ext cx="776532" cy="533470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Algumas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variáveis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3A6594AE-235B-9453-A289-7CCE640FA488}"/>
              </a:ext>
            </a:extLst>
          </p:cNvPr>
          <p:cNvSpPr/>
          <p:nvPr/>
        </p:nvSpPr>
        <p:spPr>
          <a:xfrm>
            <a:off x="8197669" y="2925136"/>
            <a:ext cx="2097898" cy="2580932"/>
          </a:xfrm>
          <a:prstGeom prst="roundRect">
            <a:avLst>
              <a:gd name="adj" fmla="val 10727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Construção da árvore N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 1</a:t>
            </a:r>
          </a:p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Nó 2.1   Nó 2.2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Até completar</a:t>
            </a:r>
          </a:p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divisões</a:t>
            </a: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2F6967E6-02AC-5BC4-6670-F08C20C954B2}"/>
              </a:ext>
            </a:extLst>
          </p:cNvPr>
          <p:cNvCxnSpPr>
            <a:cxnSpLocks/>
          </p:cNvCxnSpPr>
          <p:nvPr/>
        </p:nvCxnSpPr>
        <p:spPr>
          <a:xfrm flipH="1">
            <a:off x="8932606" y="3647772"/>
            <a:ext cx="245807" cy="4375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3A346F39-0738-69E6-8C5A-054AC7088670}"/>
              </a:ext>
            </a:extLst>
          </p:cNvPr>
          <p:cNvCxnSpPr>
            <a:cxnSpLocks/>
          </p:cNvCxnSpPr>
          <p:nvPr/>
        </p:nvCxnSpPr>
        <p:spPr>
          <a:xfrm>
            <a:off x="9360309" y="3652692"/>
            <a:ext cx="245807" cy="4375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1A584C2-AF8C-147A-A738-2C589A4ECFA0}"/>
              </a:ext>
            </a:extLst>
          </p:cNvPr>
          <p:cNvSpPr txBox="1"/>
          <p:nvPr/>
        </p:nvSpPr>
        <p:spPr>
          <a:xfrm>
            <a:off x="9650360" y="3510641"/>
            <a:ext cx="776532" cy="533470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Algumas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variáveis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2CC1F9F-5908-F908-A2B7-0FE72232BD94}"/>
              </a:ext>
            </a:extLst>
          </p:cNvPr>
          <p:cNvSpPr txBox="1"/>
          <p:nvPr/>
        </p:nvSpPr>
        <p:spPr>
          <a:xfrm>
            <a:off x="7611276" y="3881288"/>
            <a:ext cx="525886" cy="649015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3200" b="1" dirty="0">
                <a:solidFill>
                  <a:srgbClr val="00B050"/>
                </a:solidFill>
              </a:rPr>
              <a:t>...</a:t>
            </a:r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55D5F378-420D-0822-DBB6-9E5475CF8B99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1748815" y="2384441"/>
            <a:ext cx="0" cy="521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7B095B71-011B-63D5-199A-30019B741912}"/>
              </a:ext>
            </a:extLst>
          </p:cNvPr>
          <p:cNvCxnSpPr>
            <a:stCxn id="19" idx="2"/>
            <a:endCxn id="31" idx="0"/>
          </p:cNvCxnSpPr>
          <p:nvPr/>
        </p:nvCxnSpPr>
        <p:spPr>
          <a:xfrm>
            <a:off x="4039728" y="2384441"/>
            <a:ext cx="0" cy="54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9A6B0A81-FC92-A114-4F2A-E4306BF92836}"/>
              </a:ext>
            </a:extLst>
          </p:cNvPr>
          <p:cNvCxnSpPr>
            <a:stCxn id="21" idx="2"/>
            <a:endCxn id="35" idx="0"/>
          </p:cNvCxnSpPr>
          <p:nvPr/>
        </p:nvCxnSpPr>
        <p:spPr>
          <a:xfrm>
            <a:off x="6346616" y="2384441"/>
            <a:ext cx="0" cy="555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00FB46C3-7A11-4464-13D4-B53D49D354F0}"/>
              </a:ext>
            </a:extLst>
          </p:cNvPr>
          <p:cNvCxnSpPr>
            <a:stCxn id="23" idx="2"/>
            <a:endCxn id="39" idx="0"/>
          </p:cNvCxnSpPr>
          <p:nvPr/>
        </p:nvCxnSpPr>
        <p:spPr>
          <a:xfrm flipH="1">
            <a:off x="9246618" y="2384441"/>
            <a:ext cx="1" cy="54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B16C2422-1B70-C724-3510-635D4F209358}"/>
              </a:ext>
            </a:extLst>
          </p:cNvPr>
          <p:cNvSpPr txBox="1"/>
          <p:nvPr/>
        </p:nvSpPr>
        <p:spPr>
          <a:xfrm>
            <a:off x="1228239" y="5619316"/>
            <a:ext cx="1247622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PREDIÇÃO 1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D86E2E1-DAF4-8C8D-3172-82EC24D51552}"/>
              </a:ext>
            </a:extLst>
          </p:cNvPr>
          <p:cNvSpPr txBox="1"/>
          <p:nvPr/>
        </p:nvSpPr>
        <p:spPr>
          <a:xfrm>
            <a:off x="3533901" y="5619316"/>
            <a:ext cx="1247622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PREDIÇÃO 2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327DCC3B-9997-1525-E9BF-EE0FDA21F77A}"/>
              </a:ext>
            </a:extLst>
          </p:cNvPr>
          <p:cNvSpPr txBox="1"/>
          <p:nvPr/>
        </p:nvSpPr>
        <p:spPr>
          <a:xfrm>
            <a:off x="5848164" y="5619316"/>
            <a:ext cx="1247622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PREDIÇÃO 3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94DFD7B1-8BCA-F56C-3B5B-01995FBFD611}"/>
              </a:ext>
            </a:extLst>
          </p:cNvPr>
          <p:cNvSpPr txBox="1"/>
          <p:nvPr/>
        </p:nvSpPr>
        <p:spPr>
          <a:xfrm>
            <a:off x="8791931" y="5619316"/>
            <a:ext cx="1278079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PREDIÇÃO N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22D16E6F-1E76-EF18-E3E3-ABCF8507DE0E}"/>
              </a:ext>
            </a:extLst>
          </p:cNvPr>
          <p:cNvSpPr txBox="1"/>
          <p:nvPr/>
        </p:nvSpPr>
        <p:spPr>
          <a:xfrm>
            <a:off x="10417445" y="3634522"/>
            <a:ext cx="1858558" cy="100706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Árvores distintas.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Variáveis sorteadas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cada nó.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49E7A5CD-0E34-817F-0E0B-23BBB1F187BE}"/>
              </a:ext>
            </a:extLst>
          </p:cNvPr>
          <p:cNvSpPr txBox="1"/>
          <p:nvPr/>
        </p:nvSpPr>
        <p:spPr>
          <a:xfrm>
            <a:off x="726801" y="5949838"/>
            <a:ext cx="9931027" cy="403691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Indivíduo novo: submeter a todas as predições e o resultado majoritário será a predição final para ele</a:t>
            </a:r>
          </a:p>
        </p:txBody>
      </p: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A4F0BF29-2078-2A68-A90E-42B56AE3543F}"/>
              </a:ext>
            </a:extLst>
          </p:cNvPr>
          <p:cNvCxnSpPr>
            <a:cxnSpLocks/>
          </p:cNvCxnSpPr>
          <p:nvPr/>
        </p:nvCxnSpPr>
        <p:spPr>
          <a:xfrm>
            <a:off x="1719319" y="5486402"/>
            <a:ext cx="0" cy="199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25D754B7-CFF8-389B-C62B-EEED02921489}"/>
              </a:ext>
            </a:extLst>
          </p:cNvPr>
          <p:cNvCxnSpPr>
            <a:cxnSpLocks/>
          </p:cNvCxnSpPr>
          <p:nvPr/>
        </p:nvCxnSpPr>
        <p:spPr>
          <a:xfrm>
            <a:off x="4010236" y="5483944"/>
            <a:ext cx="0" cy="199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6CD570F5-11DD-62D5-0D1D-AAC144DED148}"/>
              </a:ext>
            </a:extLst>
          </p:cNvPr>
          <p:cNvCxnSpPr>
            <a:cxnSpLocks/>
          </p:cNvCxnSpPr>
          <p:nvPr/>
        </p:nvCxnSpPr>
        <p:spPr>
          <a:xfrm>
            <a:off x="6330650" y="5510986"/>
            <a:ext cx="0" cy="199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78">
            <a:extLst>
              <a:ext uri="{FF2B5EF4-FFF2-40B4-BE49-F238E27FC236}">
                <a16:creationId xmlns:a16="http://schemas.microsoft.com/office/drawing/2014/main" id="{3C2625EA-8C74-121C-F4F6-179C3E51F99D}"/>
              </a:ext>
            </a:extLst>
          </p:cNvPr>
          <p:cNvCxnSpPr>
            <a:cxnSpLocks/>
          </p:cNvCxnSpPr>
          <p:nvPr/>
        </p:nvCxnSpPr>
        <p:spPr>
          <a:xfrm>
            <a:off x="9263123" y="5501156"/>
            <a:ext cx="0" cy="199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57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2" grpId="0" animBg="1"/>
      <p:bldP spid="3" grpId="0"/>
      <p:bldP spid="4" grpId="0" animBg="1"/>
      <p:bldP spid="19" grpId="0" animBg="1"/>
      <p:bldP spid="21" grpId="0" animBg="1"/>
      <p:bldP spid="23" grpId="0" animBg="1"/>
      <p:bldP spid="24" grpId="0"/>
      <p:bldP spid="29" grpId="0"/>
      <p:bldP spid="31" grpId="0" animBg="1"/>
      <p:bldP spid="34" grpId="0"/>
      <p:bldP spid="35" grpId="0" animBg="1"/>
      <p:bldP spid="38" grpId="0"/>
      <p:bldP spid="39" grpId="0" animBg="1"/>
      <p:bldP spid="42" grpId="0"/>
      <p:bldP spid="48" grpId="0"/>
      <p:bldP spid="59" grpId="0"/>
      <p:bldP spid="61" grpId="0"/>
      <p:bldP spid="63" grpId="0"/>
      <p:bldP spid="65" grpId="0"/>
      <p:bldP spid="67" grpId="0"/>
      <p:bldP spid="70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17D5-F10E-5E83-DD1E-6F2F3CB0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A22101E4-9CF6-441C-F580-DA9015DC5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ideia principal do </a:t>
            </a:r>
            <a:r>
              <a:rPr lang="pt-BR" sz="26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Boosting</a:t>
            </a: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é: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Enquanto Bagging trabalha em paralelo, o </a:t>
            </a: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Boosting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trabalha em sequência.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Boosting, cada modelo “aprende” com os erros do anterior e tenta melhorar.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“Modelo anterior” aqui não se trata, por exemplo, de uma mesma árvore com profundidade diferente – cada uma poderá ter uma estrutura completamente distinta.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Então, a poda da árvore </a:t>
            </a:r>
            <a:r>
              <a:rPr lang="pt-BR" sz="24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é um mecanismo de Boosting.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F97D64-A250-33E0-324E-01F3BCA88EBF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43453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8AC6-9EEE-58D1-B2C6-9A82A62A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C7712053-7A6B-DCBF-DFF0-E025E6131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enorme maioria dos algoritmos de Boosting, cada modelo é uma árvore de decisão pequena, chamada de árvore fraca (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weak learner</a:t>
            </a: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As árvores normalmente possuem profundidade 1 (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decision stump</a:t>
            </a: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 ou profundidades 2 e 3. Raramente são árvores grandes.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filosofia do Boosting é: "Em vez de uma árvore enorme tentando resolver tudo, vamos usar centenas de árvores pequenas, cada uma corrigindo um pequeno pedaço do problema."</a:t>
            </a: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39445E3-87B5-E805-32E6-74345F16AED4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24239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97EA-F8B4-6791-349B-357A0B18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9456832F-5F3B-08B0-F645-EC35C570D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Boosting, as árvores participantes </a:t>
            </a:r>
            <a:r>
              <a:rPr 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</a:t>
            </a: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são versões de uma mesma árvore com profundidades distintas.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Cada árvore deve se construída do zero e de forma que sejam diferentes.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 “aprendizado com os erros”, exemplos de algoritmos são: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B0BCEA-C018-93BA-C144-CA22A61423B7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189672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C84B-44AD-5207-4F9F-916A594E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737309EA-3AE6-AE7A-986A-D030EF1E8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Aqui, construímos a primeira árvore e identificamos para quais elementos dos dados de treinamento a predição falha. Por exemplo, falhou nos elementos A, C e D.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Estes elementos A, C e D então são marcados como “de maior peso”.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construção da próxima árvore (distinta da anterior), usam-se os mesmos dados e atributos. A cada nível, são checadas quais das possíveis divisões geram mais acertos para os elementos que receberam “maior peso” na árvore anterior.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B2330C-38EC-FD09-98EA-F9F7652CC375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388557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1C29-51E7-FEEA-A144-65238432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61FAF63F-A1B7-B396-65BF-627DC3278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Então, na divisão do AdaBoost, não se considera o atributo de melhor ganho de informação ou Gini, mas, em vez disto, o que maximiza o acerto dos elementos de maior peso da árvore anterior?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Não. No AdaBoost, não se abandona o </a:t>
            </a:r>
            <a:r>
              <a:rPr lang="pt-BR" sz="2300" u="sng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critério de qualidade tradicional da divisão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(como ganho de informação ou Gini). 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que muda é que essa qualidade passa a ser avaliada levando em conta </a:t>
            </a:r>
            <a:r>
              <a:rPr lang="pt-BR" sz="23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também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os pesos das observações (</a:t>
            </a:r>
            <a:r>
              <a:rPr lang="pt-BR" sz="2300" u="sng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ponderação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 Veremos como isto ocorre. 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Portanto, uma divisão com menor ganho “tradicional” pode ser escolhida se, quando os pesos são considerados, ela for melhor para os exemplos de maior peso.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F82106-4973-0D1C-1D77-0176FBAA310C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413853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F262-9EC7-D8AC-5D7B-402F6042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D34B30B1-0353-F84E-2A9B-955402CEE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Primeira árvore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 para o conjunto de clientes A, B, C, D, E, F, G, H, I, e J, os clientes H, I e J falham na predição da árvore.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H, I e J são então considerados os “casos difíceis”, recebendo peso 4, por exemplo (os demais seguem com peso 1).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Vamos agora para a construção da </a:t>
            </a:r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segunda árvore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Ela usa os mesmos clientes, de A a J.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Ela usa o mesmo conjunto de atributos.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sua </a:t>
            </a:r>
            <a:r>
              <a:rPr lang="pt-BR" sz="23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primeira divisão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são apurados os ganhos de informação tradicionais (GI da entropia, por exemplo) de todos os atributos, </a:t>
            </a:r>
            <a:r>
              <a:rPr lang="pt-BR" sz="23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 ponderação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100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9A7F8AF-8903-2FBA-B5F9-E42BE084D72E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348455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80FA9-8265-3D42-8415-9C81C95F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1A4E1F1A-2D95-09A1-CFBE-984F88268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Suponhamos que ocorra o seguinte: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Atributo </a:t>
            </a:r>
            <a:r>
              <a:rPr 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Renda</a:t>
            </a: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produziria GI “tradicional” = 0,40 mas acerta apenas 1 dos 3 “casos difíceis” da árvore 1.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Atributo </a:t>
            </a:r>
            <a:r>
              <a:rPr lang="pt-BR" sz="22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Histórico de crédito </a:t>
            </a: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produziria GI “tradicional” = 0,25 mas acerta todos os 3 “casos difíceis” da árvore 1.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 olharmos apenas para o GI “tradicional”,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Renda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venceria para a divisão, pois 0,40 &gt; 0,25.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Contudo, é preciso considerar a questão dos “casos difíceis” (de maior peso) na decisão da divisão também, e neste caso poderá ocorrer que o algoritmo escolha dividir por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Histórico de crédito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100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2933C2-64AC-01F1-ADBB-75355FC537C1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269274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E3F6-9B13-4425-3DE0-1AAE0B66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595FB58C-259D-FC11-30F0-C68AF0CD7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decisão de divisão, utiliza-se então uma </a:t>
            </a:r>
            <a:r>
              <a:rPr lang="pt-BR" sz="2300" u="sng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ponderação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entre GI (ou Gini) “tradicional” e pesos dos elementos “difíceis”.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AdaBoost não faz uma conta do tipo: "50% GI (ou Gini) + 50% acerto dos casos de maior peso”. O mecanismo é mais rigoroso.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DD1275-4BAA-F33F-CEEE-84C3F4F1E2ED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1E3D191-5A59-5DE9-5F79-9975F7C4DDD2}"/>
              </a:ext>
            </a:extLst>
          </p:cNvPr>
          <p:cNvSpPr txBox="1"/>
          <p:nvPr/>
        </p:nvSpPr>
        <p:spPr>
          <a:xfrm>
            <a:off x="1805536" y="4262283"/>
            <a:ext cx="9426464" cy="99417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Vejamos um exemplo numérico de como funciona a ponderação entre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critério tradicional de divisão como GI e os pesos dos “casos difíceis”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86DC6A8-A31A-0ED0-46BA-EB5FA05227A7}"/>
              </a:ext>
            </a:extLst>
          </p:cNvPr>
          <p:cNvSpPr/>
          <p:nvPr/>
        </p:nvSpPr>
        <p:spPr>
          <a:xfrm>
            <a:off x="1622323" y="4232787"/>
            <a:ext cx="9609677" cy="115037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32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F589E-E850-7A68-4241-CF7C1B489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82690B0-1242-14F8-7317-63FFA15BB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Consideremos a seguinte situação de “casos difíceis” vinda da primeira árvore: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508A78-90E2-FA88-62BE-78595340312E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5647CB-7F48-81F3-EC39-518F29D0A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4711" y="2517971"/>
            <a:ext cx="9329909" cy="3661599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3A2898C-53DA-6EDF-BA2A-413CE2BC6B44}"/>
              </a:ext>
            </a:extLst>
          </p:cNvPr>
          <p:cNvSpPr/>
          <p:nvPr/>
        </p:nvSpPr>
        <p:spPr>
          <a:xfrm>
            <a:off x="2020522" y="3989160"/>
            <a:ext cx="9462194" cy="4796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077085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E192-6F44-6FA0-D061-E8A8527B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96D461A-B893-2568-F9A3-CD681ED11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peso total é 1+1+4+1+1+1=9.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Proporções ponderadas no nó: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82D0D4D-A831-6C30-FDC9-78C96CD408A1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76CD19-1E57-891E-023A-258925F9C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280" y="2597785"/>
            <a:ext cx="5393430" cy="405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5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443D7-092F-6572-521F-B744FF9D6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D969C539-54FF-17FC-13BA-ACADFE1C9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Entropia ponderada do nó: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Os pesos modificaram os valores de proporções de classes utilizadas na fórmula – desta maneira ocorre a ponderação. 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Calculamos as entropias dos filhos de cada divisão da mesma forma e apuramos os GIs, que serão então ponderados pelos pesos.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0FF3E3-D3B2-3187-9623-0AC6B8BE686B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509386-A455-190E-465C-D81A8318D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320" y="2258787"/>
            <a:ext cx="6733814" cy="191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7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CE9F-08E7-49C6-6C6B-AAF7CF42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288B0A5-61DB-2584-CAB6-C21078158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sequência então é: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Pesos -&gt;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Distribuição ponderada -&gt;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Entropia / Gini ponderada -&gt;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Qualidade da divisão a ser adotada para a decisão de divisão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1FCF52A-E97C-7B03-3CA9-407564EE16DD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D6C897-6D3E-36CC-793C-C0AB42C2CB59}"/>
              </a:ext>
            </a:extLst>
          </p:cNvPr>
          <p:cNvSpPr txBox="1"/>
          <p:nvPr/>
        </p:nvSpPr>
        <p:spPr>
          <a:xfrm>
            <a:off x="3811990" y="4586743"/>
            <a:ext cx="5397909" cy="514042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Vamos retomar agora a segunda árvore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E52FF42-D7CC-8419-5409-504FD04140C7}"/>
              </a:ext>
            </a:extLst>
          </p:cNvPr>
          <p:cNvSpPr/>
          <p:nvPr/>
        </p:nvSpPr>
        <p:spPr>
          <a:xfrm>
            <a:off x="3687097" y="4527752"/>
            <a:ext cx="5397909" cy="663678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20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AC36-A2AE-00CB-A893-87960082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8161ACEF-97A1-3450-82A2-1617BE09E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</a:t>
            </a:r>
            <a:r>
              <a:rPr lang="pt-BR" sz="23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segunda divisão 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da nossa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segunda árvore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o processo continua usando os mesmos “casos difíceis” e seus pesos (definidos na primeira árvore) e a escolha da divisão é feita dentro de cada um dos subgrupos criados pela primeira divisão.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todas as demais divisões da segunda árvore, sempre consideramos como os “casos difíceis” na ponderação os definidos na primeira árvore, com seus pesos oriundos de lá.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 seja, os pesos não são atualizados entre os níveis de uma mesma árvore.</a:t>
            </a:r>
            <a:endParaRPr lang="pt-BR" sz="2100" u="sng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CCA5C1-173D-73DB-FC0D-ED5AA0DC1DA5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272296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BBEC-AA2E-FCEE-5FA5-1A094B7F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A6A3D7A6-EDD3-B641-3B31-A1337CC4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Concluída a segunda árvore, </a:t>
            </a:r>
            <a:r>
              <a:rPr lang="pt-BR" sz="24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conjunto de “casos difíceis” sofre uma atualização, ou seja, seus pesos numéricos são revistos.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simplificado de atualização de pesos: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EC4620-161D-ECE5-CE73-985348E0A0D8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CDFB60-29CD-7D95-F71B-2DF96AEDA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157" y="3429001"/>
            <a:ext cx="8259153" cy="263418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72C5D33-02B6-13BA-E4DE-07FEEE471439}"/>
              </a:ext>
            </a:extLst>
          </p:cNvPr>
          <p:cNvSpPr txBox="1"/>
          <p:nvPr/>
        </p:nvSpPr>
        <p:spPr>
          <a:xfrm>
            <a:off x="7164189" y="5137932"/>
            <a:ext cx="2149728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“Casos difíceis” iniciais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42F0C90-FB78-DD7D-8897-183AD72E7322}"/>
              </a:ext>
            </a:extLst>
          </p:cNvPr>
          <p:cNvCxnSpPr>
            <a:cxnSpLocks/>
          </p:cNvCxnSpPr>
          <p:nvPr/>
        </p:nvCxnSpPr>
        <p:spPr>
          <a:xfrm flipH="1" flipV="1">
            <a:off x="5943600" y="4984955"/>
            <a:ext cx="1195419" cy="18247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41A41F7-B179-AE61-1DC1-C4F069CC574B}"/>
              </a:ext>
            </a:extLst>
          </p:cNvPr>
          <p:cNvCxnSpPr/>
          <p:nvPr/>
        </p:nvCxnSpPr>
        <p:spPr>
          <a:xfrm flipH="1">
            <a:off x="5943600" y="5478618"/>
            <a:ext cx="1176181" cy="37443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210C940F-BC32-A07A-2F7A-4570CAB9295E}"/>
              </a:ext>
            </a:extLst>
          </p:cNvPr>
          <p:cNvSpPr/>
          <p:nvPr/>
        </p:nvSpPr>
        <p:spPr>
          <a:xfrm>
            <a:off x="2580970" y="4780372"/>
            <a:ext cx="368709" cy="347709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CB92660-0FC3-DB5F-9DD4-04E614325A85}"/>
              </a:ext>
            </a:extLst>
          </p:cNvPr>
          <p:cNvSpPr/>
          <p:nvPr/>
        </p:nvSpPr>
        <p:spPr>
          <a:xfrm>
            <a:off x="2585887" y="5714439"/>
            <a:ext cx="368709" cy="347709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070BE14-6A3A-B884-CD89-1A363B85D923}"/>
              </a:ext>
            </a:extLst>
          </p:cNvPr>
          <p:cNvSpPr/>
          <p:nvPr/>
        </p:nvSpPr>
        <p:spPr>
          <a:xfrm>
            <a:off x="10461525" y="4800040"/>
            <a:ext cx="368709" cy="347709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0F7C340-3016-7176-A04C-3BD0E9226E78}"/>
              </a:ext>
            </a:extLst>
          </p:cNvPr>
          <p:cNvSpPr/>
          <p:nvPr/>
        </p:nvSpPr>
        <p:spPr>
          <a:xfrm>
            <a:off x="10451694" y="5704606"/>
            <a:ext cx="368709" cy="347709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9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5" grpId="0" animBg="1"/>
      <p:bldP spid="17" grpId="0" animBg="1"/>
      <p:bldP spid="19" grpId="0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E445-AF26-6D93-DB83-E90BC2E4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1D0F6507-C2F7-36C0-22B4-D9E737535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simplificado de atualização de pesos</a:t>
            </a:r>
            <a:r>
              <a:rPr lang="pt-BR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árvore 2 foi construída considerando-se estes elementos “difíceis” C e E, da primeira árvore.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Suponhamos que o resultado da árvore 2, depois pronta, seja: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B4C1FB4-CF71-A0C7-8968-3A65575E1F6A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2A2B1636-3DA8-9AC8-3A6B-773BFDDF9797}"/>
              </a:ext>
            </a:extLst>
          </p:cNvPr>
          <p:cNvGrpSpPr/>
          <p:nvPr/>
        </p:nvGrpSpPr>
        <p:grpSpPr>
          <a:xfrm>
            <a:off x="3121747" y="3700309"/>
            <a:ext cx="5432316" cy="2982028"/>
            <a:chOff x="4994792" y="3464336"/>
            <a:chExt cx="5432316" cy="2982028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30B84E57-66BA-86D8-EE53-2A926BC61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2695" y="3464336"/>
              <a:ext cx="5344413" cy="2982028"/>
            </a:xfrm>
            <a:prstGeom prst="rect">
              <a:avLst/>
            </a:prstGeom>
          </p:spPr>
        </p:pic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D48F3B35-F943-D223-28D3-FF85544C554C}"/>
                </a:ext>
              </a:extLst>
            </p:cNvPr>
            <p:cNvSpPr/>
            <p:nvPr/>
          </p:nvSpPr>
          <p:spPr>
            <a:xfrm>
              <a:off x="5014454" y="4485406"/>
              <a:ext cx="368709" cy="34770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FC9EF16-8118-F19D-68FD-E0506B0601ED}"/>
                </a:ext>
              </a:extLst>
            </p:cNvPr>
            <p:cNvSpPr/>
            <p:nvPr/>
          </p:nvSpPr>
          <p:spPr>
            <a:xfrm>
              <a:off x="5019374" y="5006512"/>
              <a:ext cx="368709" cy="347709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8823C181-D417-60E7-1037-DD815F4409E6}"/>
                </a:ext>
              </a:extLst>
            </p:cNvPr>
            <p:cNvSpPr/>
            <p:nvPr/>
          </p:nvSpPr>
          <p:spPr>
            <a:xfrm>
              <a:off x="4994792" y="6058560"/>
              <a:ext cx="368709" cy="347709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62BC1F09-6602-3DD4-E89A-25FD3C11EA03}"/>
                </a:ext>
              </a:extLst>
            </p:cNvPr>
            <p:cNvSpPr txBox="1"/>
            <p:nvPr/>
          </p:nvSpPr>
          <p:spPr>
            <a:xfrm>
              <a:off x="5734583" y="4461069"/>
              <a:ext cx="1773600" cy="366886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000"/>
                </a:spcBef>
              </a:pPr>
              <a:r>
                <a:rPr lang="pt-BR" sz="16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Novo “caso difícil”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54B34B80-F352-0163-A813-6CA02792F3F6}"/>
                </a:ext>
              </a:extLst>
            </p:cNvPr>
            <p:cNvSpPr txBox="1"/>
            <p:nvPr/>
          </p:nvSpPr>
          <p:spPr>
            <a:xfrm>
              <a:off x="5734583" y="4984846"/>
              <a:ext cx="3755360" cy="366886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000"/>
                </a:spcBef>
              </a:pPr>
              <a:r>
                <a:rPr lang="pt-BR" sz="16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Era um “caso difícil” e agora houve acerto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79917FA6-A7B5-3E36-D5C1-4600812C98D5}"/>
                </a:ext>
              </a:extLst>
            </p:cNvPr>
            <p:cNvSpPr txBox="1"/>
            <p:nvPr/>
          </p:nvSpPr>
          <p:spPr>
            <a:xfrm>
              <a:off x="5734583" y="6008102"/>
              <a:ext cx="2393770" cy="366886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000"/>
                </a:spcBef>
              </a:pPr>
              <a:r>
                <a:rPr lang="pt-BR" sz="1600" b="1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Erro de predição persistiu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21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32EE-AF7B-F513-10E3-EA0DD213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6026240-4153-FE88-0314-28CB64A14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simplificado de atualização de pesos</a:t>
            </a:r>
            <a:r>
              <a:rPr lang="pt-BR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Consequências (atualização):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3CF1F97-5C20-31AD-0504-1DC5309BAF0C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765203E-E01A-A45D-0A43-51EA7342E551}"/>
              </a:ext>
            </a:extLst>
          </p:cNvPr>
          <p:cNvGrpSpPr/>
          <p:nvPr/>
        </p:nvGrpSpPr>
        <p:grpSpPr>
          <a:xfrm>
            <a:off x="1484678" y="3080878"/>
            <a:ext cx="5432316" cy="2982028"/>
            <a:chOff x="3623192" y="3464336"/>
            <a:chExt cx="5432316" cy="2982028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1D87A69F-440F-E70D-D9DE-D59BAD26B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11095" y="3464336"/>
              <a:ext cx="5344413" cy="2982028"/>
            </a:xfrm>
            <a:prstGeom prst="rect">
              <a:avLst/>
            </a:prstGeom>
          </p:spPr>
        </p:pic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ACD184D2-B0C4-F18B-EEC9-A711B23FFF36}"/>
                </a:ext>
              </a:extLst>
            </p:cNvPr>
            <p:cNvSpPr/>
            <p:nvPr/>
          </p:nvSpPr>
          <p:spPr>
            <a:xfrm>
              <a:off x="3642854" y="4485406"/>
              <a:ext cx="368709" cy="34770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63F81425-C35F-4EF8-A038-46D4F66765B6}"/>
                </a:ext>
              </a:extLst>
            </p:cNvPr>
            <p:cNvSpPr/>
            <p:nvPr/>
          </p:nvSpPr>
          <p:spPr>
            <a:xfrm>
              <a:off x="3647774" y="5006512"/>
              <a:ext cx="368709" cy="347709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52CFF9AC-7AE0-8822-05BE-6B0D2BAD2C2E}"/>
                </a:ext>
              </a:extLst>
            </p:cNvPr>
            <p:cNvSpPr/>
            <p:nvPr/>
          </p:nvSpPr>
          <p:spPr>
            <a:xfrm>
              <a:off x="3623192" y="6058560"/>
              <a:ext cx="368709" cy="347709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pt-B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CFADB0CB-A5E4-6C0F-9076-5AFAA3DD6D4F}"/>
                </a:ext>
              </a:extLst>
            </p:cNvPr>
            <p:cNvSpPr txBox="1"/>
            <p:nvPr/>
          </p:nvSpPr>
          <p:spPr>
            <a:xfrm>
              <a:off x="4362983" y="4461069"/>
              <a:ext cx="1773600" cy="366886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000"/>
                </a:spcBef>
              </a:pPr>
              <a:r>
                <a:rPr lang="pt-BR" sz="16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Novo “caso difícil”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4CB0219D-CFD6-8ABA-2193-1D122D9B3ABF}"/>
                </a:ext>
              </a:extLst>
            </p:cNvPr>
            <p:cNvSpPr txBox="1"/>
            <p:nvPr/>
          </p:nvSpPr>
          <p:spPr>
            <a:xfrm>
              <a:off x="4362983" y="4984846"/>
              <a:ext cx="3755360" cy="366886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000"/>
                </a:spcBef>
              </a:pPr>
              <a:r>
                <a:rPr lang="pt-BR" sz="16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Era um “caso difícil” e agora houve acerto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B932102-1E26-4D01-34B8-1123BE94B5F5}"/>
                </a:ext>
              </a:extLst>
            </p:cNvPr>
            <p:cNvSpPr txBox="1"/>
            <p:nvPr/>
          </p:nvSpPr>
          <p:spPr>
            <a:xfrm>
              <a:off x="4362983" y="6008102"/>
              <a:ext cx="2393770" cy="366886"/>
            </a:xfrm>
            <a:prstGeom prst="rect">
              <a:avLst/>
            </a:prstGeom>
            <a:noFill/>
          </p:spPr>
          <p:txBody>
            <a:bodyPr wrap="none" lIns="0" tIns="36000" rIns="216000" bIns="36000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000"/>
                </a:spcBef>
              </a:pPr>
              <a:r>
                <a:rPr lang="pt-BR" sz="1600" b="1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Erro de predição persistiu</a:t>
              </a: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FAF871-B1B6-9BF3-565A-7CA198F663E1}"/>
              </a:ext>
            </a:extLst>
          </p:cNvPr>
          <p:cNvSpPr txBox="1"/>
          <p:nvPr/>
        </p:nvSpPr>
        <p:spPr>
          <a:xfrm>
            <a:off x="6834390" y="4097591"/>
            <a:ext cx="4175860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“B” passa de peso 1 para um peso mais alto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A18198-D712-9FD3-9194-E4F3705F3D56}"/>
              </a:ext>
            </a:extLst>
          </p:cNvPr>
          <p:cNvSpPr txBox="1"/>
          <p:nvPr/>
        </p:nvSpPr>
        <p:spPr>
          <a:xfrm>
            <a:off x="6834390" y="4628952"/>
            <a:ext cx="5100472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“C” tem seu peso diminuído de 4 para um valor menor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792FE2A-4E1A-347E-326B-020B2BC69F3F}"/>
              </a:ext>
            </a:extLst>
          </p:cNvPr>
          <p:cNvSpPr txBox="1"/>
          <p:nvPr/>
        </p:nvSpPr>
        <p:spPr>
          <a:xfrm>
            <a:off x="6834390" y="5624644"/>
            <a:ext cx="5287318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“E” tem seu peso aumentado de 4 para um valor maior</a:t>
            </a:r>
          </a:p>
        </p:txBody>
      </p:sp>
    </p:spTree>
    <p:extLst>
      <p:ext uri="{BB962C8B-B14F-4D97-AF65-F5344CB8AC3E}">
        <p14:creationId xmlns:p14="http://schemas.microsoft.com/office/powerpoint/2010/main" val="228882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F6C5-5708-7949-2994-3D8DE413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59A05759-284E-59C0-8508-D6D99CD75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Vamos agora para a construção da </a:t>
            </a:r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terceira árvore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Ela continua usando os mesmos clientes, de A a J.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Ela continua usando o mesmo conjunto de atributos.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As divisões seguem o mecanismo adotado para a árvore anterior, mas considerando-se agora nas ponderações a </a:t>
            </a:r>
            <a:r>
              <a:rPr lang="pt-BR" sz="23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configuração de pesos atualizada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após a construção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da árvore 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 assim por diante...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AdaBoost constrói então árvores sequencialmente até atingir o número máximo definido ou até que não haja mais ganho útil </a:t>
            </a:r>
            <a:r>
              <a:rPr 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(early stopping).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110190-8920-4BD2-23D8-172EBAE780FA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404174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1736-0859-EFFD-78AF-D91BE31E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AD0EC90B-BB73-154B-0A4E-7A5345E85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985" y="1088927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resumo esquemático do algoritmo: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F40674-4127-554A-D0A0-B2CD27FCF4D5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2" name="Fluxograma: Documento 1">
            <a:extLst>
              <a:ext uri="{FF2B5EF4-FFF2-40B4-BE49-F238E27FC236}">
                <a16:creationId xmlns:a16="http://schemas.microsoft.com/office/drawing/2014/main" id="{8BFA77E1-EEAD-7CDD-34FA-EA2210DA220A}"/>
              </a:ext>
            </a:extLst>
          </p:cNvPr>
          <p:cNvSpPr/>
          <p:nvPr/>
        </p:nvSpPr>
        <p:spPr>
          <a:xfrm>
            <a:off x="1319998" y="2035274"/>
            <a:ext cx="1327355" cy="6674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805D49-5461-2263-6A98-153DA5021412}"/>
              </a:ext>
            </a:extLst>
          </p:cNvPr>
          <p:cNvSpPr txBox="1"/>
          <p:nvPr/>
        </p:nvSpPr>
        <p:spPr>
          <a:xfrm>
            <a:off x="2748799" y="1968048"/>
            <a:ext cx="2676218" cy="68697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Todos os exemplos começam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 o  mesmo peso (1).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2838694-5A10-05D4-E11E-7670306BD474}"/>
              </a:ext>
            </a:extLst>
          </p:cNvPr>
          <p:cNvSpPr/>
          <p:nvPr/>
        </p:nvSpPr>
        <p:spPr>
          <a:xfrm>
            <a:off x="1128269" y="2934965"/>
            <a:ext cx="1710813" cy="92914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Construção da primeira árvore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A2872FC-CEE1-1C30-0053-6FE5275C86D2}"/>
              </a:ext>
            </a:extLst>
          </p:cNvPr>
          <p:cNvSpPr txBox="1"/>
          <p:nvPr/>
        </p:nvSpPr>
        <p:spPr>
          <a:xfrm>
            <a:off x="2914742" y="3066212"/>
            <a:ext cx="2744827" cy="68697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Divisões por entropia ou Gini.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Modelo usual (ID3 / CART).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81363D6-C475-4E88-F1E2-416F9B732CD1}"/>
              </a:ext>
            </a:extLst>
          </p:cNvPr>
          <p:cNvSpPr/>
          <p:nvPr/>
        </p:nvSpPr>
        <p:spPr>
          <a:xfrm>
            <a:off x="779224" y="4153492"/>
            <a:ext cx="2408902" cy="762674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Apuração do erros (exemplos que deram FP ou FN)</a:t>
            </a:r>
          </a:p>
        </p:txBody>
      </p:sp>
      <p:sp>
        <p:nvSpPr>
          <p:cNvPr id="13" name="Fluxograma: Documento 12">
            <a:extLst>
              <a:ext uri="{FF2B5EF4-FFF2-40B4-BE49-F238E27FC236}">
                <a16:creationId xmlns:a16="http://schemas.microsoft.com/office/drawing/2014/main" id="{1E23AA18-A26F-15C5-AFE4-B4405DC9490C}"/>
              </a:ext>
            </a:extLst>
          </p:cNvPr>
          <p:cNvSpPr/>
          <p:nvPr/>
        </p:nvSpPr>
        <p:spPr>
          <a:xfrm>
            <a:off x="1233968" y="5196347"/>
            <a:ext cx="1499415" cy="10293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c/ pesos atualizados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D70A9B4-CF92-652C-A698-1BFC89367534}"/>
              </a:ext>
            </a:extLst>
          </p:cNvPr>
          <p:cNvSpPr txBox="1"/>
          <p:nvPr/>
        </p:nvSpPr>
        <p:spPr>
          <a:xfrm>
            <a:off x="2849571" y="5266404"/>
            <a:ext cx="3396928" cy="68697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exemplos que falharam (PF ou FN)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recebem pesos &gt; 1 (por exemplo, 4).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00BE588-8B1F-03AE-8F98-17F3E73338B1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1983676" y="2658621"/>
            <a:ext cx="0" cy="276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980B7948-64E9-B0FE-0DBD-E69DF189EAC1}"/>
              </a:ext>
            </a:extLst>
          </p:cNvPr>
          <p:cNvCxnSpPr>
            <a:cxnSpLocks/>
          </p:cNvCxnSpPr>
          <p:nvPr/>
        </p:nvCxnSpPr>
        <p:spPr>
          <a:xfrm flipH="1">
            <a:off x="1897641" y="3864114"/>
            <a:ext cx="1" cy="270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51342140-4C04-75F2-76D5-F049540A78E3}"/>
              </a:ext>
            </a:extLst>
          </p:cNvPr>
          <p:cNvCxnSpPr>
            <a:cxnSpLocks/>
          </p:cNvCxnSpPr>
          <p:nvPr/>
        </p:nvCxnSpPr>
        <p:spPr>
          <a:xfrm>
            <a:off x="1897641" y="4916166"/>
            <a:ext cx="0" cy="270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BE6C023-45F1-ACAC-1987-3D4F399552BE}"/>
              </a:ext>
            </a:extLst>
          </p:cNvPr>
          <p:cNvSpPr/>
          <p:nvPr/>
        </p:nvSpPr>
        <p:spPr>
          <a:xfrm>
            <a:off x="635544" y="1927115"/>
            <a:ext cx="5470297" cy="4500164"/>
          </a:xfrm>
          <a:prstGeom prst="roundRect">
            <a:avLst>
              <a:gd name="adj" fmla="val 4834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419C9AC-905B-B9FC-5A53-AEBD42A84969}"/>
              </a:ext>
            </a:extLst>
          </p:cNvPr>
          <p:cNvSpPr txBox="1"/>
          <p:nvPr/>
        </p:nvSpPr>
        <p:spPr>
          <a:xfrm>
            <a:off x="2808052" y="1577561"/>
            <a:ext cx="1125281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 1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A41624A-0B65-5533-32A5-8194EA9A0595}"/>
              </a:ext>
            </a:extLst>
          </p:cNvPr>
          <p:cNvSpPr txBox="1"/>
          <p:nvPr/>
        </p:nvSpPr>
        <p:spPr>
          <a:xfrm>
            <a:off x="8569131" y="2073324"/>
            <a:ext cx="3337741" cy="686974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Exemplos com seus pesos oriundos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resultado da árvore 1.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7988FD7B-1122-FD90-7BC6-6DEE2BA5BF9C}"/>
              </a:ext>
            </a:extLst>
          </p:cNvPr>
          <p:cNvSpPr/>
          <p:nvPr/>
        </p:nvSpPr>
        <p:spPr>
          <a:xfrm>
            <a:off x="6826064" y="3251424"/>
            <a:ext cx="1710813" cy="92914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Construção da segunda árvore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B8D3697-6FF7-DFE4-FB22-4EB4DD3D8F3D}"/>
              </a:ext>
            </a:extLst>
          </p:cNvPr>
          <p:cNvSpPr txBox="1"/>
          <p:nvPr/>
        </p:nvSpPr>
        <p:spPr>
          <a:xfrm>
            <a:off x="8654598" y="3049470"/>
            <a:ext cx="3425526" cy="1327149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Divisões por entropia ou Gini </a:t>
            </a:r>
            <a:r>
              <a:rPr lang="pt-B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ponderação</a:t>
            </a: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(considerando, em todas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divisões, os pesos oriundos do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 da árvore 1).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BE0FBC51-65C1-0999-9CC7-E32ED83E3E43}"/>
              </a:ext>
            </a:extLst>
          </p:cNvPr>
          <p:cNvSpPr/>
          <p:nvPr/>
        </p:nvSpPr>
        <p:spPr>
          <a:xfrm>
            <a:off x="6477019" y="4411085"/>
            <a:ext cx="2408902" cy="686974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Apuração do erros (exemplos que deram FP ou FN)</a:t>
            </a:r>
          </a:p>
        </p:txBody>
      </p:sp>
      <p:sp>
        <p:nvSpPr>
          <p:cNvPr id="41" name="Fluxograma: Documento 40">
            <a:extLst>
              <a:ext uri="{FF2B5EF4-FFF2-40B4-BE49-F238E27FC236}">
                <a16:creationId xmlns:a16="http://schemas.microsoft.com/office/drawing/2014/main" id="{6E0D4547-5BA7-ED04-99BD-105C34FE79BC}"/>
              </a:ext>
            </a:extLst>
          </p:cNvPr>
          <p:cNvSpPr/>
          <p:nvPr/>
        </p:nvSpPr>
        <p:spPr>
          <a:xfrm>
            <a:off x="6931763" y="5333996"/>
            <a:ext cx="1499415" cy="10293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c/ pesos atualizados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DD65342-C563-7030-5930-6C1CBB2101B5}"/>
              </a:ext>
            </a:extLst>
          </p:cNvPr>
          <p:cNvSpPr txBox="1"/>
          <p:nvPr/>
        </p:nvSpPr>
        <p:spPr>
          <a:xfrm>
            <a:off x="8532618" y="5389305"/>
            <a:ext cx="2425060" cy="68697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Falhas: aumentam pesos.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Acertos: diminuem pesos.</a:t>
            </a: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3C45BAA1-89CE-813C-2B76-ACF2671CFFF7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7681471" y="2977724"/>
            <a:ext cx="0" cy="27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6810EBE3-CFB6-DE7F-7CB4-0EBDDCF65AA2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 flipH="1">
            <a:off x="7681470" y="4180573"/>
            <a:ext cx="1" cy="230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77659B25-68C1-7D38-9E3D-060D402B9F42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7681470" y="5098059"/>
            <a:ext cx="1" cy="235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0A5FB40E-31AA-6F59-F564-B501C2CAD405}"/>
              </a:ext>
            </a:extLst>
          </p:cNvPr>
          <p:cNvSpPr/>
          <p:nvPr/>
        </p:nvSpPr>
        <p:spPr>
          <a:xfrm>
            <a:off x="6333339" y="1927115"/>
            <a:ext cx="5693286" cy="4500164"/>
          </a:xfrm>
          <a:prstGeom prst="roundRect">
            <a:avLst>
              <a:gd name="adj" fmla="val 4834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D44A0A5B-326E-8E97-2A34-6F5D3F55AA85}"/>
              </a:ext>
            </a:extLst>
          </p:cNvPr>
          <p:cNvSpPr txBox="1"/>
          <p:nvPr/>
        </p:nvSpPr>
        <p:spPr>
          <a:xfrm>
            <a:off x="8617342" y="1567730"/>
            <a:ext cx="1125281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 2</a:t>
            </a:r>
          </a:p>
        </p:txBody>
      </p:sp>
      <p:sp>
        <p:nvSpPr>
          <p:cNvPr id="49" name="Fluxograma: Documento 48">
            <a:extLst>
              <a:ext uri="{FF2B5EF4-FFF2-40B4-BE49-F238E27FC236}">
                <a16:creationId xmlns:a16="http://schemas.microsoft.com/office/drawing/2014/main" id="{24B8520C-8C8A-8120-FB70-07C2A4BE63D7}"/>
              </a:ext>
            </a:extLst>
          </p:cNvPr>
          <p:cNvSpPr/>
          <p:nvPr/>
        </p:nvSpPr>
        <p:spPr>
          <a:xfrm>
            <a:off x="6931763" y="2045104"/>
            <a:ext cx="1499415" cy="10293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c/ pesos atualizados</a:t>
            </a:r>
          </a:p>
        </p:txBody>
      </p: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12717EAF-5C51-8A2D-0D58-EF3A98EEC127}"/>
              </a:ext>
            </a:extLst>
          </p:cNvPr>
          <p:cNvCxnSpPr>
            <a:stCxn id="23" idx="3"/>
            <a:endCxn id="46" idx="1"/>
          </p:cNvCxnSpPr>
          <p:nvPr/>
        </p:nvCxnSpPr>
        <p:spPr>
          <a:xfrm>
            <a:off x="6105841" y="4177197"/>
            <a:ext cx="2274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5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animBg="1"/>
      <p:bldP spid="8" grpId="0"/>
      <p:bldP spid="11" grpId="0" animBg="1"/>
      <p:bldP spid="13" grpId="0" animBg="1"/>
      <p:bldP spid="15" grpId="0"/>
      <p:bldP spid="23" grpId="0" animBg="1"/>
      <p:bldP spid="35" grpId="0"/>
      <p:bldP spid="37" grpId="0"/>
      <p:bldP spid="38" grpId="0" animBg="1"/>
      <p:bldP spid="39" grpId="0"/>
      <p:bldP spid="40" grpId="0" animBg="1"/>
      <p:bldP spid="41" grpId="0" animBg="1"/>
      <p:bldP spid="42" grpId="0"/>
      <p:bldP spid="46" grpId="0" animBg="1"/>
      <p:bldP spid="47" grpId="0"/>
      <p:bldP spid="49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432C-B7DB-64C2-E528-15538065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E0E1678B-22DC-3A71-24B6-A11AD6DB9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985" y="1088927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resumo esquemático do algoritmo – cont.: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005DF08-337E-D163-5DC1-22DB6882768C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012018E-E061-B77E-E705-F35EFFCAB319}"/>
              </a:ext>
            </a:extLst>
          </p:cNvPr>
          <p:cNvSpPr txBox="1"/>
          <p:nvPr/>
        </p:nvSpPr>
        <p:spPr>
          <a:xfrm>
            <a:off x="3289208" y="2073324"/>
            <a:ext cx="3457492" cy="686974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Exemplos com seus pesos </a:t>
            </a:r>
            <a:r>
              <a:rPr lang="pt-BR" sz="1600" b="1" u="sng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atualizados</a:t>
            </a: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pelo resultado da árvore 2.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5A01EA94-C840-1DC0-476F-CDF4DEA63FA1}"/>
              </a:ext>
            </a:extLst>
          </p:cNvPr>
          <p:cNvSpPr/>
          <p:nvPr/>
        </p:nvSpPr>
        <p:spPr>
          <a:xfrm>
            <a:off x="1546141" y="3251424"/>
            <a:ext cx="1710813" cy="92914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Construção da segunda árvore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D226555-6B31-85F4-2335-657181875503}"/>
              </a:ext>
            </a:extLst>
          </p:cNvPr>
          <p:cNvSpPr txBox="1"/>
          <p:nvPr/>
        </p:nvSpPr>
        <p:spPr>
          <a:xfrm>
            <a:off x="3374675" y="3049470"/>
            <a:ext cx="3472142" cy="1327149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Divisões por entropia ou Gini </a:t>
            </a:r>
            <a:r>
              <a:rPr lang="pt-B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ponderação (considerando, em todas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divisões, os pesos oriundos da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atualização promovida pela árvore 2).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F5118C8-BD81-0F2E-7B84-A4E694B30AEC}"/>
              </a:ext>
            </a:extLst>
          </p:cNvPr>
          <p:cNvSpPr/>
          <p:nvPr/>
        </p:nvSpPr>
        <p:spPr>
          <a:xfrm>
            <a:off x="1197096" y="4411085"/>
            <a:ext cx="2408902" cy="686974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Apuração do erros (exemplos que deram FP ou FN)</a:t>
            </a:r>
          </a:p>
        </p:txBody>
      </p:sp>
      <p:sp>
        <p:nvSpPr>
          <p:cNvPr id="41" name="Fluxograma: Documento 40">
            <a:extLst>
              <a:ext uri="{FF2B5EF4-FFF2-40B4-BE49-F238E27FC236}">
                <a16:creationId xmlns:a16="http://schemas.microsoft.com/office/drawing/2014/main" id="{89774336-C533-BAE4-B665-3FE1CBAD2C05}"/>
              </a:ext>
            </a:extLst>
          </p:cNvPr>
          <p:cNvSpPr/>
          <p:nvPr/>
        </p:nvSpPr>
        <p:spPr>
          <a:xfrm>
            <a:off x="1651840" y="5333996"/>
            <a:ext cx="1499415" cy="10293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c/ pesos atualizados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A7AF533-5C89-1EB1-0D0F-D6DC36F24EE1}"/>
              </a:ext>
            </a:extLst>
          </p:cNvPr>
          <p:cNvSpPr txBox="1"/>
          <p:nvPr/>
        </p:nvSpPr>
        <p:spPr>
          <a:xfrm>
            <a:off x="3252695" y="5389305"/>
            <a:ext cx="2425060" cy="686974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Falhas: aumentam pesos.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Acertos: diminuem pesos.</a:t>
            </a: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B7AD93A3-EE54-4D49-C37C-5D351C6B2376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2401548" y="2977724"/>
            <a:ext cx="0" cy="27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5221EA6A-9E4A-DA9B-CF45-638D077EAE7B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 flipH="1">
            <a:off x="2401547" y="4180573"/>
            <a:ext cx="1" cy="230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51D794E0-498E-F333-7600-A1BBDCCB5EDC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2401547" y="5098059"/>
            <a:ext cx="1" cy="235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F48E39C2-14CB-E8D6-6A79-DD3DFEF10E90}"/>
              </a:ext>
            </a:extLst>
          </p:cNvPr>
          <p:cNvSpPr/>
          <p:nvPr/>
        </p:nvSpPr>
        <p:spPr>
          <a:xfrm>
            <a:off x="1053416" y="1927115"/>
            <a:ext cx="5693286" cy="4500164"/>
          </a:xfrm>
          <a:prstGeom prst="roundRect">
            <a:avLst>
              <a:gd name="adj" fmla="val 4834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85AF311-E517-171F-DAF2-FCBD32AF122B}"/>
              </a:ext>
            </a:extLst>
          </p:cNvPr>
          <p:cNvSpPr txBox="1"/>
          <p:nvPr/>
        </p:nvSpPr>
        <p:spPr>
          <a:xfrm>
            <a:off x="3337419" y="1567730"/>
            <a:ext cx="1125281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 3</a:t>
            </a:r>
          </a:p>
        </p:txBody>
      </p:sp>
      <p:sp>
        <p:nvSpPr>
          <p:cNvPr id="49" name="Fluxograma: Documento 48">
            <a:extLst>
              <a:ext uri="{FF2B5EF4-FFF2-40B4-BE49-F238E27FC236}">
                <a16:creationId xmlns:a16="http://schemas.microsoft.com/office/drawing/2014/main" id="{136154B2-0B8C-9B8C-AA65-A140007EEBF1}"/>
              </a:ext>
            </a:extLst>
          </p:cNvPr>
          <p:cNvSpPr/>
          <p:nvPr/>
        </p:nvSpPr>
        <p:spPr>
          <a:xfrm>
            <a:off x="1651840" y="2045104"/>
            <a:ext cx="1499415" cy="1029375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 c/ pesos atualizados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E1B667CA-A8C6-211E-B38D-BD31F2565C6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740021" y="4177197"/>
            <a:ext cx="931619" cy="9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BA2EE05-3B6D-49B5-B74B-21E212C39A7A}"/>
              </a:ext>
            </a:extLst>
          </p:cNvPr>
          <p:cNvSpPr/>
          <p:nvPr/>
        </p:nvSpPr>
        <p:spPr>
          <a:xfrm>
            <a:off x="7671640" y="3713538"/>
            <a:ext cx="3466944" cy="92914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Repetir até que o número máximo parametrizado de árvores seja atingido ou não se consiga mais ganho (</a:t>
            </a:r>
            <a:r>
              <a:rPr lang="pt-BR" sz="14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stopping</a:t>
            </a:r>
            <a:r>
              <a:rPr lang="pt-BR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FBC26ED-ACB6-F63E-12BB-FDB61CCB616A}"/>
              </a:ext>
            </a:extLst>
          </p:cNvPr>
          <p:cNvSpPr txBox="1"/>
          <p:nvPr/>
        </p:nvSpPr>
        <p:spPr>
          <a:xfrm>
            <a:off x="7023712" y="5016388"/>
            <a:ext cx="4723152" cy="1007061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 árvores</a:t>
            </a: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pesos são atualizados.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Dentro de uma árvore</a:t>
            </a: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pesos permanecem fixos e 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Influenciam todas as divisões.</a:t>
            </a:r>
          </a:p>
        </p:txBody>
      </p:sp>
    </p:spTree>
    <p:extLst>
      <p:ext uri="{BB962C8B-B14F-4D97-AF65-F5344CB8AC3E}">
        <p14:creationId xmlns:p14="http://schemas.microsoft.com/office/powerpoint/2010/main" val="177072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  <p:bldP spid="39" grpId="0"/>
      <p:bldP spid="40" grpId="0" animBg="1"/>
      <p:bldP spid="41" grpId="0" animBg="1"/>
      <p:bldP spid="42" grpId="0"/>
      <p:bldP spid="46" grpId="0" animBg="1"/>
      <p:bldP spid="47" grpId="0"/>
      <p:bldP spid="49" grpId="0" animBg="1"/>
      <p:bldP spid="12" grpId="0" animBg="1"/>
      <p:bldP spid="19" grpId="0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C9AE4-44CB-35E5-817D-59359DE50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AEF8AF13-A87B-E158-ABAD-D0E2D1AF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Trata-se de um método de ensemble que combina várias árvores de decisão pequenas para produzir um modelo muito mais poderoso.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Cada nova árvore tenta corrigir aquilo que o conjunto das árvores anteriores ainda está fazendo errado.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</a:t>
            </a: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AdaBoost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trabalhamos aumentando o </a:t>
            </a: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peso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das observações que foram classificadas incorretamente. 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</a:t>
            </a: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a nova árvore é treinada para prever o </a:t>
            </a:r>
            <a:r>
              <a:rPr lang="pt-BR" sz="2500" dirty="0">
                <a:solidFill>
                  <a:srgbClr val="FF000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erro/resíduo 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que o modelo atual ainda apresenta.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Gradient Boosting pode ser usado para regressão e classificação.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A796508-69CF-54B4-EF13-AE6ADC0C47CE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264754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6B37-43A7-91CC-2267-6CCB102E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81C6417-9A76-4949-2CC8-1AC8305E1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Vejamos um exemplo de </a:t>
            </a: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regressão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(previsão de valor de uma casa)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Dados de treinamento: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FC59A12-25AC-D557-CD07-CFE83DF1F056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E0CC3F0-B882-6A56-2106-AB0DD3CA1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973" y="2789773"/>
            <a:ext cx="9232433" cy="253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6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A6F5-152C-E6B5-1850-2DF602FF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886F376-68F4-8A4D-C6A0-6543197E1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Gradient Boosting começa com um modelo inicial bastante simples.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caso de regressão, podemos começar simplesmente apurando a média dos preços.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Suponhamos média  = 277,5 mil (vamos chamar este valor de F</a:t>
            </a:r>
            <a:r>
              <a:rPr 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ponto de partida (Modelo 1) é então:</a:t>
            </a: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50DC00-D470-A6E7-4F64-1D1816584493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E9E774C-76EA-4C66-B516-66CC3E79F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191" y="4593276"/>
            <a:ext cx="2496233" cy="182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9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8ABF-DDAF-ADC2-F6BB-619A26271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93DF1988-8B7B-2510-A134-69FEBD9BD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Agora, apuramos os </a:t>
            </a:r>
            <a:r>
              <a:rPr lang="pt-BR" sz="2400" u="sng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erros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6900835-7A9D-D7C8-EDBF-97DD6E4B1013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E5A05B-F429-64A8-20B3-203F13A52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339" y="2868432"/>
            <a:ext cx="9680722" cy="260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4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890D-054D-9740-A0E8-CBA5FF133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1D1A4F2-BC1D-05B5-BE26-22DA1B06D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Temos que: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Casa A → modelo está superestimando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Casa B → modelo está superestimando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Casa C → modelo está subestimando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Casa D → modelo está subestimando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aprendizado aqui seria algo como: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Área &lt; 70 m</a:t>
            </a:r>
            <a:r>
              <a:rPr 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 erro de valor negativo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Área &gt;= 70 m</a:t>
            </a:r>
            <a:r>
              <a:rPr 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 erro de valor positivo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73F2B8A-BFB9-282B-0156-BBEDD788648C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355986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121B-687A-47C2-9522-49174974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BC9FB263-5D92-DB0F-372C-2C09CA11C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Modelo 2 subsequente buscará então uma correção para o Modelo 1 da seguinte forma: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Onde: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(x) = modelo novo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(x) = modelo anterior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pt-BR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rate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(taxa de aprendizado)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pt-BR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(x) = nova árvore</a:t>
            </a: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AA6890-B787-91D1-CFAD-A9CFA59C0191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4D6CB72-B96E-3B87-33BC-86EF40144C70}"/>
              </a:ext>
            </a:extLst>
          </p:cNvPr>
          <p:cNvSpPr txBox="1"/>
          <p:nvPr/>
        </p:nvSpPr>
        <p:spPr>
          <a:xfrm>
            <a:off x="3716593" y="3156786"/>
            <a:ext cx="3576401" cy="66119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pt-BR" sz="32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pt-BR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(x) = F</a:t>
            </a:r>
            <a:r>
              <a:rPr lang="pt-BR" sz="32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(x) + </a:t>
            </a:r>
            <a:r>
              <a:rPr lang="el-GR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pt-BR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pt-BR" sz="32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32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(x)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C93B7FD-BACB-C8A6-A75C-DA0E92E63BD4}"/>
              </a:ext>
            </a:extLst>
          </p:cNvPr>
          <p:cNvSpPr/>
          <p:nvPr/>
        </p:nvSpPr>
        <p:spPr>
          <a:xfrm>
            <a:off x="3539613" y="3156786"/>
            <a:ext cx="3714259" cy="810534"/>
          </a:xfrm>
          <a:prstGeom prst="roundRect">
            <a:avLst/>
          </a:prstGeom>
          <a:noFill/>
          <a:ln w="28575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43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FE15-9A27-E3C6-BB90-7C48C536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DD6FDB10-8B08-8DDE-62E6-BC54CA1DC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</a:t>
            </a:r>
            <a:r>
              <a:rPr lang="pt-BR" sz="2400" i="1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learning rate 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serve para atenuar a correção trazida pela nova árvore, evitando que ela fique “rápida demais”.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Adotamos, por exemplo,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0,1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Então: Modelo antigo + 10% de correção = Modelo novo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Isto torna o aprendizado mais gradual.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Depois de muitas árvores h</a:t>
            </a:r>
            <a:r>
              <a:rPr 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temos o seguinte ensemble: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F(x) = F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​(x) +</a:t>
            </a:r>
            <a:r>
              <a:rPr lang="el-G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​(x) + </a:t>
            </a:r>
            <a:r>
              <a:rPr lang="el-G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​(x) + </a:t>
            </a:r>
            <a:r>
              <a:rPr lang="el-G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3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​(x) + ⋯</a:t>
            </a:r>
            <a:b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</a:b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814DAA4-7411-4BB9-DC91-37CDA4A06B88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74627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776B-DCB4-A245-3704-97EE027F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E2229267-19E1-4317-4611-163F8C025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Voltando ao nosso caso, vamos avançar para os Modelos 1 e 2: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Modelo 1 (chute inicial com base na média), temos:</a:t>
            </a:r>
            <a:br>
              <a:rPr lang="pt-BR" sz="19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</a:br>
            <a:endParaRPr lang="pt-BR" sz="19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0C5B79C-0FEC-0B7E-5D52-FF7E81F9D4B8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EAA42A0-25C5-3DAD-3315-B0428FA75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599" y="3636708"/>
            <a:ext cx="3377833" cy="247035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5DDBB7C-9913-48C7-5A12-7B1FE0ADD1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9570" y="3636708"/>
            <a:ext cx="3942924" cy="24574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3191D63-967C-0487-63B9-E6FF94752E87}"/>
              </a:ext>
            </a:extLst>
          </p:cNvPr>
          <p:cNvSpPr txBox="1"/>
          <p:nvPr/>
        </p:nvSpPr>
        <p:spPr>
          <a:xfrm>
            <a:off x="2684207" y="3251860"/>
            <a:ext cx="2364851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Erros apurados (resíduo):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050A75-D266-A80A-593C-B26D5EB531A2}"/>
              </a:ext>
            </a:extLst>
          </p:cNvPr>
          <p:cNvSpPr txBox="1"/>
          <p:nvPr/>
        </p:nvSpPr>
        <p:spPr>
          <a:xfrm>
            <a:off x="7404868" y="3251860"/>
            <a:ext cx="2527460" cy="36688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simples decorrente:</a:t>
            </a:r>
          </a:p>
        </p:txBody>
      </p:sp>
    </p:spTree>
    <p:extLst>
      <p:ext uri="{BB962C8B-B14F-4D97-AF65-F5344CB8AC3E}">
        <p14:creationId xmlns:p14="http://schemas.microsoft.com/office/powerpoint/2010/main" val="393960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C285-783C-BDDC-D046-18D5694E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B347094E-6743-2B65-998E-AACBD4FC2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Vamos prosseguir na ideia de trabalhar com médias.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o gradiente, vamos adotar </a:t>
            </a:r>
            <a:r>
              <a:rPr lang="el-G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 = 0,1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  <a:endParaRPr lang="pt-BR" sz="19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3E71F47-29B6-73CA-BA84-CBACAF478CCA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1E3A7C-8E7C-57DF-9D89-19BB5CC3B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958" y="3101944"/>
            <a:ext cx="5234737" cy="23721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A1F6410-F403-BCD3-CD10-10473878F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92" y="3723975"/>
            <a:ext cx="3799838" cy="171818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E24B49-9402-67C7-FB46-8CBA9697B997}"/>
              </a:ext>
            </a:extLst>
          </p:cNvPr>
          <p:cNvSpPr txBox="1"/>
          <p:nvPr/>
        </p:nvSpPr>
        <p:spPr>
          <a:xfrm>
            <a:off x="8441635" y="3249424"/>
            <a:ext cx="2364466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h</a:t>
            </a:r>
            <a:r>
              <a:rPr lang="pt-BR" sz="18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decorrente:</a:t>
            </a:r>
          </a:p>
        </p:txBody>
      </p:sp>
    </p:spTree>
    <p:extLst>
      <p:ext uri="{BB962C8B-B14F-4D97-AF65-F5344CB8AC3E}">
        <p14:creationId xmlns:p14="http://schemas.microsoft.com/office/powerpoint/2010/main" val="191176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BCA56-E2ED-4819-AB36-F77B0334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82A5E21C-7E5A-D6AC-6C73-0C45AF23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árvore h</a:t>
            </a:r>
            <a:r>
              <a:rPr lang="pt-BR" sz="24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encontrou: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A/B → -62,5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C/D → +62,5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Mas não vamos aplicar toda esta correção de uma vez, mas sim atenuar com </a:t>
            </a:r>
            <a:r>
              <a:rPr lang="el-G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 = 0,1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de forma que: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A/B → -6,25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C/D → +6,25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93660F-0E77-CF21-A576-0DECFEBEB421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2408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FE16-4761-9868-BB49-3145C651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3F0C5CD2-5CE1-4F03-FB68-A588CECBF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Modelo 2 é então: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 = M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 + 0,1*h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1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647969-BD99-9A88-A0D1-D03BC3B73DA6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DDF597-47C0-13A5-0FC6-7F804C418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667" y="3210508"/>
            <a:ext cx="9929562" cy="270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3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E327-13B7-9B16-311B-2D7A5A2C7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BAFED09D-65F7-E994-9052-C0661032D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Ocorreu então o seguinte: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Vamos prosseguir.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1E1B1A-1E34-A6FA-9BA0-91CD1C06E139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FFCB2C-6346-5247-2292-095B19DE9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4323" y="3227724"/>
            <a:ext cx="1614199" cy="194653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C1CF0EC-4A37-86CC-ACB3-64AD4845B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290" y="3227724"/>
            <a:ext cx="1709153" cy="194653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17D6459-55C1-0DE6-A43A-ECD7FEEA51E3}"/>
              </a:ext>
            </a:extLst>
          </p:cNvPr>
          <p:cNvSpPr txBox="1"/>
          <p:nvPr/>
        </p:nvSpPr>
        <p:spPr>
          <a:xfrm>
            <a:off x="2824747" y="2829879"/>
            <a:ext cx="842639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C7841C-7A16-09C2-EF1A-7D339B24C7DB}"/>
              </a:ext>
            </a:extLst>
          </p:cNvPr>
          <p:cNvSpPr txBox="1"/>
          <p:nvPr/>
        </p:nvSpPr>
        <p:spPr>
          <a:xfrm>
            <a:off x="6930852" y="2815130"/>
            <a:ext cx="925034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DEPOIS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BFC34D-AA79-B097-E20B-FB70F3354FF5}"/>
              </a:ext>
            </a:extLst>
          </p:cNvPr>
          <p:cNvSpPr txBox="1"/>
          <p:nvPr/>
        </p:nvSpPr>
        <p:spPr>
          <a:xfrm>
            <a:off x="4163362" y="3406212"/>
            <a:ext cx="2207886" cy="763790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h</a:t>
            </a:r>
            <a:r>
              <a:rPr lang="pt-BR" sz="18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atenuada 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</a:t>
            </a:r>
            <a:r>
              <a:rPr lang="el-G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= 0,1</a:t>
            </a:r>
            <a:endParaRPr lang="pt-BR" sz="1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F8FF9FE-FC98-0E6B-AFA6-7EFE29464E7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978522" y="4200992"/>
            <a:ext cx="24927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6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4E03-ACBA-2412-9C9D-734D7CEE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C440CA8F-8111-3B2D-FAE4-D9A723F17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40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Após M2, os novos erros (resíduos) são os seguintes: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Vamos então seguir para o Modelo 3.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63FB5D-D9BF-C418-7C34-1E0400D5E455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301665E-2F65-A498-21B8-00918105A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761" y="2725714"/>
            <a:ext cx="10040454" cy="267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9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71B5-BCF3-D02D-A503-43F8CA9F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D0D052C0-261F-1419-90CA-D415D0928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Novamente vamos separar por área e apurar as médias dos resíduos: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Aplicando novamente o </a:t>
            </a:r>
            <a:r>
              <a:rPr 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learning rate </a:t>
            </a:r>
            <a:r>
              <a:rPr lang="el-G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 = 0,1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A/B → -5,625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C/D → +5,625 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317D9E-0C4B-4095-2314-98A85A15818A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183AF0-A670-A3A9-5114-E6CB2DF59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645" y="2896914"/>
            <a:ext cx="1867929" cy="14943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CD691B-A337-926D-CE01-4923C4C3C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7037" y="2808426"/>
            <a:ext cx="4677428" cy="185763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C77EEA9-1D43-A39E-A9C6-F847AC5E41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9681" y="3250872"/>
            <a:ext cx="3353691" cy="138012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7C143-23CA-DAC4-2123-8A00596A1876}"/>
              </a:ext>
            </a:extLst>
          </p:cNvPr>
          <p:cNvSpPr txBox="1"/>
          <p:nvPr/>
        </p:nvSpPr>
        <p:spPr>
          <a:xfrm>
            <a:off x="9205891" y="2802367"/>
            <a:ext cx="1220563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h</a:t>
            </a:r>
            <a:r>
              <a:rPr lang="pt-BR" sz="18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9884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39FC4-D052-4E2D-1344-5D96A108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8423AD7B-DCF9-0D43-CAA1-7ACFC201D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Portanto: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3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 = M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 + 0,1*h</a:t>
            </a:r>
            <a:r>
              <a:rPr lang="pt-BR" sz="2300" baseline="-25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13B445-5009-E2AC-9150-3A14675AA0B5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EAAC44-A359-733C-3168-9BEDA0776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962" y="3170570"/>
            <a:ext cx="9900894" cy="266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4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5DD2-BEC6-B081-3139-97B063CF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8E05867-70C4-FA96-3D2D-45EDAD721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Percebemos que os erros estão diminuindo, o que mostra as melhorias graduais.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Nosso exemplo simples foi só com a variável “área” e valor de divisão 70m</a:t>
            </a:r>
            <a:r>
              <a:rPr lang="pt-BR" sz="24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 O algoritmo de Gradient Boosting na prática vai testando </a:t>
            </a:r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diferentes variáveis 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 </a:t>
            </a:r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diferentes valores (limiares) para divisão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Ou seja, a cada nova etapa do Gradient Boosting, o algoritmo procura a árvore que melhor consegue reduzir a função de perda naquele momento.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3FC0C49-0763-D501-4388-3BB11B0F9068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16270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D4185-C33A-FB44-FB3F-79626DF57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E658EC8E-45F7-C0E1-1075-12D9F3901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Frequentemente é preferível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learning rate 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menor + mais árvores do que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learning rate 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muito alto + poucas árvores. O caminho mais suave é mais adequado.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algoritmo para quando o número parametrizado de árvores for atingido ou quando o erro começar a não melhorar, indicando sobreajuste.</a:t>
            </a: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BEC315-08FE-4FB7-F1A8-C3AB419CF824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190688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62082-EBC5-BF28-9440-391CB052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C11F2E24-1A57-A1ED-F5F5-F8472AE59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uma casa de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90m</a:t>
            </a:r>
            <a:r>
              <a:rPr lang="pt-BR" sz="2300" baseline="300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(que não está nos dados de treinamento), qual então a predição do modelo treinado?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53B1645-653E-E889-10E3-928064919E6A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392C1F-68F7-4AAA-3D63-C2EDC27C5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294" y="3723975"/>
            <a:ext cx="3799838" cy="171818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A7E7697-C8C2-96AC-81D4-31444CB63232}"/>
              </a:ext>
            </a:extLst>
          </p:cNvPr>
          <p:cNvSpPr txBox="1"/>
          <p:nvPr/>
        </p:nvSpPr>
        <p:spPr>
          <a:xfrm>
            <a:off x="2896237" y="3249424"/>
            <a:ext cx="2345871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h</a:t>
            </a:r>
            <a:r>
              <a:rPr lang="pt-BR" sz="18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modelo: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D04A083-FE05-AA97-1821-27E991A46B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0165" y="3064339"/>
            <a:ext cx="4248743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7A014-62B3-2244-EE09-E83989FD7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D16705C6-BAB6-7052-9268-C47D30C7E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 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casa de </a:t>
            </a: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90m</a:t>
            </a:r>
            <a:r>
              <a:rPr lang="pt-BR" sz="2500" baseline="300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baseline="30000" dirty="0">
              <a:solidFill>
                <a:srgbClr val="0070C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863C58-B426-F075-A60B-73DE3C486FFF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1CED26-0E7C-98FB-95F6-7A6B46193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402" y="2749426"/>
            <a:ext cx="3353691" cy="138012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8E1DC09-D2D4-3E48-F561-223059E0D953}"/>
              </a:ext>
            </a:extLst>
          </p:cNvPr>
          <p:cNvSpPr txBox="1"/>
          <p:nvPr/>
        </p:nvSpPr>
        <p:spPr>
          <a:xfrm>
            <a:off x="2135078" y="2286743"/>
            <a:ext cx="2313811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h</a:t>
            </a:r>
            <a:r>
              <a:rPr lang="pt-BR" sz="18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modelo: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BC30050-FD09-E8A8-662D-0C5289BE1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6031" y="2484043"/>
            <a:ext cx="5344684" cy="388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6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715B7-3F73-AF6C-947A-C6B56ACA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C78668D5-CF99-18ED-2F32-E31054F1E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 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casa de </a:t>
            </a: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90m</a:t>
            </a:r>
            <a:r>
              <a:rPr lang="pt-BR" sz="2500" baseline="300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Suponha que o treinamento tenha produzido as seguintes árvores: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7EDE3F-0BE2-13DA-197F-D04AD2247217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6FEEAE-A401-D070-C13E-F72FF7B09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2542" y="2724957"/>
            <a:ext cx="9303302" cy="35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9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0703F-2256-6E66-A998-77FE20BB0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0AAB91B-3E25-B7B1-2C71-8AAEE3EAD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regressão 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 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casa de </a:t>
            </a: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90m</a:t>
            </a:r>
            <a:r>
              <a:rPr lang="pt-BR" sz="2500" baseline="300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Imagine que depois de todas as árvores a soma das correções seja +30.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Então: F(90) = 277,5 + 30 = 307,5.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Assim, preço predito para a casa de 90m</a:t>
            </a:r>
            <a:r>
              <a:rPr lang="pt-BR" sz="2300" baseline="300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2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307,5 mil.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Portanto, o indivíduo novo é colocado no “caminho” gerado pelo treinamento do Gradient Boosting, para a coleta das devidas correções árvore a árvore, que somadas ao chute inicial do modelo conduzem à predição desejada.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solidFill>
                  <a:srgbClr val="00B05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Fato interessante: o “caminho” construído pelo algoritmo faz as previsões para os dados de treinamento convergirem progressivamente para seus valores-alvo originais.</a:t>
            </a:r>
            <a:endParaRPr lang="pt-BR" sz="3200" dirty="0">
              <a:solidFill>
                <a:srgbClr val="00B050"/>
              </a:solidFill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EAD0851-71A4-05F5-FF00-7B4A368C4CC6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296496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4AA1-4F52-5BD9-A0D6-CF6C41B07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300A434C-0EE2-E995-1BC0-E6278A53D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 para </a:t>
            </a:r>
            <a:r>
              <a:rPr lang="pt-BR" sz="2500" u="sng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classificação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como fica o uso do algoritmo? Vejamos um exemplo para os seguintes dados de treinamento (classe positiva = 1):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AC9D81-2B88-44E1-486E-457369454AA1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4716635-4434-DB1C-1262-89F8D21F8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537" y="2652937"/>
            <a:ext cx="8045571" cy="399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5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74F1-77E2-9122-1F74-79DE0472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68C4F06F-1DC6-4243-907F-6A9EDB198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Aqui, partimos de p(inadimplentes) = 3/8 = 0,375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036C4C5-C18C-A6AA-9FAD-D6EED21AD144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894B055-B6B8-233F-AA9B-0C9006381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837" y="2712749"/>
            <a:ext cx="7769063" cy="382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3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7F6C-3BE1-C225-5042-C358A626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28FA4FE0-DE16-D22C-BE49-504DBA1FE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classificação, começamos com um score inicial para todos os clientes, usando normalmente log loss. Uma forma de visualizar essa pontuação é através do logit: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</a:t>
            </a:r>
            <a:r>
              <a:rPr lang="pt-BR" sz="23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= 0,375:</a:t>
            </a: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E267962-8990-DFE8-62D7-E76366BB3EA3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1E207A-8610-8E4C-0549-2A73BD0D2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1338" y="3355260"/>
            <a:ext cx="2680292" cy="109499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9AB5B9C-C9D0-0502-FA9E-4ECE4C566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9718" y="4655051"/>
            <a:ext cx="2203533" cy="195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6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231B-F0C8-75CC-99A0-18EDB6E0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816AF4FD-DB04-3548-FD2D-01CB462F7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AF0362-6445-B3DD-3DF3-701BA0870E64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A6FC9F-F1B8-28ED-D527-7AEA0CC95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984" y="2255900"/>
            <a:ext cx="5761848" cy="426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9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9F6C-3338-5074-A84B-EA99787A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B4A82FF0-5B00-31EF-0C99-19F23E587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BD7A9F-EA19-BB31-F252-CEAB95AF5CFA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F6A32E-6E89-4C25-B3A0-59A6DFEFF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902" y="2205945"/>
            <a:ext cx="8390465" cy="418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17855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F089-B037-6AE1-170C-4833D322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32C2AD9C-97BA-6A6A-A41D-B9BC9F728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56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Agora o algoritmo testa divisões para montar a árvore 1: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9EF2939-919B-A36D-7540-F5E751217D63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50CA0D-1F97-B900-22D8-0B01BC51A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941" y="3100458"/>
            <a:ext cx="1657411" cy="302657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73424B2-054B-36B4-C91A-19FF1D82FF3F}"/>
              </a:ext>
            </a:extLst>
          </p:cNvPr>
          <p:cNvSpPr txBox="1"/>
          <p:nvPr/>
        </p:nvSpPr>
        <p:spPr>
          <a:xfrm>
            <a:off x="2350867" y="2682019"/>
            <a:ext cx="1162535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 checa: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6DF39D-C0BA-70A0-03E4-E006B25D2DFE}"/>
              </a:ext>
            </a:extLst>
          </p:cNvPr>
          <p:cNvSpPr txBox="1"/>
          <p:nvPr/>
        </p:nvSpPr>
        <p:spPr>
          <a:xfrm>
            <a:off x="3978168" y="2880210"/>
            <a:ext cx="7435598" cy="3424775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Suponhamos que ele descubra que Dívidas &gt;3 seja uma boa divisão.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Então: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pt-BR" sz="16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pt-BR" sz="16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pt-BR" sz="16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pt-BR" sz="16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pt-BR" sz="16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pt-BR" sz="16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pt-BR" sz="1600" dirty="0"/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700" dirty="0"/>
              <a:t>Nem sempre a árvore é perfeita. Note que H tem apenas 1 dívida e é inadimplente.</a:t>
            </a:r>
            <a:endParaRPr lang="pt-BR" sz="1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9C34066-1D17-9C41-34B1-FFB32BA4E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846" y="3782683"/>
            <a:ext cx="2645753" cy="188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9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D09B-5600-A4AB-EEDD-91D5D8210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916E7F68-6867-EC00-F89A-B070B4AA6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Dívidas &gt; 3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Ramo “Sim”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e B: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 → +0,625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 → +0,625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Ramo “Não”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C, D, E, F, G e H:</a:t>
            </a:r>
          </a:p>
          <a:p>
            <a:pPr marL="1984500" lvl="4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1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H com +0,625, demais com -0,375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FC42208-173C-CC25-6FFA-E2B323252B7C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EDE608-50CB-7019-7544-BE351604E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244" y="2709830"/>
            <a:ext cx="2871780" cy="71794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E7822106-046A-B73D-FD2E-7533FDFC3100}"/>
              </a:ext>
            </a:extLst>
          </p:cNvPr>
          <p:cNvSpPr txBox="1"/>
          <p:nvPr/>
        </p:nvSpPr>
        <p:spPr>
          <a:xfrm>
            <a:off x="7535953" y="2324451"/>
            <a:ext cx="3263430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Médias dos gradientes de A e B: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FAEFD83-662B-EBA8-D0A6-6FDB6D2A0E70}"/>
              </a:ext>
            </a:extLst>
          </p:cNvPr>
          <p:cNvSpPr txBox="1"/>
          <p:nvPr/>
        </p:nvSpPr>
        <p:spPr>
          <a:xfrm>
            <a:off x="7143194" y="3694374"/>
            <a:ext cx="4196443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Médias dos gradientes de C, D, E, F, G e H: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0B3A65D-228C-5DE5-84F7-136800F602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7163" y="4076433"/>
            <a:ext cx="2489911" cy="151073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8327956-4B1C-BA92-26C9-BC2CAD6CAF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911" y="5506908"/>
            <a:ext cx="2274415" cy="79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9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ACB73-F10A-B1E0-A0E0-C1F74C46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FF3C7348-E424-4A0B-3C7C-430916ABA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Chegamos então ao seguinte: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Aplicando-se </a:t>
            </a:r>
            <a:r>
              <a:rPr lang="pt-BR" sz="23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learning rate </a:t>
            </a:r>
            <a:r>
              <a:rPr lang="el-G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 = 0,1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chegamos aos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ajustes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9E665C-EB93-FE9A-14F4-33895318DFD9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B09E82A-4BEC-4A59-C6FF-C041CE3B7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6280" y="2719122"/>
            <a:ext cx="2326658" cy="16378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D9DA0D8-1917-34F8-8A15-1939D938E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0657" y="4919012"/>
            <a:ext cx="5339821" cy="163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0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199CF-1E43-7FD8-9CBE-6A073A14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7E77A903-1E0E-8D50-E29B-8E18F4512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Temos então:</a:t>
            </a: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2AB7C2-4573-9A33-3169-8EC7613D3A08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BE6D86-DEEC-9625-C13C-515574D97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1249" y="2628205"/>
            <a:ext cx="8294853" cy="380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14933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258E-94FB-9EBE-53C7-7C04C581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28C3BD49-FC61-D5A8-8BBB-CDAD9FF57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Transformando os Fs em probabilidades, com uso da sigmoide</a:t>
            </a: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   e apurando os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gradientes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temos: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2F6D617-380B-63D7-A240-7FE0CC4D4A98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A62F20F-86E5-2260-E337-828B8AF83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587" y="2047525"/>
            <a:ext cx="1612420" cy="79996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6082F6A-22AE-1674-8A38-0B24AB9B5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8185" y="3116208"/>
            <a:ext cx="7005247" cy="348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877E-56A6-EDA5-AB6E-E8A37D97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9C464A7A-1E89-7E2A-385C-229F47E1D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Vamos para a árvore 2.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Suponhamos que agora o algoritmo descubra que uma divisão boa seja Renda &gt;7.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028946-B56C-3E90-5496-C7DCC5E6C585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FFA6DAB-E73B-2F59-27C9-3C73CCDC3BE7}"/>
              </a:ext>
            </a:extLst>
          </p:cNvPr>
          <p:cNvSpPr txBox="1"/>
          <p:nvPr/>
        </p:nvSpPr>
        <p:spPr>
          <a:xfrm>
            <a:off x="6948501" y="3393463"/>
            <a:ext cx="3879433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Médias dos gradientes – ramo “NÃO”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D5C998B-1857-CBDD-02E7-C0DA5563A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664" y="3797154"/>
            <a:ext cx="3371336" cy="186868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9BEFDEB-2E8E-8F08-D1AD-A514FF1B6A0A}"/>
              </a:ext>
            </a:extLst>
          </p:cNvPr>
          <p:cNvSpPr txBox="1"/>
          <p:nvPr/>
        </p:nvSpPr>
        <p:spPr>
          <a:xfrm>
            <a:off x="7051077" y="4932210"/>
            <a:ext cx="3713618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Médias dos gradientes – ramo “SIM”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5EB5EE2-FA8C-268D-31D4-6034E8C39F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988" y="3894908"/>
            <a:ext cx="4267796" cy="51442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DD6D4AE-9E01-75A2-76A1-EA0778121C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4743" y="4467349"/>
            <a:ext cx="866896" cy="37152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81C3900-7B9D-4AEA-F767-1FF0AD33F1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0232" y="5388349"/>
            <a:ext cx="2686425" cy="47631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12A955D-EB68-40C9-20CE-2905669159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1863" y="5902708"/>
            <a:ext cx="962159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4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8" grpId="0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5721-8AF3-049F-0EF3-7632A2AC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9AA75CD0-00B5-9AFD-62F1-6A715E86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Aplicando-se </a:t>
            </a:r>
            <a:r>
              <a:rPr lang="pt-BR" sz="23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learning rate </a:t>
            </a:r>
            <a:r>
              <a:rPr lang="el-G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η = 0,1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chegamos aos </a:t>
            </a:r>
            <a:r>
              <a:rPr lang="pt-BR" sz="23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ajustes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E5E5A54-FE4C-A0AE-A887-666756C122A7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81F6AEA-2F67-01CD-75D9-2BBDAB22F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2728" y="2933852"/>
            <a:ext cx="4657136" cy="254025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639C06E-48E5-06FC-00B7-6E0ACF0A3D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6106" y="3429000"/>
            <a:ext cx="2978853" cy="171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3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2A90-689B-0DF8-6F16-6C99B23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72A37111-8BC7-BB85-51FB-59BB864F2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500" i="1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105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2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 exemplo, para A e F:</a:t>
            </a: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F71AC8-7564-2B24-80B8-228BF77F5053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7253BB5-8D48-917F-0EA2-FC8764644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902" y="2231279"/>
            <a:ext cx="3248003" cy="59795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4A769A5-1328-2322-4CE7-0FED697F44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294" y="3541003"/>
            <a:ext cx="5005975" cy="223170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4AC7180-C174-C2EE-9B3B-383039AFB7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126" y="3526255"/>
            <a:ext cx="5005975" cy="153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4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CC63-66E8-816B-CBF7-1FAAC3AA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61D91549-B982-BA7A-DBB8-ABFC9F331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Resultado após a árvore 2:</a:t>
            </a:r>
            <a:endParaRPr lang="pt-BR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ADA411-6D05-A7ED-EBDF-144E1821E1CB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688045E-EC00-7525-251B-088DDD2FA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99" y="2677910"/>
            <a:ext cx="11101599" cy="346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2479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3C99B-CF93-77B3-1A2C-64FC3685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34930383-8C7E-3D32-4868-B636FF9EE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Cliente novo: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Para a predição do cliente novo no modelo, partimos do seguinte: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9F12AA8-A563-06F8-B111-F6E51F9523A7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A93CA0-B214-49AB-696F-EC330C6DB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2298" y="2654298"/>
            <a:ext cx="8507248" cy="92956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47DD522-04CC-92F7-AB12-62D739D2F0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0769" y="4467770"/>
            <a:ext cx="3243406" cy="156939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6F00DAC-B7EC-29A1-E4D4-B0C7DC6AFF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1655" y="4467769"/>
            <a:ext cx="3584980" cy="156939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1366CC4-02BC-A5E5-2C2C-69490C8996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8800" y="4956833"/>
            <a:ext cx="1770819" cy="47056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19B1435-AE96-7DB5-CABA-F65A235BC013}"/>
              </a:ext>
            </a:extLst>
          </p:cNvPr>
          <p:cNvSpPr txBox="1"/>
          <p:nvPr/>
        </p:nvSpPr>
        <p:spPr>
          <a:xfrm>
            <a:off x="2651270" y="4068432"/>
            <a:ext cx="1100339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1: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3E106B1-FFDB-7AD9-6856-F6E4EA678D60}"/>
              </a:ext>
            </a:extLst>
          </p:cNvPr>
          <p:cNvSpPr txBox="1"/>
          <p:nvPr/>
        </p:nvSpPr>
        <p:spPr>
          <a:xfrm>
            <a:off x="6493973" y="4044132"/>
            <a:ext cx="1100339" cy="403691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Árvore 2: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2EBB21A-ECD1-72A5-96B7-44395D132685}"/>
              </a:ext>
            </a:extLst>
          </p:cNvPr>
          <p:cNvSpPr/>
          <p:nvPr/>
        </p:nvSpPr>
        <p:spPr>
          <a:xfrm>
            <a:off x="9223232" y="5015825"/>
            <a:ext cx="1611348" cy="332352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71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 animBg="1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E2C6-5F78-A930-3828-1035AEC9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4B913065-91B3-2CF9-F81F-6AF922399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Cliente novo X passa na </a:t>
            </a:r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árvore 1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do modelo: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Dívidas X = 4 =&gt; entra no ramo “SIM”: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1821563-B030-114C-F7BF-217242864A55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8D2FBA2-5CDD-468F-2A91-F39CD8D76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7373" y="3176960"/>
            <a:ext cx="2668107" cy="294176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D2D4A50-BA1B-CAAD-F24A-B34752198A16}"/>
              </a:ext>
            </a:extLst>
          </p:cNvPr>
          <p:cNvSpPr txBox="1"/>
          <p:nvPr/>
        </p:nvSpPr>
        <p:spPr>
          <a:xfrm>
            <a:off x="5342024" y="3241128"/>
            <a:ext cx="6208294" cy="44049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primeira árvore vai acrescentar ao score +0,0625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3145F2-9007-07F4-C5B8-A6B90E21F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826" y="3665583"/>
            <a:ext cx="5018595" cy="279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8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AF77-88F1-75BF-DD05-45AE6BB6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15ADEAEA-21D8-3C7C-6821-9BF4E58D9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Cliente novo X passa na </a:t>
            </a:r>
            <a:r>
              <a:rPr lang="pt-BR" sz="24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árvore 2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do modelo:</a:t>
            </a: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Renda X = 6 =&gt; entra no ramo “NÃO”: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428DD79-97A2-F05D-B332-767343EDE7A1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876393F-9619-6533-3313-898E402F8779}"/>
              </a:ext>
            </a:extLst>
          </p:cNvPr>
          <p:cNvSpPr txBox="1"/>
          <p:nvPr/>
        </p:nvSpPr>
        <p:spPr>
          <a:xfrm>
            <a:off x="5406192" y="3241128"/>
            <a:ext cx="6208294" cy="44049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segunda árvore vai acrescentar ao score +0,002202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D26051-7F6F-2E66-D6F9-7A8727C2B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348" y="3241128"/>
            <a:ext cx="2862666" cy="296804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FB3CE14-C34C-82D9-4BA6-0DCE20D516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998" y="3657970"/>
            <a:ext cx="4974339" cy="284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9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F189-CD18-E075-8837-46998D71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5EB6E079-6B91-9434-387D-3C95966C7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O cliente passaria por todas as árvores do modelo, atualizando seu F, e ao final transformamos este F em probabilidade de classe positiva via sigmoide.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nosso exemplo de 2 árvores, temos:</a:t>
            </a: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289DDC-4816-4878-6500-66B8C028AD02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DFB47B-F612-953C-F041-C6FDFB5A2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7471" y="3975647"/>
            <a:ext cx="4544283" cy="10615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0733D8A-636E-639C-499B-A6E215DC1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2236" y="5173365"/>
            <a:ext cx="2945670" cy="66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4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F2262-F921-CA14-9EDF-DC292999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81D56C18-F39B-4BE8-8FC9-EF6445B91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Exemplo para classificação</a:t>
            </a:r>
            <a:r>
              <a:rPr lang="pt-BR" sz="25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– cont.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Adotando um </a:t>
            </a:r>
            <a:r>
              <a:rPr lang="pt-BR" sz="24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threshold</a:t>
            </a: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padrão de 50%: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Como P = 39% -&gt; classificamos como 0 (não inadimplente).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Seguindo com o algoritmo para mais árvores, há mais adição de correções e chegaríamos a uma probabilidade mais preciosa, com consecutiva classificação mais firme.</a:t>
            </a: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56157AE-571B-54FD-969D-44137841873E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7EF881-C43C-0988-7698-24C29EEBA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1762" y="2778496"/>
            <a:ext cx="3571524" cy="112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0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0DE29-13A0-9AE3-A9B8-81F830D3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C5CE7F14-C658-3482-5BBF-0622AABF5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57" y="119216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cont.</a:t>
            </a:r>
            <a:endParaRPr lang="pt-BR" sz="26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No Gradient Boosting para classificação, cada árvore não tenta descobrir sozinha se um indivíduo é da classe-alvo.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Ela tenta fazer uma pequena correção no score que o conjunto das árvores anteriores já produziu.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É justamente o acúmulo dessas pequenas correções que constrói a previsão final.</a:t>
            </a: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800100" lvl="2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endParaRPr lang="pt-BR" sz="21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4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070100" lvl="2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0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1527300" lvl="3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endParaRPr lang="pt-BR" sz="32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1E1405-9FFF-3710-A564-00850949474C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73463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F9E0-73BD-2A55-D48B-0C904E35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aixaDeTexto 96">
            <a:extLst>
              <a:ext uri="{FF2B5EF4-FFF2-40B4-BE49-F238E27FC236}">
                <a16:creationId xmlns:a16="http://schemas.microsoft.com/office/drawing/2014/main" id="{DD24310B-636C-DDA1-8060-01456A4608BF}"/>
              </a:ext>
            </a:extLst>
          </p:cNvPr>
          <p:cNvSpPr txBox="1"/>
          <p:nvPr/>
        </p:nvSpPr>
        <p:spPr>
          <a:xfrm flipH="1">
            <a:off x="9250187" y="2262596"/>
            <a:ext cx="2091201" cy="2564283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Predição de valor de indivíduo novo: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= M1 + Corr</a:t>
            </a:r>
            <a:r>
              <a:rPr lang="pt-BR" sz="1800" b="1" baseline="-25000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1(SIM/NÃO)</a:t>
            </a:r>
            <a:r>
              <a:rPr lang="pt-BR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Corr</a:t>
            </a:r>
            <a:r>
              <a:rPr lang="pt-BR" sz="1800" b="1" baseline="-25000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2(SIM/NÃO)</a:t>
            </a:r>
            <a:r>
              <a:rPr lang="pt-BR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</a:t>
            </a:r>
            <a:r>
              <a:rPr lang="pt-BR" sz="1800" b="1" baseline="-25000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N(SIM/NÃO)</a:t>
            </a:r>
            <a:endParaRPr lang="pt-BR" sz="1800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9F94316-FF8F-7CFC-912C-F9FFDEF32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173" y="1046488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resumo esquemático do algoritmo (</a:t>
            </a:r>
            <a:r>
              <a:rPr lang="pt-BR" sz="2600" i="1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regressão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7A386D-FF4D-460C-8200-446051CFF580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2" name="Fluxograma: Documento 1">
            <a:extLst>
              <a:ext uri="{FF2B5EF4-FFF2-40B4-BE49-F238E27FC236}">
                <a16:creationId xmlns:a16="http://schemas.microsoft.com/office/drawing/2014/main" id="{DE0CD89A-1953-38F5-7EA1-D1BC99ED273D}"/>
              </a:ext>
            </a:extLst>
          </p:cNvPr>
          <p:cNvSpPr/>
          <p:nvPr/>
        </p:nvSpPr>
        <p:spPr>
          <a:xfrm>
            <a:off x="1655532" y="1618054"/>
            <a:ext cx="2118811" cy="633091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</a:t>
            </a:r>
          </a:p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(Valores: Real</a:t>
            </a:r>
            <a:r>
              <a:rPr lang="pt-BR" sz="1500" b="1" baseline="-25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C9F8D22-80C7-DBB1-B762-4D043E2380FD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2714938" y="2209291"/>
            <a:ext cx="0" cy="188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A66FA59-3E3C-8B6C-D47F-1771898F47E2}"/>
              </a:ext>
            </a:extLst>
          </p:cNvPr>
          <p:cNvSpPr/>
          <p:nvPr/>
        </p:nvSpPr>
        <p:spPr>
          <a:xfrm>
            <a:off x="2051260" y="2397789"/>
            <a:ext cx="1327355" cy="52353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M1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médias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218FA1F-0AC1-87E8-044D-43BF5213A4BF}"/>
              </a:ext>
            </a:extLst>
          </p:cNvPr>
          <p:cNvSpPr/>
          <p:nvPr/>
        </p:nvSpPr>
        <p:spPr>
          <a:xfrm>
            <a:off x="1669336" y="3128997"/>
            <a:ext cx="2091202" cy="667475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Erros1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Real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M1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2CC0A0BD-1762-950C-EF7D-EA80AA7B965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714937" y="2921319"/>
            <a:ext cx="1" cy="207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B78A9BC-DAD7-EEFB-925B-3D0094CC920B}"/>
              </a:ext>
            </a:extLst>
          </p:cNvPr>
          <p:cNvSpPr/>
          <p:nvPr/>
        </p:nvSpPr>
        <p:spPr>
          <a:xfrm>
            <a:off x="1216450" y="4028406"/>
            <a:ext cx="3002945" cy="2413333"/>
          </a:xfrm>
          <a:prstGeom prst="roundRect">
            <a:avLst>
              <a:gd name="adj" fmla="val 5030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Testo e defino a ÁRVORE 1</a:t>
            </a:r>
          </a:p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cond(Var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9E424A9-C755-6D6D-D278-065868BD39D1}"/>
              </a:ext>
            </a:extLst>
          </p:cNvPr>
          <p:cNvSpPr txBox="1"/>
          <p:nvPr/>
        </p:nvSpPr>
        <p:spPr>
          <a:xfrm>
            <a:off x="1859559" y="4743643"/>
            <a:ext cx="508253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687F178-0775-0EAB-3F0C-C9149FFD28A6}"/>
              </a:ext>
            </a:extLst>
          </p:cNvPr>
          <p:cNvSpPr txBox="1"/>
          <p:nvPr/>
        </p:nvSpPr>
        <p:spPr>
          <a:xfrm>
            <a:off x="3237010" y="4754766"/>
            <a:ext cx="565127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D2A7504-800B-68FC-F09F-EA9CA73DE469}"/>
              </a:ext>
            </a:extLst>
          </p:cNvPr>
          <p:cNvSpPr txBox="1"/>
          <p:nvPr/>
        </p:nvSpPr>
        <p:spPr>
          <a:xfrm>
            <a:off x="1377074" y="5121202"/>
            <a:ext cx="1512759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 ErrosSim1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C19FF1C-5D07-9C28-A514-4ACA74F06690}"/>
              </a:ext>
            </a:extLst>
          </p:cNvPr>
          <p:cNvSpPr txBox="1"/>
          <p:nvPr/>
        </p:nvSpPr>
        <p:spPr>
          <a:xfrm>
            <a:off x="2837554" y="5121202"/>
            <a:ext cx="1540010" cy="33014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 ErrosNão1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B1F92D0-189F-21CA-1DD0-327003F72A66}"/>
              </a:ext>
            </a:extLst>
          </p:cNvPr>
          <p:cNvSpPr txBox="1"/>
          <p:nvPr/>
        </p:nvSpPr>
        <p:spPr>
          <a:xfrm>
            <a:off x="1952533" y="5517743"/>
            <a:ext cx="322304" cy="34854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B4A9E20-DA7A-7542-3461-5B1B1C812295}"/>
              </a:ext>
            </a:extLst>
          </p:cNvPr>
          <p:cNvSpPr txBox="1"/>
          <p:nvPr/>
        </p:nvSpPr>
        <p:spPr>
          <a:xfrm>
            <a:off x="3358421" y="5517743"/>
            <a:ext cx="322304" cy="34854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64F5B20-49B1-9E30-CC15-36E56B0EAD23}"/>
              </a:ext>
            </a:extLst>
          </p:cNvPr>
          <p:cNvSpPr txBox="1"/>
          <p:nvPr/>
        </p:nvSpPr>
        <p:spPr>
          <a:xfrm>
            <a:off x="1748951" y="5971952"/>
            <a:ext cx="820838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Corr1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AC2BA26-EF00-DF15-686D-7291ABAF5621}"/>
              </a:ext>
            </a:extLst>
          </p:cNvPr>
          <p:cNvSpPr txBox="1"/>
          <p:nvPr/>
        </p:nvSpPr>
        <p:spPr>
          <a:xfrm>
            <a:off x="3135636" y="5971952"/>
            <a:ext cx="859247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Corr1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NÂO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80C05100-8543-11BE-A1F0-93E4FCC4E5BB}"/>
              </a:ext>
            </a:extLst>
          </p:cNvPr>
          <p:cNvSpPr/>
          <p:nvPr/>
        </p:nvSpPr>
        <p:spPr>
          <a:xfrm>
            <a:off x="4955412" y="2346681"/>
            <a:ext cx="2511051" cy="52353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M2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M1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Corr1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i(SIM/NÃO)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B3AB4CF-6DDF-2B03-9971-BF942CAD391A}"/>
              </a:ext>
            </a:extLst>
          </p:cNvPr>
          <p:cNvSpPr/>
          <p:nvPr/>
        </p:nvSpPr>
        <p:spPr>
          <a:xfrm>
            <a:off x="5165336" y="3120694"/>
            <a:ext cx="2091202" cy="667475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Erros2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Real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M2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D1B2478F-9E02-6895-CC9D-7EEDD575DDCF}"/>
              </a:ext>
            </a:extLst>
          </p:cNvPr>
          <p:cNvCxnSpPr>
            <a:cxnSpLocks/>
          </p:cNvCxnSpPr>
          <p:nvPr/>
        </p:nvCxnSpPr>
        <p:spPr>
          <a:xfrm flipH="1">
            <a:off x="1987524" y="4608376"/>
            <a:ext cx="555244" cy="20443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74E01893-6183-869A-1882-A1B483E31985}"/>
              </a:ext>
            </a:extLst>
          </p:cNvPr>
          <p:cNvCxnSpPr>
            <a:cxnSpLocks/>
          </p:cNvCxnSpPr>
          <p:nvPr/>
        </p:nvCxnSpPr>
        <p:spPr>
          <a:xfrm>
            <a:off x="2807046" y="4608376"/>
            <a:ext cx="552269" cy="20443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D3C7FC9F-1879-50DF-6D3E-42AB839FA955}"/>
              </a:ext>
            </a:extLst>
          </p:cNvPr>
          <p:cNvCxnSpPr>
            <a:cxnSpLocks/>
          </p:cNvCxnSpPr>
          <p:nvPr/>
        </p:nvCxnSpPr>
        <p:spPr>
          <a:xfrm>
            <a:off x="1996532" y="5430857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03147141-5B33-7ED5-1897-241128496C76}"/>
              </a:ext>
            </a:extLst>
          </p:cNvPr>
          <p:cNvCxnSpPr>
            <a:cxnSpLocks/>
          </p:cNvCxnSpPr>
          <p:nvPr/>
        </p:nvCxnSpPr>
        <p:spPr>
          <a:xfrm>
            <a:off x="3410580" y="5433852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58BDD0F3-431E-D48D-44F5-8760EA919CAC}"/>
              </a:ext>
            </a:extLst>
          </p:cNvPr>
          <p:cNvCxnSpPr>
            <a:cxnSpLocks/>
          </p:cNvCxnSpPr>
          <p:nvPr/>
        </p:nvCxnSpPr>
        <p:spPr>
          <a:xfrm>
            <a:off x="1999522" y="5828286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EE717507-054C-59D6-0FFB-6537C7B5486B}"/>
              </a:ext>
            </a:extLst>
          </p:cNvPr>
          <p:cNvCxnSpPr>
            <a:cxnSpLocks/>
          </p:cNvCxnSpPr>
          <p:nvPr/>
        </p:nvCxnSpPr>
        <p:spPr>
          <a:xfrm>
            <a:off x="3407596" y="5837253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A2A2E3C4-3BDA-A58D-822D-5F9337387C28}"/>
              </a:ext>
            </a:extLst>
          </p:cNvPr>
          <p:cNvCxnSpPr>
            <a:cxnSpLocks/>
          </p:cNvCxnSpPr>
          <p:nvPr/>
        </p:nvCxnSpPr>
        <p:spPr>
          <a:xfrm>
            <a:off x="1972367" y="5040308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C1C8C179-3FE8-CDAD-CCE1-66A4FA4ABFE2}"/>
              </a:ext>
            </a:extLst>
          </p:cNvPr>
          <p:cNvCxnSpPr>
            <a:cxnSpLocks/>
          </p:cNvCxnSpPr>
          <p:nvPr/>
        </p:nvCxnSpPr>
        <p:spPr>
          <a:xfrm>
            <a:off x="3413580" y="5030447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DDEF8FA4-F0EA-5DB2-7805-C60CF6C7A1A2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>
            <a:off x="2714937" y="3796472"/>
            <a:ext cx="2986" cy="23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de Seta Reta 89">
            <a:extLst>
              <a:ext uri="{FF2B5EF4-FFF2-40B4-BE49-F238E27FC236}">
                <a16:creationId xmlns:a16="http://schemas.microsoft.com/office/drawing/2014/main" id="{7E3A5479-4CAF-6CF0-EBD2-CF0D740AF350}"/>
              </a:ext>
            </a:extLst>
          </p:cNvPr>
          <p:cNvCxnSpPr>
            <a:cxnSpLocks/>
          </p:cNvCxnSpPr>
          <p:nvPr/>
        </p:nvCxnSpPr>
        <p:spPr>
          <a:xfrm>
            <a:off x="6210938" y="2882649"/>
            <a:ext cx="0" cy="238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2B8D6F7D-AD83-3A28-DF04-4B907FBF3E03}"/>
              </a:ext>
            </a:extLst>
          </p:cNvPr>
          <p:cNvCxnSpPr>
            <a:cxnSpLocks/>
          </p:cNvCxnSpPr>
          <p:nvPr/>
        </p:nvCxnSpPr>
        <p:spPr>
          <a:xfrm>
            <a:off x="6210938" y="3783408"/>
            <a:ext cx="0" cy="24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6C80191A-ABEC-C571-8159-FA50436E6850}"/>
              </a:ext>
            </a:extLst>
          </p:cNvPr>
          <p:cNvSpPr txBox="1"/>
          <p:nvPr/>
        </p:nvSpPr>
        <p:spPr>
          <a:xfrm flipH="1">
            <a:off x="8553822" y="4928756"/>
            <a:ext cx="3468282" cy="1483987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Verificamos em cada árvore o ramo aplicável ao indivíduo novo e vamos acumulando as correções correspondentes.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C8142463-07AF-43D8-BBC3-BA9FA6EE1D71}"/>
              </a:ext>
            </a:extLst>
          </p:cNvPr>
          <p:cNvSpPr/>
          <p:nvPr/>
        </p:nvSpPr>
        <p:spPr>
          <a:xfrm>
            <a:off x="9189122" y="2251145"/>
            <a:ext cx="2091201" cy="2575734"/>
          </a:xfrm>
          <a:prstGeom prst="roundRect">
            <a:avLst>
              <a:gd name="adj" fmla="val 567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3AAD68C1-7EC0-EDFE-9A2C-0DE63A049DBF}"/>
              </a:ext>
            </a:extLst>
          </p:cNvPr>
          <p:cNvSpPr/>
          <p:nvPr/>
        </p:nvSpPr>
        <p:spPr>
          <a:xfrm>
            <a:off x="9161825" y="2262596"/>
            <a:ext cx="2030735" cy="2617714"/>
          </a:xfrm>
          <a:prstGeom prst="roundRect">
            <a:avLst>
              <a:gd name="adj" fmla="val 39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cxnSp>
        <p:nvCxnSpPr>
          <p:cNvPr id="103" name="Conector: Angulado 102">
            <a:extLst>
              <a:ext uri="{FF2B5EF4-FFF2-40B4-BE49-F238E27FC236}">
                <a16:creationId xmlns:a16="http://schemas.microsoft.com/office/drawing/2014/main" id="{C6A364FF-8140-FF80-7BDD-ABACF8CD9E5D}"/>
              </a:ext>
            </a:extLst>
          </p:cNvPr>
          <p:cNvCxnSpPr/>
          <p:nvPr/>
        </p:nvCxnSpPr>
        <p:spPr>
          <a:xfrm flipV="1">
            <a:off x="7461520" y="2610720"/>
            <a:ext cx="867167" cy="26778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8454D7B5-3940-B20F-D065-A29901CFFF8B}"/>
              </a:ext>
            </a:extLst>
          </p:cNvPr>
          <p:cNvSpPr txBox="1"/>
          <p:nvPr/>
        </p:nvSpPr>
        <p:spPr>
          <a:xfrm flipH="1">
            <a:off x="8287630" y="2184907"/>
            <a:ext cx="778619" cy="587588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23FF3130-992E-75BD-F686-ADE17DAA6797}"/>
              </a:ext>
            </a:extLst>
          </p:cNvPr>
          <p:cNvSpPr txBox="1"/>
          <p:nvPr/>
        </p:nvSpPr>
        <p:spPr>
          <a:xfrm flipH="1">
            <a:off x="8289345" y="2578364"/>
            <a:ext cx="778619" cy="44049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sp>
        <p:nvSpPr>
          <p:cNvPr id="114" name="Retângulo: Cantos Arredondados 113">
            <a:extLst>
              <a:ext uri="{FF2B5EF4-FFF2-40B4-BE49-F238E27FC236}">
                <a16:creationId xmlns:a16="http://schemas.microsoft.com/office/drawing/2014/main" id="{2CE74BC6-6812-F256-39BA-DA0BDE729405}"/>
              </a:ext>
            </a:extLst>
          </p:cNvPr>
          <p:cNvSpPr/>
          <p:nvPr/>
        </p:nvSpPr>
        <p:spPr>
          <a:xfrm>
            <a:off x="4726206" y="4044326"/>
            <a:ext cx="3002945" cy="2413333"/>
          </a:xfrm>
          <a:prstGeom prst="roundRect">
            <a:avLst>
              <a:gd name="adj" fmla="val 5030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Testo e defino a ÁRVORE 2</a:t>
            </a:r>
          </a:p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cond(Var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9D2EA32D-5D5C-9B83-4761-4C8770D0D7FC}"/>
              </a:ext>
            </a:extLst>
          </p:cNvPr>
          <p:cNvSpPr txBox="1"/>
          <p:nvPr/>
        </p:nvSpPr>
        <p:spPr>
          <a:xfrm>
            <a:off x="5369315" y="4773211"/>
            <a:ext cx="508253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A7D410BD-8945-76CB-F00F-59115D5D7C47}"/>
              </a:ext>
            </a:extLst>
          </p:cNvPr>
          <p:cNvSpPr txBox="1"/>
          <p:nvPr/>
        </p:nvSpPr>
        <p:spPr>
          <a:xfrm>
            <a:off x="6746766" y="4784334"/>
            <a:ext cx="565127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232C957C-5E59-9BCE-FD18-0C28870A773A}"/>
              </a:ext>
            </a:extLst>
          </p:cNvPr>
          <p:cNvSpPr txBox="1"/>
          <p:nvPr/>
        </p:nvSpPr>
        <p:spPr>
          <a:xfrm>
            <a:off x="4886830" y="5150770"/>
            <a:ext cx="1512759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 ErrosSim2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A40CA899-5308-7B09-A3D4-A75E0182529D}"/>
              </a:ext>
            </a:extLst>
          </p:cNvPr>
          <p:cNvSpPr txBox="1"/>
          <p:nvPr/>
        </p:nvSpPr>
        <p:spPr>
          <a:xfrm>
            <a:off x="6347310" y="5150770"/>
            <a:ext cx="1540010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 ErrosNão2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C13354B-4756-472A-DBF9-E8980609A2CD}"/>
              </a:ext>
            </a:extLst>
          </p:cNvPr>
          <p:cNvSpPr txBox="1"/>
          <p:nvPr/>
        </p:nvSpPr>
        <p:spPr>
          <a:xfrm>
            <a:off x="5462289" y="5547311"/>
            <a:ext cx="322304" cy="34854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62B1881A-8824-CE61-7EE1-2EF82EEB57AF}"/>
              </a:ext>
            </a:extLst>
          </p:cNvPr>
          <p:cNvSpPr txBox="1"/>
          <p:nvPr/>
        </p:nvSpPr>
        <p:spPr>
          <a:xfrm>
            <a:off x="6868177" y="5547311"/>
            <a:ext cx="322304" cy="34854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4A290922-4202-A405-BF33-8C0B0A649A12}"/>
              </a:ext>
            </a:extLst>
          </p:cNvPr>
          <p:cNvSpPr txBox="1"/>
          <p:nvPr/>
        </p:nvSpPr>
        <p:spPr>
          <a:xfrm>
            <a:off x="5258707" y="6001520"/>
            <a:ext cx="820838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Corr2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90B47411-3309-457E-4530-E32BB1C33084}"/>
              </a:ext>
            </a:extLst>
          </p:cNvPr>
          <p:cNvSpPr txBox="1"/>
          <p:nvPr/>
        </p:nvSpPr>
        <p:spPr>
          <a:xfrm>
            <a:off x="6645392" y="6001520"/>
            <a:ext cx="859247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Corr2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NÂO</a:t>
            </a:r>
          </a:p>
        </p:txBody>
      </p:sp>
      <p:cxnSp>
        <p:nvCxnSpPr>
          <p:cNvPr id="123" name="Conector de Seta Reta 122">
            <a:extLst>
              <a:ext uri="{FF2B5EF4-FFF2-40B4-BE49-F238E27FC236}">
                <a16:creationId xmlns:a16="http://schemas.microsoft.com/office/drawing/2014/main" id="{1B67D497-E1EE-2831-E21B-9CD6F2C3D67D}"/>
              </a:ext>
            </a:extLst>
          </p:cNvPr>
          <p:cNvCxnSpPr>
            <a:cxnSpLocks/>
          </p:cNvCxnSpPr>
          <p:nvPr/>
        </p:nvCxnSpPr>
        <p:spPr>
          <a:xfrm flipH="1">
            <a:off x="5497280" y="4637944"/>
            <a:ext cx="555244" cy="20443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23">
            <a:extLst>
              <a:ext uri="{FF2B5EF4-FFF2-40B4-BE49-F238E27FC236}">
                <a16:creationId xmlns:a16="http://schemas.microsoft.com/office/drawing/2014/main" id="{15DC3947-9470-5631-61F3-D8206EFD5EA2}"/>
              </a:ext>
            </a:extLst>
          </p:cNvPr>
          <p:cNvCxnSpPr>
            <a:cxnSpLocks/>
          </p:cNvCxnSpPr>
          <p:nvPr/>
        </p:nvCxnSpPr>
        <p:spPr>
          <a:xfrm>
            <a:off x="6316802" y="4637944"/>
            <a:ext cx="552269" cy="20443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de Seta Reta 124">
            <a:extLst>
              <a:ext uri="{FF2B5EF4-FFF2-40B4-BE49-F238E27FC236}">
                <a16:creationId xmlns:a16="http://schemas.microsoft.com/office/drawing/2014/main" id="{794C0E71-CA6E-9A24-9E9C-4C78A1BDC7B8}"/>
              </a:ext>
            </a:extLst>
          </p:cNvPr>
          <p:cNvCxnSpPr>
            <a:cxnSpLocks/>
          </p:cNvCxnSpPr>
          <p:nvPr/>
        </p:nvCxnSpPr>
        <p:spPr>
          <a:xfrm>
            <a:off x="5506288" y="5460425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de Seta Reta 125">
            <a:extLst>
              <a:ext uri="{FF2B5EF4-FFF2-40B4-BE49-F238E27FC236}">
                <a16:creationId xmlns:a16="http://schemas.microsoft.com/office/drawing/2014/main" id="{9860E088-1601-4AC1-95A6-E6957BB28092}"/>
              </a:ext>
            </a:extLst>
          </p:cNvPr>
          <p:cNvCxnSpPr>
            <a:cxnSpLocks/>
          </p:cNvCxnSpPr>
          <p:nvPr/>
        </p:nvCxnSpPr>
        <p:spPr>
          <a:xfrm>
            <a:off x="6920336" y="5463420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de Seta Reta 126">
            <a:extLst>
              <a:ext uri="{FF2B5EF4-FFF2-40B4-BE49-F238E27FC236}">
                <a16:creationId xmlns:a16="http://schemas.microsoft.com/office/drawing/2014/main" id="{5BF14261-1DED-B488-9156-F35FDB9600E3}"/>
              </a:ext>
            </a:extLst>
          </p:cNvPr>
          <p:cNvCxnSpPr>
            <a:cxnSpLocks/>
          </p:cNvCxnSpPr>
          <p:nvPr/>
        </p:nvCxnSpPr>
        <p:spPr>
          <a:xfrm>
            <a:off x="5509278" y="5857854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de Seta Reta 127">
            <a:extLst>
              <a:ext uri="{FF2B5EF4-FFF2-40B4-BE49-F238E27FC236}">
                <a16:creationId xmlns:a16="http://schemas.microsoft.com/office/drawing/2014/main" id="{8D98558C-C02B-E2A9-9328-A0B9DDFB8B46}"/>
              </a:ext>
            </a:extLst>
          </p:cNvPr>
          <p:cNvCxnSpPr>
            <a:cxnSpLocks/>
          </p:cNvCxnSpPr>
          <p:nvPr/>
        </p:nvCxnSpPr>
        <p:spPr>
          <a:xfrm>
            <a:off x="6917352" y="5866821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de Seta Reta 128">
            <a:extLst>
              <a:ext uri="{FF2B5EF4-FFF2-40B4-BE49-F238E27FC236}">
                <a16:creationId xmlns:a16="http://schemas.microsoft.com/office/drawing/2014/main" id="{AAAA34F4-EE36-1C43-D3E7-56CEC8FB9D78}"/>
              </a:ext>
            </a:extLst>
          </p:cNvPr>
          <p:cNvCxnSpPr>
            <a:cxnSpLocks/>
          </p:cNvCxnSpPr>
          <p:nvPr/>
        </p:nvCxnSpPr>
        <p:spPr>
          <a:xfrm>
            <a:off x="5482123" y="5069876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de Seta Reta 129">
            <a:extLst>
              <a:ext uri="{FF2B5EF4-FFF2-40B4-BE49-F238E27FC236}">
                <a16:creationId xmlns:a16="http://schemas.microsoft.com/office/drawing/2014/main" id="{E9EA5581-F9DE-7865-4A97-92825E844DA4}"/>
              </a:ext>
            </a:extLst>
          </p:cNvPr>
          <p:cNvCxnSpPr>
            <a:cxnSpLocks/>
          </p:cNvCxnSpPr>
          <p:nvPr/>
        </p:nvCxnSpPr>
        <p:spPr>
          <a:xfrm>
            <a:off x="6923336" y="5060015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to 137">
            <a:extLst>
              <a:ext uri="{FF2B5EF4-FFF2-40B4-BE49-F238E27FC236}">
                <a16:creationId xmlns:a16="http://schemas.microsoft.com/office/drawing/2014/main" id="{D95EC0CD-D9B4-BBD2-0F57-E58B097B2A7C}"/>
              </a:ext>
            </a:extLst>
          </p:cNvPr>
          <p:cNvCxnSpPr/>
          <p:nvPr/>
        </p:nvCxnSpPr>
        <p:spPr>
          <a:xfrm flipV="1">
            <a:off x="4544704" y="2608446"/>
            <a:ext cx="0" cy="2340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de Seta Reta 139">
            <a:extLst>
              <a:ext uri="{FF2B5EF4-FFF2-40B4-BE49-F238E27FC236}">
                <a16:creationId xmlns:a16="http://schemas.microsoft.com/office/drawing/2014/main" id="{51EEB15B-5C10-2452-D0FC-D056DE267302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4542989" y="2608446"/>
            <a:ext cx="412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to 148">
            <a:extLst>
              <a:ext uri="{FF2B5EF4-FFF2-40B4-BE49-F238E27FC236}">
                <a16:creationId xmlns:a16="http://schemas.microsoft.com/office/drawing/2014/main" id="{E75090A4-B987-00C6-E427-8DCDDCE3A33B}"/>
              </a:ext>
            </a:extLst>
          </p:cNvPr>
          <p:cNvCxnSpPr/>
          <p:nvPr/>
        </p:nvCxnSpPr>
        <p:spPr>
          <a:xfrm>
            <a:off x="4219395" y="4941763"/>
            <a:ext cx="32359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CED1E205-EE59-E3BF-76BE-EF31A6AE8EFA}"/>
              </a:ext>
            </a:extLst>
          </p:cNvPr>
          <p:cNvSpPr txBox="1"/>
          <p:nvPr/>
        </p:nvSpPr>
        <p:spPr>
          <a:xfrm>
            <a:off x="7132857" y="1809920"/>
            <a:ext cx="21328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M</a:t>
            </a:r>
            <a:r>
              <a:rPr lang="pt-BR" sz="1600" b="1" baseline="-25000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 </a:t>
            </a:r>
            <a:r>
              <a:rPr lang="pt-BR" sz="1600" b="1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= M</a:t>
            </a:r>
            <a:r>
              <a:rPr lang="pt-BR" sz="1600" b="1" baseline="-25000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N-1</a:t>
            </a:r>
            <a:r>
              <a:rPr lang="pt-BR" sz="1600" b="1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 + Correção</a:t>
            </a:r>
            <a:r>
              <a:rPr lang="pt-BR" sz="1600" b="1" baseline="-25000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endParaRPr lang="pt-BR" sz="1600" b="1" baseline="-25000" dirty="0">
              <a:solidFill>
                <a:srgbClr val="2B621C"/>
              </a:solidFill>
            </a:endParaRPr>
          </a:p>
        </p:txBody>
      </p:sp>
      <p:cxnSp>
        <p:nvCxnSpPr>
          <p:cNvPr id="155" name="Conector reto 154">
            <a:extLst>
              <a:ext uri="{FF2B5EF4-FFF2-40B4-BE49-F238E27FC236}">
                <a16:creationId xmlns:a16="http://schemas.microsoft.com/office/drawing/2014/main" id="{61F72927-8F8A-CBEA-1CCB-9625FACE8D8F}"/>
              </a:ext>
            </a:extLst>
          </p:cNvPr>
          <p:cNvCxnSpPr/>
          <p:nvPr/>
        </p:nvCxnSpPr>
        <p:spPr>
          <a:xfrm flipH="1">
            <a:off x="7190481" y="2134826"/>
            <a:ext cx="121412" cy="209658"/>
          </a:xfrm>
          <a:prstGeom prst="line">
            <a:avLst/>
          </a:prstGeom>
          <a:ln>
            <a:solidFill>
              <a:srgbClr val="2B62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77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2" grpId="0" animBg="1"/>
      <p:bldP spid="5" grpId="0" animBg="1"/>
      <p:bldP spid="7" grpId="0" animBg="1"/>
      <p:bldP spid="16" grpId="0" animBg="1"/>
      <p:bldP spid="17" grpId="0"/>
      <p:bldP spid="19" grpId="0"/>
      <p:bldP spid="21" grpId="0"/>
      <p:bldP spid="25" grpId="0"/>
      <p:bldP spid="27" grpId="0"/>
      <p:bldP spid="29" grpId="0"/>
      <p:bldP spid="31" grpId="0"/>
      <p:bldP spid="33" grpId="0"/>
      <p:bldP spid="35" grpId="0" animBg="1"/>
      <p:bldP spid="37" grpId="0" animBg="1"/>
      <p:bldP spid="99" grpId="0"/>
      <p:bldP spid="100" grpId="0"/>
      <p:bldP spid="102" grpId="0" animBg="1"/>
      <p:bldP spid="105" grpId="0"/>
      <p:bldP spid="107" grpId="0"/>
      <p:bldP spid="114" grpId="0" animBg="1"/>
      <p:bldP spid="115" grpId="0"/>
      <p:bldP spid="116" grpId="0"/>
      <p:bldP spid="117" grpId="0"/>
      <p:bldP spid="119" grpId="0"/>
      <p:bldP spid="120" grpId="0"/>
      <p:bldP spid="121" grpId="0"/>
      <p:bldP spid="122" grpId="0"/>
      <p:bldP spid="153" grpId="0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A4A6-B698-B1DE-7264-C08DFFB4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1465A9C1-2F95-0773-BC9B-236439B0A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293" y="1044683"/>
            <a:ext cx="10272000" cy="518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 Boosting 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– resumo esquemático do algoritmo (</a:t>
            </a:r>
            <a:r>
              <a:rPr lang="pt-BR" sz="2600" i="1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classificação</a:t>
            </a:r>
            <a:r>
              <a:rPr lang="pt-BR" sz="2600" i="1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):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EB50F5D-985D-8E44-4A4D-5382EF704602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  <p:sp>
        <p:nvSpPr>
          <p:cNvPr id="2" name="Fluxograma: Documento 1">
            <a:extLst>
              <a:ext uri="{FF2B5EF4-FFF2-40B4-BE49-F238E27FC236}">
                <a16:creationId xmlns:a16="http://schemas.microsoft.com/office/drawing/2014/main" id="{4B1605E4-197A-6836-A145-5C503F5BE373}"/>
              </a:ext>
            </a:extLst>
          </p:cNvPr>
          <p:cNvSpPr/>
          <p:nvPr/>
        </p:nvSpPr>
        <p:spPr>
          <a:xfrm>
            <a:off x="1799103" y="1618054"/>
            <a:ext cx="2118811" cy="633091"/>
          </a:xfrm>
          <a:prstGeom prst="flowChartDocumen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Dados de treinamento</a:t>
            </a:r>
          </a:p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(Classes 1/0: Real</a:t>
            </a:r>
            <a:r>
              <a:rPr lang="pt-BR" sz="1500" b="1" baseline="-25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2ECF985C-7542-03C9-3FB0-34657E27824E}"/>
              </a:ext>
            </a:extLst>
          </p:cNvPr>
          <p:cNvCxnSpPr>
            <a:cxnSpLocks/>
          </p:cNvCxnSpPr>
          <p:nvPr/>
        </p:nvCxnSpPr>
        <p:spPr>
          <a:xfrm flipH="1">
            <a:off x="2842451" y="2209291"/>
            <a:ext cx="1" cy="188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25EF18E-E290-00F7-FC3A-3F8AE672A1CE}"/>
              </a:ext>
            </a:extLst>
          </p:cNvPr>
          <p:cNvSpPr/>
          <p:nvPr/>
        </p:nvSpPr>
        <p:spPr>
          <a:xfrm>
            <a:off x="1627281" y="2397789"/>
            <a:ext cx="2462454" cy="52353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1000"/>
              </a:spcBef>
            </a:pPr>
            <a:r>
              <a:rPr lang="pt-BR" sz="17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p(classe alvo)              F</a:t>
            </a:r>
            <a:r>
              <a:rPr lang="pt-BR" sz="17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9D79F56-DBAD-8EA0-889B-066C9AEB6F09}"/>
              </a:ext>
            </a:extLst>
          </p:cNvPr>
          <p:cNvSpPr/>
          <p:nvPr/>
        </p:nvSpPr>
        <p:spPr>
          <a:xfrm>
            <a:off x="892472" y="4014758"/>
            <a:ext cx="3932073" cy="2413333"/>
          </a:xfrm>
          <a:prstGeom prst="roundRect">
            <a:avLst>
              <a:gd name="adj" fmla="val 5030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Testo e defino a ÁRVORE 1</a:t>
            </a:r>
          </a:p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cond(Var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8F41CC-F5EE-64B7-1FAD-4D0872E7EEF8}"/>
              </a:ext>
            </a:extLst>
          </p:cNvPr>
          <p:cNvSpPr txBox="1"/>
          <p:nvPr/>
        </p:nvSpPr>
        <p:spPr>
          <a:xfrm>
            <a:off x="1730300" y="4729995"/>
            <a:ext cx="508253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6700657-E6D3-7362-0812-E216C3727BE3}"/>
              </a:ext>
            </a:extLst>
          </p:cNvPr>
          <p:cNvSpPr txBox="1"/>
          <p:nvPr/>
        </p:nvSpPr>
        <p:spPr>
          <a:xfrm>
            <a:off x="3583406" y="4741118"/>
            <a:ext cx="565127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ACB300-94A5-B402-5748-7C281F684BF4}"/>
              </a:ext>
            </a:extLst>
          </p:cNvPr>
          <p:cNvSpPr txBox="1"/>
          <p:nvPr/>
        </p:nvSpPr>
        <p:spPr>
          <a:xfrm>
            <a:off x="1052008" y="5151099"/>
            <a:ext cx="1939927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 GradientesSim1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ECEA59B-5762-D830-D8EC-DC8171A1A4A4}"/>
              </a:ext>
            </a:extLst>
          </p:cNvPr>
          <p:cNvSpPr txBox="1"/>
          <p:nvPr/>
        </p:nvSpPr>
        <p:spPr>
          <a:xfrm>
            <a:off x="1840955" y="5547640"/>
            <a:ext cx="322304" cy="34854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305DCA4-43FB-EA8E-AE2C-28681A2A7421}"/>
              </a:ext>
            </a:extLst>
          </p:cNvPr>
          <p:cNvSpPr txBox="1"/>
          <p:nvPr/>
        </p:nvSpPr>
        <p:spPr>
          <a:xfrm>
            <a:off x="3722243" y="5547640"/>
            <a:ext cx="322304" cy="34854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98BDD8F-8FC4-0A57-2FDF-C94D1473496C}"/>
              </a:ext>
            </a:extLst>
          </p:cNvPr>
          <p:cNvSpPr txBox="1"/>
          <p:nvPr/>
        </p:nvSpPr>
        <p:spPr>
          <a:xfrm>
            <a:off x="1478471" y="5974553"/>
            <a:ext cx="973765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Ajuste1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F9FA3C-CBD3-D395-D70C-F423EB65756D}"/>
              </a:ext>
            </a:extLst>
          </p:cNvPr>
          <p:cNvSpPr txBox="1"/>
          <p:nvPr/>
        </p:nvSpPr>
        <p:spPr>
          <a:xfrm>
            <a:off x="3499458" y="5974553"/>
            <a:ext cx="1012173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Ajuste1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NÂO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4D507A07-8863-5378-4BC9-E85484DACDEC}"/>
              </a:ext>
            </a:extLst>
          </p:cNvPr>
          <p:cNvCxnSpPr>
            <a:cxnSpLocks/>
          </p:cNvCxnSpPr>
          <p:nvPr/>
        </p:nvCxnSpPr>
        <p:spPr>
          <a:xfrm flipH="1">
            <a:off x="2118075" y="4594728"/>
            <a:ext cx="720663" cy="27193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E78B0FC3-DF03-5CF9-1993-F10162EC63DD}"/>
              </a:ext>
            </a:extLst>
          </p:cNvPr>
          <p:cNvCxnSpPr>
            <a:cxnSpLocks/>
          </p:cNvCxnSpPr>
          <p:nvPr/>
        </p:nvCxnSpPr>
        <p:spPr>
          <a:xfrm>
            <a:off x="2857352" y="4594728"/>
            <a:ext cx="664181" cy="27193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B50CA923-B302-E210-D763-AA937EC86C8C}"/>
              </a:ext>
            </a:extLst>
          </p:cNvPr>
          <p:cNvCxnSpPr>
            <a:cxnSpLocks/>
          </p:cNvCxnSpPr>
          <p:nvPr/>
        </p:nvCxnSpPr>
        <p:spPr>
          <a:xfrm>
            <a:off x="1888237" y="5460754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F1391243-3020-ED7A-CC64-CBDE7F20185B}"/>
              </a:ext>
            </a:extLst>
          </p:cNvPr>
          <p:cNvCxnSpPr>
            <a:cxnSpLocks/>
          </p:cNvCxnSpPr>
          <p:nvPr/>
        </p:nvCxnSpPr>
        <p:spPr>
          <a:xfrm>
            <a:off x="3774402" y="5463749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26D1DF6E-0DCC-FFB4-9F40-E9495E7147B6}"/>
              </a:ext>
            </a:extLst>
          </p:cNvPr>
          <p:cNvCxnSpPr>
            <a:cxnSpLocks/>
          </p:cNvCxnSpPr>
          <p:nvPr/>
        </p:nvCxnSpPr>
        <p:spPr>
          <a:xfrm>
            <a:off x="1888237" y="5858183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10C24198-BB1E-DE2F-0826-2227F4E55A8B}"/>
              </a:ext>
            </a:extLst>
          </p:cNvPr>
          <p:cNvCxnSpPr>
            <a:cxnSpLocks/>
          </p:cNvCxnSpPr>
          <p:nvPr/>
        </p:nvCxnSpPr>
        <p:spPr>
          <a:xfrm>
            <a:off x="3771418" y="5867150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EE09A0E8-5413-E67F-6844-C19DC0AB04E9}"/>
              </a:ext>
            </a:extLst>
          </p:cNvPr>
          <p:cNvCxnSpPr>
            <a:cxnSpLocks/>
          </p:cNvCxnSpPr>
          <p:nvPr/>
        </p:nvCxnSpPr>
        <p:spPr>
          <a:xfrm>
            <a:off x="1888237" y="5031225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6F736513-056D-30E4-8F80-583D757D0626}"/>
              </a:ext>
            </a:extLst>
          </p:cNvPr>
          <p:cNvCxnSpPr>
            <a:cxnSpLocks/>
          </p:cNvCxnSpPr>
          <p:nvPr/>
        </p:nvCxnSpPr>
        <p:spPr>
          <a:xfrm>
            <a:off x="3751276" y="5034217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08028AB-49DC-EB36-0253-EC79257B4079}"/>
              </a:ext>
            </a:extLst>
          </p:cNvPr>
          <p:cNvSpPr txBox="1"/>
          <p:nvPr/>
        </p:nvSpPr>
        <p:spPr>
          <a:xfrm flipH="1">
            <a:off x="9536782" y="3026877"/>
            <a:ext cx="2308167" cy="1483987"/>
          </a:xfrm>
          <a:prstGeom prst="rect">
            <a:avLst/>
          </a:prstGeom>
          <a:noFill/>
          <a:ln>
            <a:noFill/>
          </a:ln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Predição de classe de indivíduo novo: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 -&gt; sigmoide 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p(classe positiva)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58765C78-D266-D5BF-05EC-629312672622}"/>
              </a:ext>
            </a:extLst>
          </p:cNvPr>
          <p:cNvSpPr txBox="1"/>
          <p:nvPr/>
        </p:nvSpPr>
        <p:spPr>
          <a:xfrm flipH="1">
            <a:off x="9212908" y="4672953"/>
            <a:ext cx="2817668" cy="1327149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Verificamos em cada árvore o ramo aplicável ao indivíduo novo e vamos acumulando os ajustes correspondentes.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A18CF04-586E-3927-78D9-884065916E8E}"/>
              </a:ext>
            </a:extLst>
          </p:cNvPr>
          <p:cNvSpPr txBox="1"/>
          <p:nvPr/>
        </p:nvSpPr>
        <p:spPr>
          <a:xfrm flipH="1">
            <a:off x="9296094" y="1991564"/>
            <a:ext cx="778619" cy="587588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571CB9E-8707-D49F-2651-9D2B7E4BD870}"/>
              </a:ext>
            </a:extLst>
          </p:cNvPr>
          <p:cNvSpPr txBox="1"/>
          <p:nvPr/>
        </p:nvSpPr>
        <p:spPr>
          <a:xfrm flipH="1">
            <a:off x="9305108" y="2412384"/>
            <a:ext cx="778619" cy="44049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</a:p>
        </p:txBody>
      </p: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BB0FEE08-90C6-C1EE-EC3F-6176148FBA69}"/>
              </a:ext>
            </a:extLst>
          </p:cNvPr>
          <p:cNvCxnSpPr/>
          <p:nvPr/>
        </p:nvCxnSpPr>
        <p:spPr>
          <a:xfrm>
            <a:off x="3026452" y="2676686"/>
            <a:ext cx="545089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3BA5C384-F726-BE33-F977-1016496292E8}"/>
              </a:ext>
            </a:extLst>
          </p:cNvPr>
          <p:cNvSpPr txBox="1"/>
          <p:nvPr/>
        </p:nvSpPr>
        <p:spPr>
          <a:xfrm>
            <a:off x="3131070" y="2361066"/>
            <a:ext cx="551534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logit</a:t>
            </a: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F0731B86-2F39-8A70-37EE-E3B43731CAC3}"/>
              </a:ext>
            </a:extLst>
          </p:cNvPr>
          <p:cNvSpPr/>
          <p:nvPr/>
        </p:nvSpPr>
        <p:spPr>
          <a:xfrm>
            <a:off x="1265051" y="3122966"/>
            <a:ext cx="3186915" cy="667475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Gradiente1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Real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p(classe alvo)</a:t>
            </a:r>
            <a:endParaRPr lang="pt-BR" sz="1600" b="1" baseline="-25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F6F58AC7-AD25-7F91-05E7-D5D63BB03429}"/>
              </a:ext>
            </a:extLst>
          </p:cNvPr>
          <p:cNvSpPr txBox="1"/>
          <p:nvPr/>
        </p:nvSpPr>
        <p:spPr>
          <a:xfrm>
            <a:off x="2919993" y="5151099"/>
            <a:ext cx="1967178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 GradientesNão1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18C53B6A-029C-A1C4-4C1D-52391DE0D55F}"/>
              </a:ext>
            </a:extLst>
          </p:cNvPr>
          <p:cNvCxnSpPr>
            <a:cxnSpLocks/>
            <a:stCxn id="5" idx="2"/>
            <a:endCxn id="76" idx="0"/>
          </p:cNvCxnSpPr>
          <p:nvPr/>
        </p:nvCxnSpPr>
        <p:spPr>
          <a:xfrm>
            <a:off x="2858508" y="2921319"/>
            <a:ext cx="1" cy="201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DF08737E-EC4D-B926-AE30-7506FE887047}"/>
              </a:ext>
            </a:extLst>
          </p:cNvPr>
          <p:cNvCxnSpPr>
            <a:cxnSpLocks/>
            <a:stCxn id="76" idx="2"/>
            <a:endCxn id="8" idx="0"/>
          </p:cNvCxnSpPr>
          <p:nvPr/>
        </p:nvCxnSpPr>
        <p:spPr>
          <a:xfrm>
            <a:off x="2858509" y="3790441"/>
            <a:ext cx="0" cy="224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075D4E71-8726-5B73-D70F-083E71459BCB}"/>
              </a:ext>
            </a:extLst>
          </p:cNvPr>
          <p:cNvSpPr/>
          <p:nvPr/>
        </p:nvSpPr>
        <p:spPr>
          <a:xfrm>
            <a:off x="5710243" y="1853861"/>
            <a:ext cx="2462454" cy="1069730"/>
          </a:xfrm>
          <a:prstGeom prst="roundRect">
            <a:avLst>
              <a:gd name="adj" fmla="val 8577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1000"/>
              </a:spcBef>
            </a:pPr>
            <a:r>
              <a:rPr lang="pt-BR" sz="17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F1</a:t>
            </a:r>
            <a:r>
              <a:rPr lang="pt-BR" sz="17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7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F</a:t>
            </a:r>
            <a:r>
              <a:rPr lang="pt-BR" sz="17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pt-BR" sz="17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Ajuste1</a:t>
            </a:r>
            <a:r>
              <a:rPr lang="pt-BR" sz="17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i(SIM/NÃO)</a:t>
            </a:r>
          </a:p>
          <a:p>
            <a:pPr>
              <a:spcBef>
                <a:spcPts val="1000"/>
              </a:spcBef>
            </a:pPr>
            <a:endParaRPr lang="pt-BR" sz="1700" b="1" baseline="-25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00"/>
              </a:spcBef>
            </a:pPr>
            <a:endParaRPr lang="pt-BR" sz="1700" b="1" baseline="-25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AB363AFA-B46C-D5F0-D3B4-A5AA0C392E19}"/>
              </a:ext>
            </a:extLst>
          </p:cNvPr>
          <p:cNvSpPr txBox="1"/>
          <p:nvPr/>
        </p:nvSpPr>
        <p:spPr>
          <a:xfrm>
            <a:off x="7032545" y="2185129"/>
            <a:ext cx="892974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sigmoide</a:t>
            </a:r>
          </a:p>
        </p:txBody>
      </p:sp>
      <p:cxnSp>
        <p:nvCxnSpPr>
          <p:cNvPr id="98" name="Conector de Seta Reta 97">
            <a:extLst>
              <a:ext uri="{FF2B5EF4-FFF2-40B4-BE49-F238E27FC236}">
                <a16:creationId xmlns:a16="http://schemas.microsoft.com/office/drawing/2014/main" id="{5EB88F40-B88B-B8AE-6242-89D5A6B37BFB}"/>
              </a:ext>
            </a:extLst>
          </p:cNvPr>
          <p:cNvCxnSpPr>
            <a:cxnSpLocks/>
          </p:cNvCxnSpPr>
          <p:nvPr/>
        </p:nvCxnSpPr>
        <p:spPr>
          <a:xfrm>
            <a:off x="6955118" y="2222939"/>
            <a:ext cx="0" cy="31684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DF3D364C-9496-571C-2787-178A3D3B7169}"/>
              </a:ext>
            </a:extLst>
          </p:cNvPr>
          <p:cNvSpPr txBox="1"/>
          <p:nvPr/>
        </p:nvSpPr>
        <p:spPr>
          <a:xfrm flipH="1">
            <a:off x="6805475" y="2421126"/>
            <a:ext cx="580341" cy="403691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pt-BR" sz="1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pt-BR" sz="18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268A7B83-12ED-7C63-6E4C-CE3F12450A65}"/>
              </a:ext>
            </a:extLst>
          </p:cNvPr>
          <p:cNvSpPr/>
          <p:nvPr/>
        </p:nvSpPr>
        <p:spPr>
          <a:xfrm>
            <a:off x="5710243" y="3125238"/>
            <a:ext cx="2462451" cy="667475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1000"/>
              </a:spcBef>
            </a:pP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Gradiente2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Real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pt-BR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</a:t>
            </a:r>
            <a:r>
              <a:rPr lang="pt-BR" sz="16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A4C43B3C-5C07-E315-7AC8-AE47C07E13B1}"/>
              </a:ext>
            </a:extLst>
          </p:cNvPr>
          <p:cNvSpPr/>
          <p:nvPr/>
        </p:nvSpPr>
        <p:spPr>
          <a:xfrm>
            <a:off x="5030028" y="4017030"/>
            <a:ext cx="3932073" cy="2413333"/>
          </a:xfrm>
          <a:prstGeom prst="roundRect">
            <a:avLst>
              <a:gd name="adj" fmla="val 5030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Testo e defino a ÁRVORE 2</a:t>
            </a:r>
          </a:p>
          <a:p>
            <a:pPr algn="ctr">
              <a:spcBef>
                <a:spcPts val="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cond(Var</a:t>
            </a:r>
            <a:r>
              <a:rPr lang="pt-BR" sz="15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0"/>
              </a:spcBef>
            </a:pPr>
            <a:endParaRPr lang="pt-BR" sz="15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C967DF2F-FB17-1099-940B-9883CABDB9E7}"/>
              </a:ext>
            </a:extLst>
          </p:cNvPr>
          <p:cNvSpPr txBox="1"/>
          <p:nvPr/>
        </p:nvSpPr>
        <p:spPr>
          <a:xfrm>
            <a:off x="5867856" y="4745915"/>
            <a:ext cx="508253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4DE5E5BE-558A-C827-53FC-9221C7428F2C}"/>
              </a:ext>
            </a:extLst>
          </p:cNvPr>
          <p:cNvSpPr txBox="1"/>
          <p:nvPr/>
        </p:nvSpPr>
        <p:spPr>
          <a:xfrm>
            <a:off x="7720962" y="4757038"/>
            <a:ext cx="565127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7ABA4821-D24B-1B0D-0F0D-BC7B1297E08D}"/>
              </a:ext>
            </a:extLst>
          </p:cNvPr>
          <p:cNvSpPr txBox="1"/>
          <p:nvPr/>
        </p:nvSpPr>
        <p:spPr>
          <a:xfrm>
            <a:off x="5189564" y="5167019"/>
            <a:ext cx="1939927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 GradientesSim2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688D9B39-6FF9-820A-3251-C28653C3EED1}"/>
              </a:ext>
            </a:extLst>
          </p:cNvPr>
          <p:cNvSpPr txBox="1"/>
          <p:nvPr/>
        </p:nvSpPr>
        <p:spPr>
          <a:xfrm>
            <a:off x="5978511" y="5563560"/>
            <a:ext cx="322304" cy="34854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B5A547B4-353A-BD9A-2985-CF596AF4594A}"/>
              </a:ext>
            </a:extLst>
          </p:cNvPr>
          <p:cNvSpPr txBox="1"/>
          <p:nvPr/>
        </p:nvSpPr>
        <p:spPr>
          <a:xfrm>
            <a:off x="7859799" y="5563560"/>
            <a:ext cx="322304" cy="348548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1000"/>
              </a:spcBef>
            </a:pPr>
            <a:r>
              <a:rPr lang="pt-BR" sz="15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344873DB-16F5-DC12-2C8B-9FF58410B9FA}"/>
              </a:ext>
            </a:extLst>
          </p:cNvPr>
          <p:cNvSpPr txBox="1"/>
          <p:nvPr/>
        </p:nvSpPr>
        <p:spPr>
          <a:xfrm>
            <a:off x="5616027" y="5990473"/>
            <a:ext cx="973765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Ajuste2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15BBD13B-D6CC-DE9C-987F-199A35AC589C}"/>
              </a:ext>
            </a:extLst>
          </p:cNvPr>
          <p:cNvSpPr txBox="1"/>
          <p:nvPr/>
        </p:nvSpPr>
        <p:spPr>
          <a:xfrm>
            <a:off x="7637014" y="5990473"/>
            <a:ext cx="1012173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Ajuste2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NÂO</a:t>
            </a:r>
          </a:p>
        </p:txBody>
      </p:sp>
      <p:cxnSp>
        <p:nvCxnSpPr>
          <p:cNvPr id="112" name="Conector de Seta Reta 111">
            <a:extLst>
              <a:ext uri="{FF2B5EF4-FFF2-40B4-BE49-F238E27FC236}">
                <a16:creationId xmlns:a16="http://schemas.microsoft.com/office/drawing/2014/main" id="{6082306A-F175-A240-13C4-8069015D4C96}"/>
              </a:ext>
            </a:extLst>
          </p:cNvPr>
          <p:cNvCxnSpPr>
            <a:cxnSpLocks/>
          </p:cNvCxnSpPr>
          <p:nvPr/>
        </p:nvCxnSpPr>
        <p:spPr>
          <a:xfrm flipH="1">
            <a:off x="6255631" y="4610648"/>
            <a:ext cx="720663" cy="27193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de Seta Reta 112">
            <a:extLst>
              <a:ext uri="{FF2B5EF4-FFF2-40B4-BE49-F238E27FC236}">
                <a16:creationId xmlns:a16="http://schemas.microsoft.com/office/drawing/2014/main" id="{50E1CE31-D113-6E95-C137-7C38BE7983A6}"/>
              </a:ext>
            </a:extLst>
          </p:cNvPr>
          <p:cNvCxnSpPr>
            <a:cxnSpLocks/>
          </p:cNvCxnSpPr>
          <p:nvPr/>
        </p:nvCxnSpPr>
        <p:spPr>
          <a:xfrm>
            <a:off x="6994908" y="4610648"/>
            <a:ext cx="664181" cy="27193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06D67EB2-9C04-F851-3208-A9BE227AD63A}"/>
              </a:ext>
            </a:extLst>
          </p:cNvPr>
          <p:cNvCxnSpPr>
            <a:cxnSpLocks/>
          </p:cNvCxnSpPr>
          <p:nvPr/>
        </p:nvCxnSpPr>
        <p:spPr>
          <a:xfrm>
            <a:off x="6025793" y="5476674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>
            <a:extLst>
              <a:ext uri="{FF2B5EF4-FFF2-40B4-BE49-F238E27FC236}">
                <a16:creationId xmlns:a16="http://schemas.microsoft.com/office/drawing/2014/main" id="{A0ABFEB8-9548-B731-6FF7-85856D07CD09}"/>
              </a:ext>
            </a:extLst>
          </p:cNvPr>
          <p:cNvCxnSpPr>
            <a:cxnSpLocks/>
          </p:cNvCxnSpPr>
          <p:nvPr/>
        </p:nvCxnSpPr>
        <p:spPr>
          <a:xfrm>
            <a:off x="7911958" y="5479669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de Seta Reta 115">
            <a:extLst>
              <a:ext uri="{FF2B5EF4-FFF2-40B4-BE49-F238E27FC236}">
                <a16:creationId xmlns:a16="http://schemas.microsoft.com/office/drawing/2014/main" id="{4998A065-9E05-B9CB-EDD6-30D564CEE580}"/>
              </a:ext>
            </a:extLst>
          </p:cNvPr>
          <p:cNvCxnSpPr>
            <a:cxnSpLocks/>
          </p:cNvCxnSpPr>
          <p:nvPr/>
        </p:nvCxnSpPr>
        <p:spPr>
          <a:xfrm>
            <a:off x="6025793" y="5874103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de Seta Reta 116">
            <a:extLst>
              <a:ext uri="{FF2B5EF4-FFF2-40B4-BE49-F238E27FC236}">
                <a16:creationId xmlns:a16="http://schemas.microsoft.com/office/drawing/2014/main" id="{1A10A289-3EB0-CDA4-ADB0-8A8D03D247CE}"/>
              </a:ext>
            </a:extLst>
          </p:cNvPr>
          <p:cNvCxnSpPr>
            <a:cxnSpLocks/>
          </p:cNvCxnSpPr>
          <p:nvPr/>
        </p:nvCxnSpPr>
        <p:spPr>
          <a:xfrm>
            <a:off x="7908974" y="5883070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de Seta Reta 117">
            <a:extLst>
              <a:ext uri="{FF2B5EF4-FFF2-40B4-BE49-F238E27FC236}">
                <a16:creationId xmlns:a16="http://schemas.microsoft.com/office/drawing/2014/main" id="{DBD1F49C-2CEF-5DE5-2B19-68C92262CE9F}"/>
              </a:ext>
            </a:extLst>
          </p:cNvPr>
          <p:cNvCxnSpPr>
            <a:cxnSpLocks/>
          </p:cNvCxnSpPr>
          <p:nvPr/>
        </p:nvCxnSpPr>
        <p:spPr>
          <a:xfrm>
            <a:off x="6025793" y="5047145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de Seta Reta 118">
            <a:extLst>
              <a:ext uri="{FF2B5EF4-FFF2-40B4-BE49-F238E27FC236}">
                <a16:creationId xmlns:a16="http://schemas.microsoft.com/office/drawing/2014/main" id="{E53A1F09-4493-3271-0ABE-41227B2A6480}"/>
              </a:ext>
            </a:extLst>
          </p:cNvPr>
          <p:cNvCxnSpPr>
            <a:cxnSpLocks/>
          </p:cNvCxnSpPr>
          <p:nvPr/>
        </p:nvCxnSpPr>
        <p:spPr>
          <a:xfrm>
            <a:off x="7888832" y="5050137"/>
            <a:ext cx="1307" cy="22759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4282B148-D26B-847A-D163-CF6CDD333623}"/>
              </a:ext>
            </a:extLst>
          </p:cNvPr>
          <p:cNvSpPr txBox="1"/>
          <p:nvPr/>
        </p:nvSpPr>
        <p:spPr>
          <a:xfrm>
            <a:off x="7057549" y="5167019"/>
            <a:ext cx="1967178" cy="330146"/>
          </a:xfrm>
          <a:prstGeom prst="rect">
            <a:avLst/>
          </a:prstGeom>
          <a:noFill/>
        </p:spPr>
        <p:txBody>
          <a:bodyPr wrap="non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pt-BR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 GradientesNão2</a:t>
            </a:r>
            <a:r>
              <a:rPr lang="pt-BR" sz="1400" b="1" baseline="-25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cxnSp>
        <p:nvCxnSpPr>
          <p:cNvPr id="121" name="Conector de Seta Reta 120">
            <a:extLst>
              <a:ext uri="{FF2B5EF4-FFF2-40B4-BE49-F238E27FC236}">
                <a16:creationId xmlns:a16="http://schemas.microsoft.com/office/drawing/2014/main" id="{3D29E198-E5A7-4A67-E1BD-6C5D11C0A6C9}"/>
              </a:ext>
            </a:extLst>
          </p:cNvPr>
          <p:cNvCxnSpPr>
            <a:cxnSpLocks/>
          </p:cNvCxnSpPr>
          <p:nvPr/>
        </p:nvCxnSpPr>
        <p:spPr>
          <a:xfrm>
            <a:off x="6955122" y="2909943"/>
            <a:ext cx="1" cy="201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de Seta Reta 121">
            <a:extLst>
              <a:ext uri="{FF2B5EF4-FFF2-40B4-BE49-F238E27FC236}">
                <a16:creationId xmlns:a16="http://schemas.microsoft.com/office/drawing/2014/main" id="{264163A6-AFF4-3304-65A0-1F7063E9B4F4}"/>
              </a:ext>
            </a:extLst>
          </p:cNvPr>
          <p:cNvCxnSpPr>
            <a:cxnSpLocks/>
          </p:cNvCxnSpPr>
          <p:nvPr/>
        </p:nvCxnSpPr>
        <p:spPr>
          <a:xfrm>
            <a:off x="6984690" y="3799327"/>
            <a:ext cx="1" cy="201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>
            <a:extLst>
              <a:ext uri="{FF2B5EF4-FFF2-40B4-BE49-F238E27FC236}">
                <a16:creationId xmlns:a16="http://schemas.microsoft.com/office/drawing/2014/main" id="{9C19E29F-BBBA-9F39-4CB6-CD33E59D0DD0}"/>
              </a:ext>
            </a:extLst>
          </p:cNvPr>
          <p:cNvCxnSpPr>
            <a:cxnSpLocks/>
          </p:cNvCxnSpPr>
          <p:nvPr/>
        </p:nvCxnSpPr>
        <p:spPr>
          <a:xfrm flipV="1">
            <a:off x="4940491" y="2417946"/>
            <a:ext cx="0" cy="25314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23">
            <a:extLst>
              <a:ext uri="{FF2B5EF4-FFF2-40B4-BE49-F238E27FC236}">
                <a16:creationId xmlns:a16="http://schemas.microsoft.com/office/drawing/2014/main" id="{07D4EEE5-1BEC-991B-C8C8-6A3695C810A0}"/>
              </a:ext>
            </a:extLst>
          </p:cNvPr>
          <p:cNvCxnSpPr>
            <a:cxnSpLocks/>
          </p:cNvCxnSpPr>
          <p:nvPr/>
        </p:nvCxnSpPr>
        <p:spPr>
          <a:xfrm>
            <a:off x="4939348" y="2417946"/>
            <a:ext cx="7804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>
            <a:extLst>
              <a:ext uri="{FF2B5EF4-FFF2-40B4-BE49-F238E27FC236}">
                <a16:creationId xmlns:a16="http://schemas.microsoft.com/office/drawing/2014/main" id="{804FB0CA-CA6C-7A16-B991-15AE6B46F62D}"/>
              </a:ext>
            </a:extLst>
          </p:cNvPr>
          <p:cNvCxnSpPr>
            <a:cxnSpLocks/>
          </p:cNvCxnSpPr>
          <p:nvPr/>
        </p:nvCxnSpPr>
        <p:spPr>
          <a:xfrm>
            <a:off x="4824545" y="4949407"/>
            <a:ext cx="115946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to 132">
            <a:extLst>
              <a:ext uri="{FF2B5EF4-FFF2-40B4-BE49-F238E27FC236}">
                <a16:creationId xmlns:a16="http://schemas.microsoft.com/office/drawing/2014/main" id="{AC352FE9-FF4E-7D7E-BDC9-FE3B045C52EF}"/>
              </a:ext>
            </a:extLst>
          </p:cNvPr>
          <p:cNvCxnSpPr>
            <a:cxnSpLocks/>
          </p:cNvCxnSpPr>
          <p:nvPr/>
        </p:nvCxnSpPr>
        <p:spPr>
          <a:xfrm flipV="1">
            <a:off x="9078047" y="2420218"/>
            <a:ext cx="0" cy="25314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de Seta Reta 133">
            <a:extLst>
              <a:ext uri="{FF2B5EF4-FFF2-40B4-BE49-F238E27FC236}">
                <a16:creationId xmlns:a16="http://schemas.microsoft.com/office/drawing/2014/main" id="{027B5E3B-0986-00F4-C750-5AF31C0609F2}"/>
              </a:ext>
            </a:extLst>
          </p:cNvPr>
          <p:cNvCxnSpPr>
            <a:cxnSpLocks/>
          </p:cNvCxnSpPr>
          <p:nvPr/>
        </p:nvCxnSpPr>
        <p:spPr>
          <a:xfrm>
            <a:off x="9076904" y="2420218"/>
            <a:ext cx="2718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reto 134">
            <a:extLst>
              <a:ext uri="{FF2B5EF4-FFF2-40B4-BE49-F238E27FC236}">
                <a16:creationId xmlns:a16="http://schemas.microsoft.com/office/drawing/2014/main" id="{E05A9061-C8ED-0F80-E6F6-E43DB4C8796C}"/>
              </a:ext>
            </a:extLst>
          </p:cNvPr>
          <p:cNvCxnSpPr>
            <a:cxnSpLocks/>
          </p:cNvCxnSpPr>
          <p:nvPr/>
        </p:nvCxnSpPr>
        <p:spPr>
          <a:xfrm>
            <a:off x="8962101" y="4951679"/>
            <a:ext cx="115946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A747BFAA-F90B-97A4-1E12-3B949B44FBC0}"/>
              </a:ext>
            </a:extLst>
          </p:cNvPr>
          <p:cNvSpPr txBox="1"/>
          <p:nvPr/>
        </p:nvSpPr>
        <p:spPr>
          <a:xfrm>
            <a:off x="8219021" y="1647416"/>
            <a:ext cx="19875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F</a:t>
            </a:r>
            <a:r>
              <a:rPr lang="pt-BR" sz="1600" b="1" baseline="-25000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 </a:t>
            </a:r>
            <a:r>
              <a:rPr lang="pt-BR" sz="1600" b="1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= F</a:t>
            </a:r>
            <a:r>
              <a:rPr lang="pt-BR" sz="1600" b="1" baseline="-25000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N-1</a:t>
            </a:r>
            <a:r>
              <a:rPr lang="pt-BR" sz="1600" b="1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​ + Ajuste</a:t>
            </a:r>
            <a:r>
              <a:rPr lang="pt-BR" sz="1600" b="1" baseline="-25000" dirty="0">
                <a:solidFill>
                  <a:srgbClr val="2B621C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</a:t>
            </a:r>
            <a:endParaRPr lang="pt-BR" sz="1600" b="1" baseline="-25000" dirty="0">
              <a:solidFill>
                <a:srgbClr val="2B621C"/>
              </a:solidFill>
            </a:endParaRPr>
          </a:p>
        </p:txBody>
      </p:sp>
      <p:cxnSp>
        <p:nvCxnSpPr>
          <p:cNvPr id="140" name="Conector reto 139">
            <a:extLst>
              <a:ext uri="{FF2B5EF4-FFF2-40B4-BE49-F238E27FC236}">
                <a16:creationId xmlns:a16="http://schemas.microsoft.com/office/drawing/2014/main" id="{5535E981-993C-6D2B-38DA-E3A9FA3BA83D}"/>
              </a:ext>
            </a:extLst>
          </p:cNvPr>
          <p:cNvCxnSpPr/>
          <p:nvPr/>
        </p:nvCxnSpPr>
        <p:spPr>
          <a:xfrm flipH="1">
            <a:off x="8172694" y="1853861"/>
            <a:ext cx="234327" cy="132109"/>
          </a:xfrm>
          <a:prstGeom prst="line">
            <a:avLst/>
          </a:prstGeom>
          <a:ln>
            <a:solidFill>
              <a:srgbClr val="1F4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tângulo: Cantos Arredondados 141">
            <a:extLst>
              <a:ext uri="{FF2B5EF4-FFF2-40B4-BE49-F238E27FC236}">
                <a16:creationId xmlns:a16="http://schemas.microsoft.com/office/drawing/2014/main" id="{5478071E-D1C1-D77C-3CC9-64487FE63205}"/>
              </a:ext>
            </a:extLst>
          </p:cNvPr>
          <p:cNvSpPr/>
          <p:nvPr/>
        </p:nvSpPr>
        <p:spPr>
          <a:xfrm>
            <a:off x="9458893" y="2890399"/>
            <a:ext cx="2270447" cy="1704330"/>
          </a:xfrm>
          <a:prstGeom prst="roundRect">
            <a:avLst>
              <a:gd name="adj" fmla="val 390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30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10" grpId="0"/>
      <p:bldP spid="11" grpId="0"/>
      <p:bldP spid="12" grpId="0"/>
      <p:bldP spid="14" grpId="0"/>
      <p:bldP spid="15" grpId="0"/>
      <p:bldP spid="16" grpId="0"/>
      <p:bldP spid="17" grpId="0"/>
      <p:bldP spid="49" grpId="0"/>
      <p:bldP spid="50" grpId="0"/>
      <p:bldP spid="54" grpId="0"/>
      <p:bldP spid="55" grpId="0"/>
      <p:bldP spid="74" grpId="0"/>
      <p:bldP spid="76" grpId="0" animBg="1"/>
      <p:bldP spid="92" grpId="0" animBg="1"/>
      <p:bldP spid="96" grpId="0"/>
      <p:bldP spid="101" grpId="0"/>
      <p:bldP spid="103" grpId="0" animBg="1"/>
      <p:bldP spid="104" grpId="0" animBg="1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20" grpId="0"/>
      <p:bldP spid="138" grpId="0"/>
      <p:bldP spid="142" grpId="0" animBg="1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4F6C-0547-294E-E2F0-F3A2C8E2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D2B3739E-1EB5-D82A-7B0D-879007247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796" y="1192163"/>
            <a:ext cx="102720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3366"/>
              </a:buClr>
              <a:buSzPct val="80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SzPct val="60000"/>
              <a:buBlip>
                <a:blip r:embed="rId3"/>
              </a:buBlip>
              <a:defRPr sz="2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4"/>
              </a:buBlip>
              <a:defRPr sz="2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SzPct val="50000"/>
              <a:buBlip>
                <a:blip r:embed="rId3"/>
              </a:buBlip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Na prática, existem implementações mais avançadas de Gradient Boosting, como XGBoost, LightGBM e CatBoost. 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6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Elas são muito utilizadas em problemas de dados tabulares e incorporam otimizações, regularização e melhorias de desempenho.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Usando Random Forest e </a:t>
            </a:r>
            <a:r>
              <a:rPr lang="pt-BR" sz="2500" dirty="0" err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pt-BR" sz="2500" dirty="0" err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Boosting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, é válido fazer um </a:t>
            </a:r>
            <a:r>
              <a:rPr lang="pt-BR" sz="2500" dirty="0">
                <a:solidFill>
                  <a:srgbClr val="0070C0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ensemble dos dois modelos</a:t>
            </a: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.</a:t>
            </a:r>
          </a:p>
          <a:p>
            <a:pPr marL="270000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5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Por exemplo:</a:t>
            </a:r>
          </a:p>
          <a:p>
            <a:pPr marL="670050" lvl="1" indent="-27000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Predição final = 50% Random Forest + 50% </a:t>
            </a:r>
            <a:r>
              <a:rPr lang="pt-BR" sz="2300" dirty="0" err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Gradient</a:t>
            </a: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 </a:t>
            </a:r>
            <a:r>
              <a:rPr lang="pt-BR" sz="2300" dirty="0" err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Boosting</a:t>
            </a:r>
            <a:endParaRPr lang="pt-BR" sz="2300" dirty="0">
              <a:latin typeface="Calibri" panose="020F0502020204030204" pitchFamily="34" charset="0"/>
              <a:ea typeface="Open Sans Semibold" panose="020B0706030804020204" pitchFamily="34" charset="0"/>
              <a:cs typeface="Calibri" panose="020F0502020204030204" pitchFamily="34" charset="0"/>
            </a:endParaRPr>
          </a:p>
          <a:p>
            <a:pPr marL="633413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e, sobre várias rodadas, pegar as com predição de percentis mais</a:t>
            </a:r>
          </a:p>
          <a:p>
            <a:pPr marL="633413" lvl="1" indent="0" defTabSz="685739" eaLnBrk="1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3A79"/>
              </a:buClr>
              <a:buSzPct val="100000"/>
              <a:buNone/>
            </a:pPr>
            <a:r>
              <a:rPr lang="pt-BR" sz="2300" dirty="0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rPr>
              <a:t>conservadores (mais pessimistas).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C162823-E64F-27B3-69DF-2F9EB58E37CA}"/>
              </a:ext>
            </a:extLst>
          </p:cNvPr>
          <p:cNvSpPr>
            <a:spLocks noGrp="1" noChangeArrowheads="1"/>
          </p:cNvSpPr>
          <p:nvPr/>
        </p:nvSpPr>
        <p:spPr>
          <a:xfrm>
            <a:off x="960000" y="484797"/>
            <a:ext cx="10272000" cy="667475"/>
          </a:xfrm>
          <a:prstGeom prst="rect">
            <a:avLst/>
          </a:prstGeom>
        </p:spPr>
        <p:txBody>
          <a:bodyPr tIns="360000" anchor="b" anchorCtr="0"/>
          <a:lstStyle>
            <a:lvl1pPr algn="l" defTabSz="685739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i="0" kern="1200" spc="-75" baseline="0">
                <a:solidFill>
                  <a:schemeClr val="accent2"/>
                </a:solidFill>
                <a:latin typeface="Calibri" panose="020F0502020204030204" pitchFamily="34" charset="0"/>
                <a:ea typeface="Arial Black" panose="020B0604020202020204" pitchFamily="34" charset="0"/>
                <a:cs typeface="Calibri" panose="020F0502020204030204" pitchFamily="34" charset="0"/>
              </a:defRPr>
            </a:lvl1pPr>
          </a:lstStyle>
          <a:p>
            <a:pPr eaLnBrk="1" hangingPunct="1"/>
            <a:r>
              <a:rPr lang="pt-BR" altLang="pt-BR" sz="4000" dirty="0"/>
              <a:t>Boosting</a:t>
            </a:r>
            <a:endParaRPr lang="pt-BR" alt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153600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A695D6-918B-DA6B-46F1-F5AE6D97B1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Como citar este material: </a:t>
            </a:r>
          </a:p>
          <a:p>
            <a:r>
              <a:rPr lang="pt-BR" dirty="0"/>
              <a:t>RIZZO, Roberto Pina. Modelagem Preditiva. Rio de Janeiro: FGV, 2026.</a:t>
            </a:r>
          </a:p>
        </p:txBody>
      </p:sp>
    </p:spTree>
    <p:extLst>
      <p:ext uri="{BB962C8B-B14F-4D97-AF65-F5344CB8AC3E}">
        <p14:creationId xmlns:p14="http://schemas.microsoft.com/office/powerpoint/2010/main" val="3988155323"/>
      </p:ext>
    </p:extLst>
  </p:cSld>
  <p:clrMapOvr>
    <a:masterClrMapping/>
  </p:clrMapOvr>
</p:sld>
</file>

<file path=ppt/theme/theme1.xml><?xml version="1.0" encoding="utf-8"?>
<a:theme xmlns:a="http://schemas.openxmlformats.org/drawingml/2006/main" name="1_Pro Presentation Template">
  <a:themeElements>
    <a:clrScheme name="Personalizar 4">
      <a:dk1>
        <a:srgbClr val="202427"/>
      </a:dk1>
      <a:lt1>
        <a:srgbClr val="F6F7FB"/>
      </a:lt1>
      <a:dk2>
        <a:srgbClr val="002C4D"/>
      </a:dk2>
      <a:lt2>
        <a:srgbClr val="FDFDFD"/>
      </a:lt2>
      <a:accent1>
        <a:srgbClr val="003A79"/>
      </a:accent1>
      <a:accent2>
        <a:srgbClr val="0C63AA"/>
      </a:accent2>
      <a:accent3>
        <a:srgbClr val="008BC9"/>
      </a:accent3>
      <a:accent4>
        <a:srgbClr val="666666"/>
      </a:accent4>
      <a:accent5>
        <a:srgbClr val="00E1AC"/>
      </a:accent5>
      <a:accent6>
        <a:srgbClr val="A02BAD"/>
      </a:accent6>
      <a:hlink>
        <a:srgbClr val="782082"/>
      </a:hlink>
      <a:folHlink>
        <a:srgbClr val="78487F"/>
      </a:folHlink>
    </a:clrScheme>
    <a:fontScheme name="Tech">
      <a:majorFont>
        <a:latin typeface="Montserrat Bold"/>
        <a:ea typeface=""/>
        <a:cs typeface=""/>
      </a:majorFont>
      <a:minorFont>
        <a:latin typeface="Lato regula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wrap="square" lIns="0" tIns="0" rIns="0" bIns="0" rtlCol="0" anchor="t">
        <a:noAutofit/>
      </a:bodyPr>
      <a:lstStyle>
        <a:defPPr algn="ctr">
          <a:spcBef>
            <a:spcPts val="1000"/>
          </a:spcBef>
          <a:defRPr sz="14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36000" rIns="216000" bIns="36000" rtlCol="0">
        <a:spAutoFit/>
      </a:bodyPr>
      <a:lstStyle>
        <a:defPPr>
          <a:lnSpc>
            <a:spcPct val="130000"/>
          </a:lnSpc>
          <a:spcBef>
            <a:spcPts val="1000"/>
          </a:spcBef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presentação1" id="{D9071DDC-4A46-410E-BADF-FD229D0C199E}" vid="{644DEE8D-A7DD-4836-AE8D-319F28FD14F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53184</TotalTime>
  <Words>16507</Words>
  <Application>Microsoft Office PowerPoint</Application>
  <PresentationFormat>Widescreen</PresentationFormat>
  <Paragraphs>3592</Paragraphs>
  <Slides>283</Slides>
  <Notes>272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283</vt:i4>
      </vt:variant>
    </vt:vector>
  </HeadingPairs>
  <TitlesOfParts>
    <vt:vector size="292" baseType="lpstr">
      <vt:lpstr>Arial</vt:lpstr>
      <vt:lpstr>Arial Black</vt:lpstr>
      <vt:lpstr>Calibri</vt:lpstr>
      <vt:lpstr>Impact</vt:lpstr>
      <vt:lpstr>Lato regular</vt:lpstr>
      <vt:lpstr>Montserrat Bold</vt:lpstr>
      <vt:lpstr>Times New Roman</vt:lpstr>
      <vt:lpstr>Wingdings</vt:lpstr>
      <vt:lpstr>1_Pro Presentation Template</vt:lpstr>
      <vt:lpstr>Modelagem Preditiva</vt:lpstr>
      <vt:lpstr>Abertura</vt:lpstr>
      <vt:lpstr>Objetivos do curso</vt:lpstr>
      <vt:lpstr>Orientações gerais</vt:lpstr>
      <vt:lpstr>Conteúdo do curso</vt:lpstr>
      <vt:lpstr>Módulo 1 – Ciclo de execução dos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Ciclo de execução de projetos analíticos</vt:lpstr>
      <vt:lpstr>Módulo 2 – Recapitulação – modelagens preditivas de Ciência de Dados</vt:lpstr>
      <vt:lpstr>Modelagens preditivas - conceito</vt:lpstr>
      <vt:lpstr>Modelagens preditivas - conceito</vt:lpstr>
      <vt:lpstr>Modelagens preditivas - recapitulação</vt:lpstr>
      <vt:lpstr>Classificação - conceito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Classificação por árvore de decisão</vt:lpstr>
      <vt:lpstr>Modelagens preditivas - recapitulação</vt:lpstr>
      <vt:lpstr>Classificação por discriminante linear</vt:lpstr>
      <vt:lpstr>Classificação por discriminante linear</vt:lpstr>
      <vt:lpstr>Classificação por discriminante linear</vt:lpstr>
      <vt:lpstr>Classificação por discriminante linear</vt:lpstr>
      <vt:lpstr>Modelagens preditivas - recapitulação</vt:lpstr>
      <vt:lpstr>Regressão - conceito</vt:lpstr>
      <vt:lpstr>Regressão</vt:lpstr>
      <vt:lpstr>Regressão</vt:lpstr>
      <vt:lpstr>Regressão</vt:lpstr>
      <vt:lpstr>Regressão</vt:lpstr>
      <vt:lpstr>Regressão</vt:lpstr>
      <vt:lpstr>Regressão</vt:lpstr>
      <vt:lpstr>Regressão</vt:lpstr>
      <vt:lpstr>Modelagens de Ciências de Dados - recapitulação</vt:lpstr>
      <vt:lpstr>Regressão Logística - conceito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Regressão Logística</vt:lpstr>
      <vt:lpstr>Apresentação do PowerPoint</vt:lpstr>
      <vt:lpstr>Regressão Logística</vt:lpstr>
      <vt:lpstr>Modelagens preditivas - recapitulação</vt:lpstr>
      <vt:lpstr>Máquina Vetorial de Suporte - conceito</vt:lpstr>
      <vt:lpstr>Máquina Vetorial de Suporte</vt:lpstr>
      <vt:lpstr>Máquina Vetorial de Suporte</vt:lpstr>
      <vt:lpstr>Módulo 3 – Engenharia de Variáveis (Feature Engineering)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Feature Engineering</vt:lpstr>
      <vt:lpstr>Módulo 4 – Construção e validação de modelagens</vt:lpstr>
      <vt:lpstr>Construção dos modelos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Sobreajuste</vt:lpstr>
      <vt:lpstr>Combate ao sobreajuste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Avaliação de modelos</vt:lpstr>
      <vt:lpstr>Módulo 5 – Consolidação de modelagens (Ensemble)</vt:lpstr>
      <vt:lpstr>Apresentação do PowerPoint</vt:lpstr>
      <vt:lpstr>Apresentação do PowerPoint</vt:lpstr>
      <vt:lpstr>Apresentação do PowerPoint</vt:lpstr>
      <vt:lpstr>Apresentação do PowerPoint</vt:lpstr>
      <vt:lpstr>Modelagem de Floresta Aleatória</vt:lpstr>
      <vt:lpstr>Modelagem de Floresta Aleatória</vt:lpstr>
      <vt:lpstr>Modelagem de Floresta Aleatória</vt:lpstr>
      <vt:lpstr>Modelagem de Floresta Aleatória</vt:lpstr>
      <vt:lpstr>Modelagem de Floresta Aleatória</vt:lpstr>
      <vt:lpstr>Modelagem de Floresta Aleatória</vt:lpstr>
      <vt:lpstr>Modelagem de Floresta Aleatória</vt:lpstr>
      <vt:lpstr>Modelagem de Floresta Aleatória</vt:lpstr>
      <vt:lpstr>Modelagem de Floresta Aleatória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Verx Consulting - MOP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Roberto Pina Rizzo</dc:creator>
  <cp:lastModifiedBy>Roberto Pina Rizzo</cp:lastModifiedBy>
  <cp:revision>5401</cp:revision>
  <cp:lastPrinted>2017-11-01T02:17:22Z</cp:lastPrinted>
  <dcterms:created xsi:type="dcterms:W3CDTF">2006-03-06T15:59:42Z</dcterms:created>
  <dcterms:modified xsi:type="dcterms:W3CDTF">2026-09-02T13:27:25Z</dcterms:modified>
</cp:coreProperties>
</file>